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ink/ink1.xml" ContentType="application/inkml+xml"/>
  <Override PartName="/ppt/notesSlides/notesSlide29.xml" ContentType="application/vnd.openxmlformats-officedocument.presentationml.notesSlide+xml"/>
  <Override PartName="/ppt/ink/ink2.xml" ContentType="application/inkml+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85"/>
  </p:notesMasterIdLst>
  <p:sldIdLst>
    <p:sldId id="345" r:id="rId2"/>
    <p:sldId id="346" r:id="rId3"/>
    <p:sldId id="350" r:id="rId4"/>
    <p:sldId id="347" r:id="rId5"/>
    <p:sldId id="348" r:id="rId6"/>
    <p:sldId id="349" r:id="rId7"/>
    <p:sldId id="257" r:id="rId8"/>
    <p:sldId id="256" r:id="rId9"/>
    <p:sldId id="330" r:id="rId10"/>
    <p:sldId id="292" r:id="rId11"/>
    <p:sldId id="260" r:id="rId12"/>
    <p:sldId id="294" r:id="rId13"/>
    <p:sldId id="319" r:id="rId14"/>
    <p:sldId id="293" r:id="rId15"/>
    <p:sldId id="299" r:id="rId16"/>
    <p:sldId id="295" r:id="rId17"/>
    <p:sldId id="261" r:id="rId18"/>
    <p:sldId id="296" r:id="rId19"/>
    <p:sldId id="310" r:id="rId20"/>
    <p:sldId id="313" r:id="rId21"/>
    <p:sldId id="312" r:id="rId22"/>
    <p:sldId id="311" r:id="rId23"/>
    <p:sldId id="317" r:id="rId24"/>
    <p:sldId id="314" r:id="rId25"/>
    <p:sldId id="315" r:id="rId26"/>
    <p:sldId id="320" r:id="rId27"/>
    <p:sldId id="298" r:id="rId28"/>
    <p:sldId id="300" r:id="rId29"/>
    <p:sldId id="258" r:id="rId30"/>
    <p:sldId id="262" r:id="rId31"/>
    <p:sldId id="323" r:id="rId32"/>
    <p:sldId id="263" r:id="rId33"/>
    <p:sldId id="264" r:id="rId34"/>
    <p:sldId id="321" r:id="rId35"/>
    <p:sldId id="322" r:id="rId36"/>
    <p:sldId id="265" r:id="rId37"/>
    <p:sldId id="324" r:id="rId38"/>
    <p:sldId id="266" r:id="rId39"/>
    <p:sldId id="302" r:id="rId40"/>
    <p:sldId id="329" r:id="rId41"/>
    <p:sldId id="304" r:id="rId42"/>
    <p:sldId id="306" r:id="rId43"/>
    <p:sldId id="308" r:id="rId44"/>
    <p:sldId id="325" r:id="rId45"/>
    <p:sldId id="309" r:id="rId46"/>
    <p:sldId id="331" r:id="rId47"/>
    <p:sldId id="352" r:id="rId48"/>
    <p:sldId id="333" r:id="rId49"/>
    <p:sldId id="351" r:id="rId50"/>
    <p:sldId id="307" r:id="rId51"/>
    <p:sldId id="328" r:id="rId52"/>
    <p:sldId id="326" r:id="rId53"/>
    <p:sldId id="267" r:id="rId54"/>
    <p:sldId id="268" r:id="rId55"/>
    <p:sldId id="269" r:id="rId56"/>
    <p:sldId id="270" r:id="rId57"/>
    <p:sldId id="271" r:id="rId58"/>
    <p:sldId id="272" r:id="rId59"/>
    <p:sldId id="273" r:id="rId60"/>
    <p:sldId id="274" r:id="rId61"/>
    <p:sldId id="275" r:id="rId62"/>
    <p:sldId id="276" r:id="rId63"/>
    <p:sldId id="277" r:id="rId64"/>
    <p:sldId id="278" r:id="rId65"/>
    <p:sldId id="279" r:id="rId66"/>
    <p:sldId id="280" r:id="rId67"/>
    <p:sldId id="281" r:id="rId68"/>
    <p:sldId id="282" r:id="rId69"/>
    <p:sldId id="283" r:id="rId70"/>
    <p:sldId id="284" r:id="rId71"/>
    <p:sldId id="285" r:id="rId72"/>
    <p:sldId id="286" r:id="rId73"/>
    <p:sldId id="287" r:id="rId74"/>
    <p:sldId id="341" r:id="rId75"/>
    <p:sldId id="339" r:id="rId76"/>
    <p:sldId id="340" r:id="rId77"/>
    <p:sldId id="342" r:id="rId78"/>
    <p:sldId id="288" r:id="rId79"/>
    <p:sldId id="289" r:id="rId80"/>
    <p:sldId id="290" r:id="rId81"/>
    <p:sldId id="336" r:id="rId82"/>
    <p:sldId id="344" r:id="rId83"/>
    <p:sldId id="343" r:id="rId84"/>
  </p:sldIdLst>
  <p:sldSz cx="9144000" cy="5143500" type="screen16x9"/>
  <p:notesSz cx="6858000" cy="9144000"/>
  <p:embeddedFontLst>
    <p:embeddedFont>
      <p:font typeface="Abadi" panose="020B0604020104020204" pitchFamily="34" charset="0"/>
      <p:regular r:id="rId86"/>
      <p:bold r:id="rId87"/>
    </p:embeddedFont>
    <p:embeddedFont>
      <p:font typeface="Aharoni" panose="02010803020104030203" pitchFamily="2" charset="-79"/>
      <p:bold r:id="rId88"/>
    </p:embeddedFont>
    <p:embeddedFont>
      <p:font typeface="Amasis MT Pro Black" panose="02040A04050005020304" pitchFamily="18" charset="0"/>
      <p:bold r:id="rId89"/>
    </p:embeddedFont>
    <p:embeddedFont>
      <p:font typeface="Anton" pitchFamily="2" charset="0"/>
      <p:regular r:id="rId90"/>
    </p:embeddedFont>
    <p:embeddedFont>
      <p:font typeface="Impact" panose="020B0806030902050204" pitchFamily="34" charset="0"/>
      <p:regular r:id="rId9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582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969" autoAdjust="0"/>
  </p:normalViewPr>
  <p:slideViewPr>
    <p:cSldViewPr snapToGrid="0">
      <p:cViewPr varScale="1">
        <p:scale>
          <a:sx n="137" d="100"/>
          <a:sy n="137" d="100"/>
        </p:scale>
        <p:origin x="86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4.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5.fntdata"/><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3.fntdata"/><Relationship Id="rId91" Type="http://schemas.openxmlformats.org/officeDocument/2006/relationships/font" Target="fonts/font6.fntdata"/><Relationship Id="rId9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1.fntdata"/><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2.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scar Ivan Vargas Pineda" userId="0f20bfcc-53cf-4572-a1cb-5c7ce8b9ba2d" providerId="ADAL" clId="{8D8FA711-95DB-4FA7-A847-308BB41FD62C}"/>
    <pc:docChg chg="undo custSel addSld modSld">
      <pc:chgData name="Oscar Ivan Vargas Pineda" userId="0f20bfcc-53cf-4572-a1cb-5c7ce8b9ba2d" providerId="ADAL" clId="{8D8FA711-95DB-4FA7-A847-308BB41FD62C}" dt="2025-09-30T00:18:48.674" v="52" actId="478"/>
      <pc:docMkLst>
        <pc:docMk/>
      </pc:docMkLst>
      <pc:sldChg chg="delSp mod">
        <pc:chgData name="Oscar Ivan Vargas Pineda" userId="0f20bfcc-53cf-4572-a1cb-5c7ce8b9ba2d" providerId="ADAL" clId="{8D8FA711-95DB-4FA7-A847-308BB41FD62C}" dt="2025-09-30T00:18:48.674" v="52" actId="478"/>
        <pc:sldMkLst>
          <pc:docMk/>
          <pc:sldMk cId="3050230156" sldId="302"/>
        </pc:sldMkLst>
        <pc:inkChg chg="del">
          <ac:chgData name="Oscar Ivan Vargas Pineda" userId="0f20bfcc-53cf-4572-a1cb-5c7ce8b9ba2d" providerId="ADAL" clId="{8D8FA711-95DB-4FA7-A847-308BB41FD62C}" dt="2025-09-30T00:18:48.674" v="52" actId="478"/>
          <ac:inkMkLst>
            <pc:docMk/>
            <pc:sldMk cId="3050230156" sldId="302"/>
            <ac:inkMk id="2" creationId="{944D6C08-8C3F-CF4F-4F16-F09EFD609523}"/>
          </ac:inkMkLst>
        </pc:inkChg>
      </pc:sldChg>
      <pc:sldChg chg="addSp delSp modSp new mod">
        <pc:chgData name="Oscar Ivan Vargas Pineda" userId="0f20bfcc-53cf-4572-a1cb-5c7ce8b9ba2d" providerId="ADAL" clId="{8D8FA711-95DB-4FA7-A847-308BB41FD62C}" dt="2025-09-29T22:27:29.755" v="45" actId="1076"/>
        <pc:sldMkLst>
          <pc:docMk/>
          <pc:sldMk cId="3918846422" sldId="351"/>
        </pc:sldMkLst>
        <pc:picChg chg="add del mod">
          <ac:chgData name="Oscar Ivan Vargas Pineda" userId="0f20bfcc-53cf-4572-a1cb-5c7ce8b9ba2d" providerId="ADAL" clId="{8D8FA711-95DB-4FA7-A847-308BB41FD62C}" dt="2025-09-29T22:27:29.755" v="45" actId="1076"/>
          <ac:picMkLst>
            <pc:docMk/>
            <pc:sldMk cId="3918846422" sldId="351"/>
            <ac:picMk id="14" creationId="{CC4C482A-D885-EC52-304D-1B065FEDB1F6}"/>
          </ac:picMkLst>
        </pc:picChg>
      </pc:sldChg>
      <pc:sldChg chg="delSp modSp add mod">
        <pc:chgData name="Oscar Ivan Vargas Pineda" userId="0f20bfcc-53cf-4572-a1cb-5c7ce8b9ba2d" providerId="ADAL" clId="{8D8FA711-95DB-4FA7-A847-308BB41FD62C}" dt="2025-09-29T22:28:28.652" v="51" actId="1076"/>
        <pc:sldMkLst>
          <pc:docMk/>
          <pc:sldMk cId="428775441" sldId="352"/>
        </pc:sldMkLst>
        <pc:spChg chg="mod">
          <ac:chgData name="Oscar Ivan Vargas Pineda" userId="0f20bfcc-53cf-4572-a1cb-5c7ce8b9ba2d" providerId="ADAL" clId="{8D8FA711-95DB-4FA7-A847-308BB41FD62C}" dt="2025-09-29T22:27:42.866" v="49" actId="123"/>
          <ac:spMkLst>
            <pc:docMk/>
            <pc:sldMk cId="428775441" sldId="352"/>
            <ac:spMk id="4" creationId="{3DAA4B52-531B-9674-1D7F-57E05E9BCFC7}"/>
          </ac:spMkLst>
        </pc:spChg>
        <pc:picChg chg="mod">
          <ac:chgData name="Oscar Ivan Vargas Pineda" userId="0f20bfcc-53cf-4572-a1cb-5c7ce8b9ba2d" providerId="ADAL" clId="{8D8FA711-95DB-4FA7-A847-308BB41FD62C}" dt="2025-09-29T22:28:28.652" v="51" actId="1076"/>
          <ac:picMkLst>
            <pc:docMk/>
            <pc:sldMk cId="428775441" sldId="352"/>
            <ac:picMk id="6" creationId="{3A1F0B14-CCF2-0E94-16AB-A6F9E1406845}"/>
          </ac:picMkLst>
        </pc:picChg>
        <pc:picChg chg="mod">
          <ac:chgData name="Oscar Ivan Vargas Pineda" userId="0f20bfcc-53cf-4572-a1cb-5c7ce8b9ba2d" providerId="ADAL" clId="{8D8FA711-95DB-4FA7-A847-308BB41FD62C}" dt="2025-09-29T22:28:26.409" v="50" actId="1076"/>
          <ac:picMkLst>
            <pc:docMk/>
            <pc:sldMk cId="428775441" sldId="352"/>
            <ac:picMk id="10" creationId="{DBE29BEB-3CFE-D58A-8A65-ADBE4E2F202C}"/>
          </ac:picMkLst>
        </pc:picChg>
      </pc:sldChg>
    </pc:docChg>
  </pc:docChgLst>
</pc:chgInfo>
</file>

<file path=ppt/ink/ink1.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111.62791" units="1/cm"/>
          <inkml:channelProperty channel="Y" name="resolution" value="55.95855" units="1/cm"/>
          <inkml:channelProperty channel="T" name="resolution" value="1" units="1/dev"/>
        </inkml:channelProperties>
      </inkml:inkSource>
      <inkml:timestamp xml:id="ts0" timeString="2025-10-02T23:23:29.846"/>
    </inkml:context>
    <inkml:brush xml:id="br0">
      <inkml:brushProperty name="width" value="0.05292" units="cm"/>
      <inkml:brushProperty name="height" value="0.05292" units="cm"/>
      <inkml:brushProperty name="color" value="#FF0000"/>
    </inkml:brush>
  </inkml:definitions>
  <inkml:trace contextRef="#ctx0" brushRef="#br0">4326 5583 0,'0'26'63,"0"1"-47,13-14-1,-13 53 1,0-53-16,0 14 15,0-1 1,0-13 0,27-13 46,52-105-31,40-28 1,-40 80-17,1-26 1,-27 26 0,-40 40-1</inkml:trace>
  <inkml:trace contextRef="#ctx0" brushRef="#br0" timeOffset="907.22">4471 6006 0,'14'53'78,"-14"66"-47,0-79-15,0 26 0,13-66 31,-13-40-32,13 27-15,0 0 16,1-40-16,12 0 15,1 40-15,-1-40 0,40-40 32,-26 40-17,-27 27 1,0 13 0,0 13-1,14-14 16,-14 14-31,-13-13 16,13 13 0</inkml:trace>
  <inkml:trace contextRef="#ctx0" brushRef="#br0" timeOffset="1868.72">4326 6575 0,'13'0'31,"-13"40"-15,0 12-1,0-12 1,0 66 0,0-13-1,0-54 1,0 14 0,0-13-1,-13-14 16,13-39 48,40-106-48,-1 79-31,1 1 0,13-14 15,79-106 17,27-26-1,-133 145 0,-12 27 0,-1 13 1</inkml:trace>
  <inkml:trace contextRef="#ctx0" brushRef="#br0" timeOffset="37875.61">15888 4882 0,'0'39'172,"0"-26"-156,0 1 0,0 12 124,27-13-109,-14-13 110,-13 14-125,13-14 265,186-172-250,-80 79-15,185-132-1,-225 146-15,14 13 0,-27 26 16,-39 13 0,-14 27 46,-13-13-46,13 13 15</inkml:trace>
  <inkml:trace contextRef="#ctx0" brushRef="#br0" timeOffset="66608.23">12012 6496 0,'0'13'219,"27"0"-203,-27 0-1,0 0 32,13 1 63,-13-1-79,0 0 31,13 0-30,-13 1-17,26-14 266,14-40-265,-13 13-16,12-12 16,-25 26-16,-1-1 15,13-12 1,-13 13 0,1-1-1,-1 1 16,13 0-15,-12 0 0</inkml:trace>
  <inkml:trace contextRef="#ctx0" brushRef="#br0" timeOffset="73599.07">10279 7064 0,'13'0'15,"1"0"1,-1 0 0,13 0-1,-13 0 1,1 0 62,-1 0 47,0 0-109,0 0-1,1 0 485</inkml:trace>
  <inkml:trace contextRef="#ctx0" brushRef="#br0" timeOffset="75716.2">11271 7197 0,'13'0'125,"1"0"-94,-1 0 1,0 0 15,0 0-16,1 0 0,-1 0 0,0-14 47,0 14-31,1 0-15,-1 0 30,0 0 79</inkml:trace>
  <inkml:trace contextRef="#ctx0" brushRef="#br0" timeOffset="97480.78">12025 6509 0,'0'26'94,"0"-13"-63,27 14 1,-27-14-1,13 14 141,0 12-141,0-39 172,-13-26-187,14 13-1,-1-1 17,0 14-32,-13-13 0,13 13 15,1-13 1,-1 0-1,0 13 1,0-14 0,1 14-1,-1-13 1,0 13 0,0-13-1,0 0-15,1 13 16,-1 0-1,0-13 1,0 13 0,-13-14-1,14 14-15,-14-13 16,13 13 62</inkml:trace>
  <inkml:trace contextRef="#ctx0" brushRef="#br0" timeOffset="145652.71">14711 6324 0,'13'0'109,"0"0"-93,1 0 0,12 0-1,-13 0 1,0 0-1,1 0 1,-14 13 0,0 13-1,0-13 1,-14 14 0,1-14 15,0-13-31,13 13 109,26 14-93,-12-14-16,-1 0 15,0 1 1,-13-1 15,0 0-15,-13 0 31,13 0-32,-13-13-15,13 14 32,-14-14 15,-12 0-1,0 0-14,12 0-32,1 0 93,0 0-77</inkml:trace>
  <inkml:trace contextRef="#ctx0" brushRef="#br0" timeOffset="147375.34">14936 6324 0,'13'0'62,"0"0"-15,0 0-16,-13-14 48,-13 14 61,0 14-109,-14 25 1,27-26 15,14 1 62,-14-1-93,13 0 15,0-13 47,0 0-47,1 13 32,-1 1-48,0-1 1,-13 0 0,13-13 15,-13 27-16,14-14 1,-14 0 0,0 13 15,0-12-15,0-1-1,-14-13 48,1 0-48,-27 0 48,14 0-32,26-27 125,0 1-140,0 0-16</inkml:trace>
  <inkml:trace contextRef="#ctx0" brushRef="#br0" timeOffset="148598.28">14949 6297 0,'13'0'187,"0"0"-155,1 0 30,-1 0-46,0 0 31,0 0 46,1 0-61,-1 0-1</inkml:trace>
  <inkml:trace contextRef="#ctx0" brushRef="#br0" timeOffset="149958.84">14737 6707 0,'14'0'203,"25"0"-187,1 0 0,39 0-1,-52 0-15,12 0 16,-25 0-16,-1-13 15,13 13 1,-12 0 0,-1 0-1,0 0 1,13-13 0,-12 13-1,-14-14 48</inkml:trace>
  <inkml:trace contextRef="#ctx0" brushRef="#br0" timeOffset="152110.15">10464 10014 0,'53'0'78,"-26"0"-63,39 0 1,-40-13 0,14 13-16,13 0 15,39 0 1,-25 0-1,25 0 1,54 0 0,-67 0-1,0 0 1,-26 0 0,-13 0-1,-27 0 1,40 0-1,-26 0 1,12 0 0,-12 0-1,-1 0 1,-12 0 0,-1 0-1,0 0 1,13 0-1,-12 0 1,-1 0 15</inkml:trace>
  <inkml:trace contextRef="#ctx0" brushRef="#br0" timeOffset="154062.07">12488 9975 0,'40'13'31,"-14"27"0,-12-14-15,-14-52 297,0-40-298,0 39 1,13 1-1,13 12-15,1 14 16,-1-13 0,1 13-1,-14 0 1,13 0 0,-12 13-16,39 27 15,-27 0 16,-13-14-15,-13-13-16,0 1 31,0-41 47,14-52-62,25 39 0,14 0-1,-26 27-15,12-13 16,-26 26 0,1 0-1,-1 13 16,-13 0-15,0 80 0,13-40-1,0-14 1,-13-25 0,14-14 46</inkml:trace>
  <inkml:trace contextRef="#ctx0" brushRef="#br0" timeOffset="155071.49">13269 9882 0,'0'0'0,"-13"0"47,13 13-31,0 14 0,0-1-1,0 27 1,0-26 15,13-41 47,-13-25-47,0 26-31,0-1 16,0-25 0,13 39 77,0 0-77,1 13-16,-1 13 16,0-12-16,0 25 15,-13-26-15,0 14 16,13-27 0</inkml:trace>
  <inkml:trace contextRef="#ctx0" brushRef="#br0" timeOffset="155707.84">13441 9591 0,'0'27'31,"13"39"-15,-13 0-1,0 26 17,0-39-32,13 53 0,1-26 31,-14-67-16</inkml:trace>
  <inkml:trace contextRef="#ctx0" brushRef="#br0" timeOffset="179670.17">11271 6879 0,'53'0'31,"-26"-13"-15,-14 13 0,27-13-1,-1 13 1,1-14-16,-14 14 16,-12 0-16,-1-13 15,40 13 1,-40 0-1,0 0 1,14 0 0,-14 0-1,0 0 1,0 0 0,1 0-1,-1 0 16,0 0 1,13 0-1,-12 0 0,-1 0-15,0 0-1,0 0 1,14 0 15,-14 0-15,0 0 0,14 0 15,-14 0-16,13 0 17,-12 0-17,12 0 1,-13 0 0,1 0-1,-1 0 1,0 0-1,14-13 1,-14 13 0,0 0-1,0-13 1,53 0 0,-39 13 15,-14 0-16,0 0 1,27 0 0,-27 0-1,0-14 1,1 14 0,-1 0-1,0 0-15,0 0 31,1 0-15,12 0 15,-13 0 32,0 0-16,1 0-32,-1 14 1,0-14 0,0 0-1,1 0 63</inkml:trace>
  <inkml:trace contextRef="#ctx0" brushRef="#br0" timeOffset="180376.94">12581 6985 0</inkml:trace>
  <inkml:trace contextRef="#ctx0" brushRef="#br0" timeOffset="180937.01">12594 7104 0</inkml:trace>
  <inkml:trace contextRef="#ctx0" brushRef="#br0" timeOffset="185225.66">10120 7594 0,'66'0'32,"-26"0"-17,0-14 1,-14 14 0,1 0-1,-14 0 1,0 0-16,14 0 15,12 0 1,-25 0 0,-1 0-1,13 0 1,14-13 0,-27 13 30,14 0 17,-1 0-32,-26 13 0,0 53 188,0-13-203,0-39 15,0-67 63,0 0-63,0 13-15,0 14-1,0 12 1,0 1 0,0 0 15,0 0 16,27 13 156,12 0-172,-26 0-15,1 0-16,12 0 15,-13 0 1,14 0 0,-14 13 46,-13 13-62,0 14 16,0-27-1,0 1 1,-13-1 0,-14-13 15,14 13 0,0-13-15,0 13-1,-1-13 1,1 0 15,0 0-15,0 13-1,0-13 1,-1 0-16,1 14 16,13-28 484,27 1-485,-1 0 1,-13 13 0,0 0-1,1 0 16,12 0-15,-13-13 15,1 13-15,-14-13-16,13 13 16,0-27-1,-13 14 1,-13 13 62,-14 0-47,14 0-31,0 0 31,0 0-31,-1 0 79,14-13-33,14 13-30,12-14 0,-13 14-1,1 0 1,-1 0 0,-26 0 77,-1 0-61,1 0-1,0 0-16</inkml:trace>
  <inkml:trace contextRef="#ctx0" brushRef="#br0" timeOffset="-156477.8">20809 3612 0</inkml:trace>
</inkml:ink>
</file>

<file path=ppt/ink/ink2.xml><?xml version="1.0" encoding="utf-8"?>
<inkml:ink xmlns:inkml="http://www.w3.org/2003/InkML">
  <inkml:definitions>
    <inkml:context xml:id="ctx0">
      <inkml:inkSource xml:id="inkSrc0">
        <inkml:traceFormat>
          <inkml:channel name="X" type="integer" max="3840" units="cm"/>
          <inkml:channel name="Y" type="integer" max="1080" units="cm"/>
          <inkml:channel name="T" type="integer" max="2.14748E9" units="dev"/>
        </inkml:traceFormat>
        <inkml:channelProperties>
          <inkml:channelProperty channel="X" name="resolution" value="111.62791" units="1/cm"/>
          <inkml:channelProperty channel="Y" name="resolution" value="55.95855" units="1/cm"/>
          <inkml:channelProperty channel="T" name="resolution" value="1" units="1/dev"/>
        </inkml:channelProperties>
      </inkml:inkSource>
      <inkml:timestamp xml:id="ts0" timeString="2025-10-02T23:28:23.782"/>
    </inkml:context>
    <inkml:brush xml:id="br0">
      <inkml:brushProperty name="width" value="0.05292" units="cm"/>
      <inkml:brushProperty name="height" value="0.05292" units="cm"/>
      <inkml:brushProperty name="color" value="#FF0000"/>
    </inkml:brush>
  </inkml:definitions>
  <inkml:trace contextRef="#ctx0" brushRef="#br0">635 3678 0,'0'13'125,"0"27"-109,0-14-16,0 1 16,0-1-16,0 0 0,0 1 15,0-14-15,0 14 16,0-14-16,0 27 15,0-1 1,0 1 0,0 13-1,0 13 1,0 13 0,0 1-1,0-1 16,0-52-31,-13 12 16,-14 67 0,27-53-1,-13 13 1,0-66-16,13 13 16,-13 27-16,13-14 15,-14 14 1,14-13-1,0-1 1,0-13-16,0 1 16,-13 52-1,0-27 1,13 1 0,-13-13-1,-1 12 16,14-26-31,0 14 16,0-1 0,0 1-16,0-14 31,14-13 0,-1 0-15,13 0-1,-12 0 1,-1 0-16,0 0 16,14 0-1,-1-13 1,14 13 0,-27 0-1,13-13 16,-12 13-15,12 0 0,1-14-16,-1 14 0,27 0 31,-27 0-15,-12 0-1,65-13 1,-39 13-16,-1 0 15,67-13 1,-40 13 0,-52 0-1,-1-13 1,13 13 0,14 0-1,0 0 16,13 0-15,-40 0 0,-26 0 124,-1-40-124,14-13 0,0 0-1,0 13 16,0 1-15,0 12 0,0-12-1,14 12 1,-14-13 0,0 14-1,0-14 1,0 27-1,0-13 1,13 12-16,-13 1 16,0 0-1,0-13 1,13 26 0,-13-14-1,13-25-15,0 12 31,-13 14 1,14 0-17,-14-1-15,0 1 16,13 0 0,-13 0 30,0 0-30,0-1 0,13 1-1,14-13-15,-27 12 16,26 1-16,14-27 16,-14 1-1,14-1 16,-14 27-15,-26 0-16,14-1 16,-14 1 77,0-13-77,-14-54 0,-12-12-1,26 26 1,0-14 0,0 14-1,26-13 16,-12 52-31,38-79 16,-25 27 0,-14 26-1,14 27 1,-54 26 46,14 0-46,-14 0-16,1 0 16,-27 0-1,-13 0 1,-27 0 0,1 0 15,39 13-16,-27 13 1,67-12-16,-119 25 31,66-39-15,53 0 0,-1 13-1,1-13 16,0 0-15,0 14 0,-1-14-1,1 0 1,-27 13 0,14 0-1,0 0 16,12-13-15,14 14 0,-13-14-1,0 0 17,0 0 93,-1 13-94,1-13-16,0 13 1,0-13 0,0 0-1,13 13-15,-14-13 16,1 0 78,0 14-79,0-14 1,-1 0 15,1 0 0</inkml:trace>
  <inkml:trace contextRef="#ctx0" brushRef="#br0" timeOffset="48052.33">16841 4273 0,'0'106'94,"0"26"-79,0-105 1,0 12 0,0 27-1,0-26 1,-13-13 0,13-1-16,0 0 0,0 41 15,-27 25 16,14-12-15,-27 12 0,40 1-1,-13-27 1,13-13 0,-13 39-1,13-65-15,-14 13 16,1 52-1,13-65 1,-13 12-16,13 1 16,0-13-16,-13 39 15,13 26 1,-13-39 0,-1 27-1,1 12 16,13 40-15,-13 1 0,13-107-1,0 1-15,-13 26 16,13-27-16,0 14 16,0-14-16,0 40 15,0 27 1,0-14-1,0 14 1,-14-27 0,14-26-16,0-1 15,0-12-15,0 13 16,0 52 0,0-52-1,0-14 1,0 1-16,0-1 0,0 1 15,14 39 1,-14-13 0,13-14-1,0-25-15,0 12 16,1 14 0,-1 13-1,0 0 1,-13-40-16,0 27 15,0-14-15,13 1 16,-13-14 0,13 13-1,1 1 1,-14-14 0,13 13-16,-13 67 15,13-40 16,-13-40-31,0 0 16,13 14-16,-13-1 16,0 1-1,0 12 1,0 14 0,0-26-1,0-1 1,0-13-1,0 1 1</inkml:trace>
  <inkml:trace contextRef="#ctx0" brushRef="#br0" timeOffset="50099.61">16735 4299 0,'0'-13'78,"40"0"-63,-1-27 32,-25 27-47,-1 0 16,0 0 46,13-1-46,-12 1 0,-1 13-1,-40 0 173,14 0-173,-40 0 1,0 0 0,40 0-16,-13-13 15,12 0-15,1 0 16,0-14 0,0 14-1,13 0 1,0-1-1,0 54 110,0-13-109,0-1-16,0-13 16,0 0-16,0 1 15,0-1 79,-27 27-63,27-27-31,-39 40 32,39-40-32,13-13 93,0 0-77,14 0-16,12-13 16,41-14-1,-67 14 1,0 13-1</inkml:trace>
  <inkml:trace contextRef="#ctx0" brushRef="#br0" timeOffset="50689.68">16642 8374 0,'119'13'16,"-92"14"-1,-1-14-15,-26 0 31,-13-13 16,-13 0-31</inkml:trace>
  <inkml:trace contextRef="#ctx0" brushRef="#br0" timeOffset="51239.9">16695 8374 0,'0'-13'31</inkml:trace>
  <inkml:trace contextRef="#ctx0" brushRef="#br0" timeOffset="54856.18">17383 5159 0,'13'0'47,"1"0"-32,-1 0 1,13 0 15,-13 0 16,1 0-16,-1 0-15,0 0 0,0 0 15,1 0-16,-1 0 1,0 0 0,0 0-16,1 0 15,-1 0-15,0 0 16,13 0 0,-12 0 30,-1 0-30,0 0 15,0 0-15,27 0 15,-27 0-15,14 0-1,-14 14 1,0-14-16,0 0 31,1 0-15,-1 0 0,0 0-1,0 0 16,1 0 1,-1 0-1,0 0-15,0 0 46,1 0 32</inkml:trace>
  <inkml:trace contextRef="#ctx0" brushRef="#br0" timeOffset="58750.31">18878 4842 0,'0'-13'93,"0"-1"-77,0 1 0,0 0-1,0-14 16,0 14-15,0 0 0,0 0-1,0 0 1,0-1 0,26 1-1,-12 0 1,-14 0-1,13 13 1,0 0 15,0 0-15,1 0 31,-14-14-32,0 1 32,0-13-31,0 13 62,0-1-47,13 14 172,0 0-156,-26 0 78,-14 0-109,14 0 0,-13-13-1,26 0 16,13 13 32,13 0-32,1 0 0,-14 0-15,0 0 62,1 13-62,-1-13-1,-13 13 1,-13-13 78,-1 0-79</inkml:trace>
  <inkml:trace contextRef="#ctx0" brushRef="#br0" timeOffset="148846.07">728 8070 0,'0'13'94,"0"80"-79,0-40 16,0 52-15,0-38 0,-14-41-1,14 14 1,0-1 0,0-12-1,0-1 1,0-13-1,0 27 1,0-27 0,0 14-1,0-14 17,0 14-32,0-1 15,14 14 16,-14-27-15,26 13 0,-26 1-16,13 13 15,1-1 1,-14-12 0,26-1-1,-13-13 1,0 1-1,14 12 1,13-13 0,-1 1-1,1-14-15,-14 0 16,27 0 0,0 0 15,0 0-16,-13 0 1,0 0-16,-1 0 16,27 0-1,-13 0 1,-39 0 0,38 0-1,-38 0 1,39 0-1,-14 0 1,1 0 0,13 0-1,0 0 1,13 0 0,-53 0-1,14 0-15,12-14 31,1-12-15,-14-1 0,14 1-1,-27-1 1,-13 14 0,14 0-1,-1 0 1,0-14-1,14-12 1,-14 25 0,0-12-1,0 13 1,0-1 0,1 1-1,-1-13 16,0 13-15,0-14 0,1 14-1,-1 0 1,0-14 0,-13 14-1,0 0 1,13-14-1,-13 14 1,0 0 15,-13-14-15,13 14 0,0-13 15,0 12-16,0 1 1,0 0-16,-13-13 16,13 12-1,0 1 1,0-13 0,0 12-1,0-12 1,13 13 78,27-1-63,-1 1 0,-25 13-15,12-13-1,-13 0 1,1 0-16,-1-1 16,-13 1-1,0-13-15,0 12 0,0 1 16,0 0-1,0 0-15,-13-1 16,-27-38 0,-13 12-1,26 27 1,14-14 0,-13-26-1,13 40 16,-14 0-15,14 0 0,0-1-1,-1 14 1,1 0 0,-13 0-1,-1 0 1,14 0-16,0 0 15,-27 0 1,27 0 0,-14 0-1,14 0-15,0 0 16,-53 0 0,26 0-1,0 0 16,1 0-15,-1 0 0,14 0-1,-14 0 1,27 0 0,-40-13-1,40 13-15,-14 0 16,-13 0-1,14 0 1,-14 0 0,27 0-16,-13 0 15,-1 0 1,1 0 0,-14 0-1,27 0 16,-14 0-15,14 0 0,-13 0-1,-1 0-15,1 0 16,-14 0 0,14 0-1,12 0 1,1 0-1,0 0 1,0 0-16,-1 0 31,1 0-15,-13 0 15,12 0 16,1 0-31,0 0-1,0 0 1,0 13 156,-14 14-141,14-14-15,0 0-1,-1 0 1,1 1 0,-13-1-1,26 0 1,-13 14-1,-14-27 1,27 13 0,0 0-1,-13-13 110,13 13-93</inkml:trace>
  <inkml:trace contextRef="#ctx0" brushRef="#br0" timeOffset="164430.14">19804 5675 0,'13'0'78,"1"0"-63,-1 0 1,0 0 15,13 0-15,-12 0 0,12 0-1,1 0 32,-1 0-31,-13 0-1,0 0 1,1 0-16,-1 0 16,0 0-1,14 0 1,12-13-1,-12 13 1,-14 0 0,13 0-1,-12 0 1,-1 0 0,0 0-1,0 0-15,1 0 47,-1 0-31,0 0-1,14 0 1,-14 0 15,0 0-15,13 0-1,-12 0 1,-1 0 31,-13-13-31,13 13 30,-13 13 314,0 0-345,0 14-15,0-14 16,0 0 15,0 0-15,0 1 0,0-1-1,0 0 16,0 14 1,0-14-17,0 0 48,0 0-32,0 1 0,0-1 1,0 0-1,0 13-16,13-12 1,-13-1 0,0 13-1,0-12 1,0-1 0,0 13-1,0-13 1,0 14-1,0-14 1,14 0 0,-14 1-1,0-1 1,0 0 15,0 0 32,0 1-16,0 12-32,0-13 32,0 0-16,0 1 47,0-1-46,39 0 15,-39 0-1,14-13 17,-1 0-1,-13 14 1,-13-1-47,-14-13-16,1 0 31,26 13-16,-14-13 1,1 0 0,0 0-1,0 0 17,-14 0 30,14 0-31,13 13-15,-13-13 0,0 0 15,-1 0-16,1 0 1,0 0 0,0 0-1,-1 0 1,1 0 15,0 0 0,0 0 32,-1 0-47,1 0-1,0 0 48,0 0-1,0 0-31,-1 0 1,1 14 15,0-14-47,0 0 171,-1 0-124,1 0 31</inkml:trace>
  <inkml:trace contextRef="#ctx0" brushRef="#br0" timeOffset="-162498.39">22159 10649 0,'0'14'297,"0"-1"-282,0 0 1,0 0 109,0 1-109,0-1-1,0 0 1,0 0 15,13-13 0,-13 14 1,13-14-17,1 0 63,-1 13 32,-13 0-95,13-13 1,-13 13 0,0 0-1,0 14 17,0-14-1,0 0 0,0 1 0,-13-1-15,13 0 62,0 0-47,0 1-15,0-1 0,-13 0-1,13 0 16,0 14-15,0-14 31,0 0-16,-14-13 219,14-13-187,0-53-48,14 26 1,-14 0 0,13 27-1,-26 13 110,13-13-109,0-14-1,0 1 1,0 0 0,0 12-1,0 1 1,0 0 93,0 0-77,0-1 202</inkml:trace>
  <inkml:trace contextRef="#ctx0" brushRef="#br0" timeOffset="-142191.8">22794 11800 0,'-13'0'15,"-1"0"17,-25 0 30,12 0-46,14 0-1,0 0 1,-14 0 0,14 0 15,0 0-16,0 0 1,-1 0-16,1 0 16,0 0-1,-14 0 1,14 0 0,-13-13 15,13 13-31,-1 0 15,-12 0 1,13 0 0,-14 0-1,-79 0 1,14 0 0,39 0-1,40 0 1,-14 0-1,14 0 1,-14 0 0,-12 0-1,12 0 1,-12 0 0,12 0-1,1 0 1,-80 0-1,27 0 1,12 0 0,28 0-16,12 0 0,1 0 15,13 0 17,-1 0 108,1 0-109,0 0 1,13 13-17,-13-13 1,-14 0 0,14 14-1,-40-14 1,27 13-1,-14 0 1,13 0 0,-52-13-1,39 0 1,27 14 0,-13-14-1,12 0 16,1 0-15,-26 0 0,25 0-1,1 0 1,0 0-16,-14 0 31,1 0 0,13 0-15,-1 0-16,1 0 16,-26 0-1,12 0 1,14 0 15,0 13-15,-1-13 15,1 0-15,0 0 15,0 0-15,-1 0 155,1 0-92</inkml:trace>
  <inkml:trace contextRef="#ctx0" brushRef="#br0" timeOffset="-130123.63">17568 10649 0,'-53'40'63,"0"13"-48,1-13 1,-15 13 0,28-14-1,-1 1 1,14-13 0,-1-14-1,14 0-15,-27 0 31,14 27-15,-14-27 0,0 0-1,27 1-15,0-1 16,0-13 0,-1 0-1,14 13 16,-26-13-31,26 13 0,-13 0 16,-14 1 0,41-14 124,65 0-108,0 0-1,-65 0-16,-1 0 1,13 0 0,-13 0-16,1 0 15,-1 0 1,0 0-16,0 0 16,1 0-1,-1 0-15,0 0 16,27 0-1,-27 0 1,0 0-16,0 0 16,14 0-1,13 0 1,-27 0 0,13 0-16,14 0 15,-27 0 16,0 0-31,1 0 0,-1 0 32,27 0-17,-27 0 1,13 0 0,-13 0-1,1 0 1,-1 0-16,13 0 15,1 0 1,-14 0 0,40 0-1,-13 13 1,-27-13 0,0 0-1,0 0 16,1 0 48</inkml:trace>
  <inkml:trace contextRef="#ctx0" brushRef="#br0" timeOffset="-128271.4">17105 11721 0,'40'0'406,"-14"0"-390,14-13-1,-13 13 1,-14 0-16,0 0 16,0 0-1,1-13 1,-1 13 0,0 0 15,13 0-16,14-14 1,-27 14 0,1 0-1,-1 0 17,13 0-17,-13 0 1,1 0-1,-1 0-15,0 0 16,0 0 0,14 0-1,-14 0 1,14 0 0,-14 0 30,0 0-30,0 0 15</inkml:trace>
  <inkml:trace contextRef="#ctx0" brushRef="#br0" timeOffset="-126822.75">17105 11919 0,'14'0'94,"38"0"-63,-38 0-16,39 0 1,-14 0 0,1 0-1,-27 0 1,27 0 0,-27 0-16,14 0 15,-1 0 1,0 0-1,1 0 1,-14 0-16,0 0 16,1 0-16,25 0 15,-12 0 17,-14 0-32,13 0 15,-12 0 1,12 0-1,1 0 1,-14 0 0,0 0 46</inkml:trace>
  <inkml:trace contextRef="#ctx0" brushRef="#br0" timeOffset="-121183.65">17039 12356 0,'27'0'141,"26"0"-126,-14 0 1,1 13 0,-14 0-1,1-13 1,-1 0 0,-26 14-1,53-1 1,-13 0-1,-14 0-15,14-13 16,0 14 0,-1-1-1,-12-13 1,-14 13-16,14 0 16,12 1-1,14 12 16,-40-26-15,14 0 0,-14 0 15,0 0 31,1 0-46,-1 0 0,0 0-1,-13 13 1,0 0 109,-26 1-109,-1 12-1,-13-13 1,27 14-1,-13-14 1,-1 0-16,27 1 16,-13-1-16,0 0 15,-14 0 1,14-13 0,-13 27-1,-1-14 1,-26 27-1,14-14 1,12-13 0,1 1-1,12-14-15,1 0 78,-40 26-46,40-26 61,13 13-77,-13-13-16,0 0 16,-1 13-1,1-13 1,0 0 0,0 14-1,-1-14 16</inkml:trace>
  <inkml:trace contextRef="#ctx0" brushRef="#br0" timeOffset="-114967.22">20955 12462 0,'13'0'156,"0"0"-78,1 0-47,-1 0 0,0 0 16,14 0-15,-14 0-32,0 0 31,0 0 0,14 0-15,-14 0-1,0-13 1,14 13 15,-14 0 0,13 0 1,1 0 46,-14 0-47,0 0 0,0 0 16,14 0-16,-1 0-31,14 0 32,0 0-17,-27 0 1,13 0 15,-12 0-31,-1 0 16,0 0-1,0 0 1,1 13 93,-1-13-77,13 0-1,-12 0 0,-1 0 0,26 0-15,-12 0 0,-14 0-1,0 0 1,1 0 0,-1 0 155,0 0-155,14 0 47,12 0-48,-12 0 1,12-13-1,-25-1 1,-1 14 0,-13-13-1,13 13 17,0 0 14,0 0-14,1 0 30,-14 13-46,13-13 46,13 0-30,-12 0 46,-1 0-63</inkml:trace>
  <inkml:trace contextRef="#ctx0" brushRef="#br0" timeOffset="-99868.21">19870 11681 0,'-13'0'78,"0"0"-62,0 0-1,-14 0 1,14 0-1,-14 0 1,27-13 140,-13 13 79,0 0-220,0 0 1,-1 0 0,-12 0 15,0 0-16,12 0 1,1 0 0,0 0-1,0 0 1,26 0 125,-13 13-110</inkml:trace>
  <inkml:trace contextRef="#ctx0" brushRef="#br0" timeOffset="-82888.8">21008 12475 0,'13'0'140,"27"0"-109,-27 0-15,27 0 47,-27 0-48,0 0 1,0 0-1,1 0 1,-1 0 0,13 0-1,-12 0 1,-1 0 0,0 0-1,0 0 1,27 0-1,13 0 1,0 0 0,-27 0-1,-13 0-15,14 0 16,-1 0 0,1 0-1,-14 0 1,0 0-1,14 0 1,-14 0 0,0 0-1,14 0 1,-1 0 0,-13 0-1,1 0 16,-1 0-15,0 0 0,14 0-1,-14 0 17,0 0-17,13 0 1,1 0-1,-14 0 1,0 0 0,1 0 15,-1 0-15,0 0 15,0 0-16,0 0 189,14 0-173,-14 0 31,0 0-46,1 0 62,-28 0 0,1 0-62,0 0-1,-27 0 1,1 0-16,12 0 16,14 0-16,-27 0 15,-13 0 1,14 0 0,-14 0-1,26 0-15,-52 0 16,13 0-1,26 0 1,-13 0 0,0 0-1,-26 0 1,26 0 0,40 0-1,-14 0 16,1 0-15,13 0 0,-1 0-1,1 0 1,0 0 0,0 0-1,-1 0 1,-12 0-1,13 0 1,-1 0 0,1 0-1,40 0 95,-1 0-95,27 0 1,0 0 0,-27 0-1,-12 0 1,-1 0-1,66 0 1,1 0 0,12 0-1,-52 0 1,0-13 0,-14 13-1,27 0 16,-13 0-15,-14 0 0,-13 0-1,1 0 1,-1 0-16,0 0 16,27 0 30,-27 0-14,13 0-1,27 0 0,-39 0 0,-1 0-15,0 0 15,0 0 1,0 0 30,1 0 1,12 0-32,-13 0 16,-39 0 78,-67 0-94,54 0-31,-67-13 31,79 13-31,1 0 16,-40 0-1,13 0 1,-13 0 0,-27 0-1,67 0 1,-41 0 0,54 0-16,0 0 15,-13 0 1,12 0-1,-12 0 1,13 0 0,-14 0-1,1 13 1,13-13 0,-1 0 30,-12 0-30,39 0 265,0 0-265,14 0-16,12 0 16,28 0-1,-1 0 1,0 0-1,-26 0-15,-1 0 16,1 0 0,-14 0-1,1 0 1,-14 0 0,0 0-1,14 0 16,-1 0-15,14 0 0,-14 0-1,1 0 1,-14 0 0,14 0-1,-14 0 1,-26 0 109,-40 0-94,0 0-15,13 0-1,14 0 1,-27 0 0,39 0-16,-12 0 15,-1 0 1,-12 0-1,12 0 1,-12 0 0,-14 0-1,26 0 1,-26 0 0,27 0-1,-14 0 16,27 0-15,0 0 15,0 0-15,-1 0 15,1 0 16,-13 0-16,52 0 94,-13 0-109,40 0 0,13-27-1,-13 27 1,13-26-1,1 26 1,-28 0 0,41-13-1,-27 13 1,-14 0 0,14 0-1,-13 0 16,-14 0-15,-12 0-16,12 0 16,-13 0-1,0 0-15,1 0 16,-1-14 0,13 14-1,-12 0 1,-1 0 15,-40 0 125,14 14-140,0-14 0,-14 13-1,-25-13 1,12 0-1,27 0-15,-14 0 16,14 0-16,-14 0 16,14 13-1,0-13 1,0 0-16,-27 13 16,27-13-1,-14 0-15,41 0 125,-1 0-109,13 0-1,1 0 1,-1 0 0,1 0-1,-14 0 1,13 0 15,-12 0 0,-1 0-31,0 0 16,0 0 0,1 0-1,-1 0 1,0 0 0,0 0-16,0 0 15,1 0 48,-28 0 30</inkml:trace>
  <inkml:trace contextRef="#ctx0" brushRef="#br0" timeOffset="-76857.11">5980 3850 0,'-40'39'94,"-39"28"-78,12-15-1,-52 28 16,93-54-15,-27 1 0,26-1-1,1-13 1,13 1-16,-14-1 16,-26 27-1,0-1 1,27-12-1,13-14-15,0-13 16,52 0 203,-12 0-204,-1 0-15,1 0 16,-14 0-16,13 0 16,67 0-1,39 0 1,-52 0 15,25 0 0,-78 0-31,52 0 16,1 0 0,-14 0-1,-40 0 1,-13 0-16</inkml:trace>
  <inkml:trace contextRef="#ctx0" brushRef="#br0" timeOffset="-74951.99">6191 8096 0,'-26'0'31,"-1"0"-16,14 0 1,0 0 0,26 0 93,93 0-78,-80 0-31,93 0 16,-92 0 0,26 0-16,53 0 31,-80 0-31,1 0 15,-1 0 1,-13 0 0,0 0-1,14 0 1,-14-13-16</inkml:trace>
  <inkml:trace contextRef="#ctx0" brushRef="#br0" timeOffset="-73856.45">6178 8281 0,'106'0'47,"-14"0"-32,-65 0 1,-14 0 0,0 0-1,14 0 16,39 0-15,-13 0 0,0 0-1,-27 0 1,1 0 0,-14 0-16,0 0 15,0 0 1,1 0-1</inkml:trace>
  <inkml:trace contextRef="#ctx0" brushRef="#br0" timeOffset="-68722.51">6456 11655 0,'13'0'15,"40"0"1,-27 0-16,1 0 16,13 0-1,-1-13-15,-12 13 16,145 0 0,-93 0-1,0 0 1,-52 0-16,26 0 15,-13 0-15,26 0 16,0 0 0,-13 0-1,-40 0 1,13 0 0,-12 0-1,-14 13 95,-14-13-95,14 13 1,-13-13-16,0 0 0,0 13 15,-14 1 1,14-1 0,-40 13-1,53 1-15,-66-1 16,13 1 0,-13 39-1,53-53 16,-1 0-31,1-13 16,0 0 0,13 13-1,-13 1 1,0-14-16,-1 13 16,1 0-1,0-13 1,13 13 109,-27-13-110,27 14-15,-13-14 16,0 13 0,0-13-1,-14 13 17,1-13-17,13 13 1,-27 1-1,13-14-15,14 13 16,0-13 15,0 0 438,-1 0-406,1 13-32,0-13 0</inkml:trace>
  <inkml:trace contextRef="#ctx0" brushRef="#br0" timeOffset="-66358.38">21101 12475 0,'-14'0'31,"1"0"-15,0 13 0,0-13-1,-1 14-15,28-14 94,-1 0-78,0 0-1,14 0 1,39 0 0,26 0-1,-39 0 1,-26 0-1,-14 0 1,0 0 15,0 0 1,-26 13 61,-13-13-77,-1 0 0,-13 0-16,14 0 0,-27 13 31,40-13-31,-14 13 0,-12-13 31,12 0-15,14 0-1,0 0 1,26 0 46,14 0-30,-1 0-17,27-13 1,0 13 0,0 0-1,39 0 1,-78 0-1,12 0 1,14 0 15,13 0-15,-27 0 0,-13-13 30,1 13-30,-1 0-16,13 0 16,14 0-1,0 0 1,-27 0 31,13 0-32,27 0 1,13-13 0,-52 13-1,-41 0 79</inkml:trace>
  <inkml:trace contextRef="#ctx0" brushRef="#br0" timeOffset="-54457.29">4948 3704 0,'0'0'0,"39"119"16,-12-53 0,-27-52-1,13 52 1,0 0 0,1-26 15,-1 26-16,0 13 1,-13 0 0,0-26-16,0 53 15,0-13 1,0-40-16,0 0 16,0 145-1,0-92-15,0 106 16,0 12-1,0-25 1,0-54 0,0 1-1,0-1 1,0-65 0,13-14 15,-13 13-16,0 107 1,0-67 0,0-14-1,0 94 1,0-93 0,0-40-16,0 119 15,0 0 1,0 1-1,0-14 1,0-93 0,27 13-1,-14-39 1,0-13 0,14 26-1,26 40 16,-14 0-15,14 0 0,-13-27-1,26 40 1,-13-66 0,-40-26-1,14-1 1,12-13-1,-12 0 1,26 1 0,0 12-1,26 14 1,-53-27 0,27 27-16,13-27 31,-52-13-16,25 13-15,-25-13 16,12 0-16,0 0 16,1 13-16,52-13 15,-39 0 1,13 0 0,26 0-1,-26 0-15,27 0 16,92 0-1,-67 0 1,-25 0 0,-27 0-1,26 0 1,-13 0 0,-53-26-1,-13 13 16,27-53-15,13 26 0,39-53-1,-39 14 1,-27 0 0,-13 39-16,0-26 15,0-27-15,0 1 16,0 39-16,26-80 15,-12 14-15,-1-66 16,0 92-16,-13-12 16,0-173-1,-53 119 1,-331-463 46,358 596-46,0-14 0,-1 0-1,-13 1 1,27 26-16,-53-27 16,13 0-1,40 27 1,-40-40-1,40 40-15,-14-27 16,1 0 0,13-39-1,13 39 1,0 14 0,13-1-16,0 14 15,0-13 16,27-27-15,13-13 0,-13-40-1,-27 79 1,66-105 0,-26 79-16,-13-26 15,26-67 1,13-65-1,-26 65 1,-40 53 0,-13 1-1,0-27 1,0 39 0,0-12 15,-13 65-31,0 1 0,-13-14 31,-41-26-15,1 26-1,0 1 1,40 26-16,-1-1 16,-13-12-16,-39-1 15,0-26 1,-1 1-1,27 12 1,27 13 0,-14 1-1,27 26 1,0-27 0,-14 27-16,1-13 0,-1 0 15,-25-13 1,25 12-1,14 14-15,0-13 16,-1 13 0,1 0-1,13-13 1,-13-14 0,13 14-16,-13 13 15,13-13-15,0 0 31,-14 13-15,1-14 0,0 1-1,-13 0 1,26 0 0,-27 13-1,14 0 16,0 0-15,-1 0 0,-38 0-1,-1 0 1,13 0 0,-26 0-1,26 0-15,14 0 16,-41 13-1,41 0 1,-14-13 0,14 0-1,-27 13 1,13 1 0,1-14-1,12 0 16,-13 0-15,1 13-16,12 0 16,-39 0-1,0 14 1,13-14 0,27 0-16,-1-13 0,1 0 15,-14 14 1,0-14-1,27 0-15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US" dirty="0"/>
          </a:p>
        </p:txBody>
      </p:sp>
    </p:spTree>
    <p:extLst>
      <p:ext uri="{BB962C8B-B14F-4D97-AF65-F5344CB8AC3E}">
        <p14:creationId xmlns:p14="http://schemas.microsoft.com/office/powerpoint/2010/main" val="14874932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768881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7" name="Google Shape;97;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E4B0BB5-CF8A-1800-9CBF-A64A6DCEBF0E}"/>
            </a:ext>
          </a:extLst>
        </p:cNvPr>
        <p:cNvGrpSpPr/>
        <p:nvPr/>
      </p:nvGrpSpPr>
      <p:grpSpPr>
        <a:xfrm>
          <a:off x="0" y="0"/>
          <a:ext cx="0" cy="0"/>
          <a:chOff x="0" y="0"/>
          <a:chExt cx="0" cy="0"/>
        </a:xfrm>
      </p:grpSpPr>
      <p:sp>
        <p:nvSpPr>
          <p:cNvPr id="105" name="Google Shape;105;p4:notes">
            <a:extLst>
              <a:ext uri="{FF2B5EF4-FFF2-40B4-BE49-F238E27FC236}">
                <a16:creationId xmlns:a16="http://schemas.microsoft.com/office/drawing/2014/main" id="{F248E8EA-ACD7-5883-A4CB-216BE86EE9A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4:notes">
            <a:extLst>
              <a:ext uri="{FF2B5EF4-FFF2-40B4-BE49-F238E27FC236}">
                <a16:creationId xmlns:a16="http://schemas.microsoft.com/office/drawing/2014/main" id="{F52511F3-7B6E-0AE5-52F4-53508F2066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633650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1ab0953e115_0_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b0953e115_0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825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1ab0953e115_0_3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1ab0953e115_0_3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24306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ab0953e115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ab0953e115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lgn="l"/>
            <a:r>
              <a:rPr lang="es-MX" b="1" i="0" dirty="0">
                <a:solidFill>
                  <a:srgbClr val="0D0D0D"/>
                </a:solidFill>
                <a:effectLst/>
                <a:latin typeface="+mj-lt"/>
              </a:rPr>
              <a:t>Lenguaje multipropósito</a:t>
            </a:r>
          </a:p>
          <a:p>
            <a:pPr algn="l"/>
            <a:r>
              <a:rPr lang="es-MX" b="0" i="0" dirty="0">
                <a:solidFill>
                  <a:srgbClr val="0D0D0D"/>
                </a:solidFill>
                <a:effectLst/>
                <a:latin typeface="+mj-lt"/>
              </a:rPr>
              <a:t>Python se considera multipropósito porque se puede usar en una amplia gama de aplicaciones de programación. Desde desarrollo web, análisis de datos, inteligencia artificial y aprendizaje automático, hasta automatización de scripts y desarrollo de aplicaciones de escritorio y móviles. Su versatilidad proviene de la extensa colección de bibliotecas y marcos de trabajo disponibles, que extienden su funcionalidad a prácticamente cualquier campo de la informática.</a:t>
            </a:r>
          </a:p>
          <a:p>
            <a:pPr algn="l"/>
            <a:r>
              <a:rPr lang="es-MX" b="1" i="0" dirty="0">
                <a:solidFill>
                  <a:srgbClr val="0D0D0D"/>
                </a:solidFill>
                <a:effectLst/>
                <a:latin typeface="+mj-lt"/>
              </a:rPr>
              <a:t>Alto nivel</a:t>
            </a:r>
          </a:p>
          <a:p>
            <a:pPr algn="l"/>
            <a:r>
              <a:rPr lang="es-MX" b="0" i="0" dirty="0">
                <a:solidFill>
                  <a:srgbClr val="0D0D0D"/>
                </a:solidFill>
                <a:effectLst/>
                <a:latin typeface="+mj-lt"/>
              </a:rPr>
              <a:t>Se dice que Python es un lenguaje de alto nivel porque abstrae muchos de los detalles relacionados con el hardware y el sistema operativo. Esto significa que los programadores no necesitan gestionar aspectos como la gestión de memoria y la representación de datos a nivel de máquina, lo cual es común en lenguajes de más bajo nivel como C o C++. Esta abstracción permite a los desarrolladores concentrarse en la lógica y funcionalidad de sus programas, en lugar de en los detalles de la implementación.</a:t>
            </a:r>
          </a:p>
          <a:p>
            <a:pPr algn="l"/>
            <a:r>
              <a:rPr lang="es-MX" b="1" i="0" dirty="0">
                <a:solidFill>
                  <a:srgbClr val="0D0D0D"/>
                </a:solidFill>
                <a:effectLst/>
                <a:latin typeface="+mj-lt"/>
              </a:rPr>
              <a:t>Fácil de aprender</a:t>
            </a:r>
          </a:p>
          <a:p>
            <a:pPr algn="l"/>
            <a:r>
              <a:rPr lang="es-MX" b="0" i="0" dirty="0">
                <a:solidFill>
                  <a:srgbClr val="0D0D0D"/>
                </a:solidFill>
                <a:effectLst/>
                <a:latin typeface="+mj-lt"/>
              </a:rPr>
              <a:t>Python tiene una sintaxis muy clara y legible, similar al inglés, lo que reduce la curva de aprendizaje para los principiantes. Además, Python enfatiza la legibilidad y el uso de espacios en blanco para definir la estructura del código, lo que ayuda a los nuevos programadores a aprender buenas prácticas de codificación desde el principio.</a:t>
            </a:r>
          </a:p>
          <a:p>
            <a:pPr algn="l"/>
            <a:r>
              <a:rPr lang="es-MX" b="1" i="0" dirty="0">
                <a:solidFill>
                  <a:srgbClr val="0D0D0D"/>
                </a:solidFill>
                <a:effectLst/>
                <a:latin typeface="+mj-lt"/>
              </a:rPr>
              <a:t>Tipado dinámico</a:t>
            </a:r>
          </a:p>
          <a:p>
            <a:pPr algn="l"/>
            <a:r>
              <a:rPr lang="es-MX" b="0" i="0" dirty="0">
                <a:solidFill>
                  <a:srgbClr val="0D0D0D"/>
                </a:solidFill>
                <a:effectLst/>
                <a:latin typeface="+mj-lt"/>
              </a:rPr>
              <a:t>En Python, no necesitas declarar el tipo de una variable explícitamente. El tipo de una variable se determina en tiempo de ejecución, no en tiempo de compilación (como en lenguajes de tipado estático). Esto significa que una misma variable puede referirse a objetos de diferentes tipos en diferentes momentos de la ejecución de un programa. Esta flexibilidad facilita la escritura de código pero también exige que los desarrolladores sean cautelosos con el manejo de tipos.</a:t>
            </a:r>
          </a:p>
          <a:p>
            <a:pPr algn="l"/>
            <a:r>
              <a:rPr lang="es-MX" b="1" i="0" dirty="0">
                <a:solidFill>
                  <a:srgbClr val="0D0D0D"/>
                </a:solidFill>
                <a:effectLst/>
                <a:latin typeface="+mj-lt"/>
              </a:rPr>
              <a:t>Orientado a objetos</a:t>
            </a:r>
          </a:p>
          <a:p>
            <a:pPr algn="l"/>
            <a:r>
              <a:rPr lang="es-MX" b="0" i="0" dirty="0">
                <a:solidFill>
                  <a:srgbClr val="0D0D0D"/>
                </a:solidFill>
                <a:effectLst/>
                <a:latin typeface="+mj-lt"/>
              </a:rPr>
              <a:t>Python es inherentemente orientado a objetos, lo que significa que soporta la encapsulación, la herencia y el polimorfismo, entre otros principios de la programación orientada a objetos. Esta característica permite a los desarrolladores organizar su código en módulos y clases, facilitando la reutilización y la mantenibilidad del código.</a:t>
            </a:r>
          </a:p>
          <a:p>
            <a:pPr algn="l"/>
            <a:r>
              <a:rPr lang="es-MX" b="1" i="0" dirty="0">
                <a:solidFill>
                  <a:srgbClr val="0D0D0D"/>
                </a:solidFill>
                <a:effectLst/>
                <a:latin typeface="+mj-lt"/>
              </a:rPr>
              <a:t>Lenguaje interpretado</a:t>
            </a:r>
          </a:p>
          <a:p>
            <a:pPr algn="l"/>
            <a:r>
              <a:rPr lang="es-MX" b="0" i="0" dirty="0">
                <a:solidFill>
                  <a:srgbClr val="0D0D0D"/>
                </a:solidFill>
                <a:effectLst/>
                <a:latin typeface="+mj-lt"/>
              </a:rPr>
              <a:t>A diferencia de los lenguajes compilados, donde el código fuente se traduce a código de máquina antes de su ejecución, Python es interpretado. El código Python se ejecuta directamente, instrucción por instrucción, por un intérprete. Esto proporciona ventajas como la portabilidad y la facilidad de depuración, ya que los errores se pueden corregir al instante sin necesidad de un proceso de compilación. Sin embargo, esta característica también puede resultar en una ejecución más lenta comparada con los lenguajes compilados.</a:t>
            </a:r>
          </a:p>
        </p:txBody>
      </p:sp>
    </p:spTree>
    <p:extLst>
      <p:ext uri="{BB962C8B-B14F-4D97-AF65-F5344CB8AC3E}">
        <p14:creationId xmlns:p14="http://schemas.microsoft.com/office/powerpoint/2010/main" val="8832790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ab0953e115_0_3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ab0953e115_0_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22425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pPr marL="158750" indent="0">
              <a:buNone/>
            </a:pPr>
            <a:endParaRPr lang="es-CO" dirty="0"/>
          </a:p>
        </p:txBody>
      </p:sp>
    </p:spTree>
    <p:extLst>
      <p:ext uri="{BB962C8B-B14F-4D97-AF65-F5344CB8AC3E}">
        <p14:creationId xmlns:p14="http://schemas.microsoft.com/office/powerpoint/2010/main" val="35829846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pPr algn="l"/>
            <a:r>
              <a:rPr lang="es-MX" b="1" i="0" dirty="0">
                <a:solidFill>
                  <a:srgbClr val="0D0D0D"/>
                </a:solidFill>
                <a:effectLst/>
                <a:latin typeface="+mn-lt"/>
              </a:rPr>
              <a:t>Salud</a:t>
            </a:r>
          </a:p>
          <a:p>
            <a:pPr algn="l"/>
            <a:r>
              <a:rPr lang="es-MX" b="1" i="0" dirty="0">
                <a:solidFill>
                  <a:srgbClr val="0D0D0D"/>
                </a:solidFill>
                <a:effectLst/>
                <a:latin typeface="+mn-lt"/>
              </a:rPr>
              <a:t> Diagnóstico Médico</a:t>
            </a:r>
            <a:r>
              <a:rPr lang="es-MX" b="0" i="0" dirty="0">
                <a:solidFill>
                  <a:srgbClr val="0D0D0D"/>
                </a:solidFill>
                <a:effectLst/>
                <a:latin typeface="+mn-lt"/>
              </a:rPr>
              <a:t>: Uso de algoritmos de aprendizaje automático para diagnosticar enfermedades a partir de imágenes médicas.</a:t>
            </a:r>
          </a:p>
          <a:p>
            <a:pPr algn="l"/>
            <a:r>
              <a:rPr lang="es-MX" b="1" i="0" dirty="0">
                <a:solidFill>
                  <a:srgbClr val="0D0D0D"/>
                </a:solidFill>
                <a:effectLst/>
                <a:latin typeface="+mn-lt"/>
              </a:rPr>
              <a:t> Predicción de Brotes Epidémicos</a:t>
            </a:r>
            <a:r>
              <a:rPr lang="es-MX" b="0" i="0" dirty="0">
                <a:solidFill>
                  <a:srgbClr val="0D0D0D"/>
                </a:solidFill>
                <a:effectLst/>
                <a:latin typeface="+mn-lt"/>
              </a:rPr>
              <a:t>: Modelos predictivos que utilizan datos históricos y actuales para predecir la aparición y propagación de enfermedades.</a:t>
            </a:r>
          </a:p>
          <a:p>
            <a:pPr algn="l"/>
            <a:endParaRPr lang="es-MX" b="0" i="0" dirty="0">
              <a:solidFill>
                <a:srgbClr val="0D0D0D"/>
              </a:solidFill>
              <a:effectLst/>
              <a:latin typeface="+mn-lt"/>
            </a:endParaRPr>
          </a:p>
          <a:p>
            <a:pPr algn="l"/>
            <a:r>
              <a:rPr lang="es-MX" b="0" i="0" dirty="0">
                <a:solidFill>
                  <a:srgbClr val="0D0D0D"/>
                </a:solidFill>
                <a:effectLst/>
                <a:latin typeface="+mn-lt"/>
              </a:rPr>
              <a:t>Finanzas</a:t>
            </a:r>
          </a:p>
          <a:p>
            <a:pPr algn="l"/>
            <a:r>
              <a:rPr lang="es-MX" b="1" i="0" dirty="0">
                <a:solidFill>
                  <a:srgbClr val="0D0D0D"/>
                </a:solidFill>
                <a:effectLst/>
                <a:latin typeface="+mn-lt"/>
              </a:rPr>
              <a:t>Detección de Fraude</a:t>
            </a:r>
            <a:r>
              <a:rPr lang="es-MX" b="0" i="0" dirty="0">
                <a:solidFill>
                  <a:srgbClr val="0D0D0D"/>
                </a:solidFill>
                <a:effectLst/>
                <a:latin typeface="+mn-lt"/>
              </a:rPr>
              <a:t>: Análisis de patrones de transacciones para identificar actividades sospechosas que podrían indicar fraude.</a:t>
            </a:r>
          </a:p>
          <a:p>
            <a:pPr algn="l"/>
            <a:r>
              <a:rPr lang="es-MX" b="1" i="0" dirty="0">
                <a:solidFill>
                  <a:srgbClr val="0D0D0D"/>
                </a:solidFill>
                <a:effectLst/>
                <a:latin typeface="+mn-lt"/>
              </a:rPr>
              <a:t>Gestión de Riesgos</a:t>
            </a:r>
            <a:r>
              <a:rPr lang="es-MX" b="0" i="0" dirty="0">
                <a:solidFill>
                  <a:srgbClr val="0D0D0D"/>
                </a:solidFill>
                <a:effectLst/>
                <a:latin typeface="+mn-lt"/>
              </a:rPr>
              <a:t>: Modelos predictivos para evaluar el riesgo crediticio de los clientes y optimizar las estrategias de inversión.</a:t>
            </a:r>
          </a:p>
          <a:p>
            <a:pPr algn="l"/>
            <a:endParaRPr lang="es-MX" b="0" i="0" dirty="0">
              <a:solidFill>
                <a:srgbClr val="0D0D0D"/>
              </a:solidFill>
              <a:effectLst/>
              <a:latin typeface="+mn-lt"/>
            </a:endParaRPr>
          </a:p>
          <a:p>
            <a:pPr algn="l"/>
            <a:r>
              <a:rPr lang="es-MX" b="0" i="0" dirty="0">
                <a:solidFill>
                  <a:srgbClr val="0D0D0D"/>
                </a:solidFill>
                <a:effectLst/>
                <a:latin typeface="+mn-lt"/>
              </a:rPr>
              <a:t>Medio Ambiente</a:t>
            </a:r>
            <a:endParaRPr lang="es-MX" b="1" dirty="0">
              <a:solidFill>
                <a:srgbClr val="0D0D0D"/>
              </a:solidFill>
              <a:latin typeface="+mn-lt"/>
            </a:endParaRPr>
          </a:p>
          <a:p>
            <a:pPr algn="l"/>
            <a:r>
              <a:rPr lang="es-MX" b="1" i="0" dirty="0">
                <a:solidFill>
                  <a:srgbClr val="0D0D0D"/>
                </a:solidFill>
                <a:effectLst/>
                <a:latin typeface="+mn-lt"/>
              </a:rPr>
              <a:t>Monitoreo del Cambio Climático</a:t>
            </a:r>
            <a:r>
              <a:rPr lang="es-MX" b="0" i="0" dirty="0">
                <a:solidFill>
                  <a:srgbClr val="0D0D0D"/>
                </a:solidFill>
                <a:effectLst/>
                <a:latin typeface="+mn-lt"/>
              </a:rPr>
              <a:t>: Análisis de grandes volúmenes de datos ambientales para estudiar los efectos del cambio climático y apoyar la toma de decisiones en la gestión sostenible de recursos.</a:t>
            </a:r>
          </a:p>
          <a:p>
            <a:pPr algn="l"/>
            <a:r>
              <a:rPr lang="es-MX" b="1" i="0" dirty="0">
                <a:solidFill>
                  <a:srgbClr val="0D0D0D"/>
                </a:solidFill>
                <a:effectLst/>
                <a:latin typeface="+mn-lt"/>
              </a:rPr>
              <a:t>Conservación de la Biodiversidad</a:t>
            </a:r>
            <a:r>
              <a:rPr lang="es-MX" b="0" i="0" dirty="0">
                <a:solidFill>
                  <a:srgbClr val="0D0D0D"/>
                </a:solidFill>
                <a:effectLst/>
                <a:latin typeface="+mn-lt"/>
              </a:rPr>
              <a:t>: Uso de datos de teledetección y otras fuentes para monitorear la biodiversidad y evaluar el impacto de las actividades humanas en los ecosistemas.</a:t>
            </a:r>
          </a:p>
          <a:p>
            <a:endParaRPr lang="es-CO" dirty="0"/>
          </a:p>
        </p:txBody>
      </p:sp>
    </p:spTree>
    <p:extLst>
      <p:ext uri="{BB962C8B-B14F-4D97-AF65-F5344CB8AC3E}">
        <p14:creationId xmlns:p14="http://schemas.microsoft.com/office/powerpoint/2010/main" val="24657624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pPr algn="l"/>
            <a:r>
              <a:rPr lang="es-MX" b="1" i="0" dirty="0">
                <a:solidFill>
                  <a:srgbClr val="0D0D0D"/>
                </a:solidFill>
                <a:effectLst/>
                <a:latin typeface="+mj-lt"/>
              </a:rPr>
              <a:t>Industria (Manufactura)</a:t>
            </a:r>
          </a:p>
          <a:p>
            <a:pPr algn="l">
              <a:buFont typeface="Arial" panose="020B0604020202020204" pitchFamily="34" charset="0"/>
              <a:buChar char="•"/>
            </a:pPr>
            <a:r>
              <a:rPr lang="es-MX" b="1" i="0" dirty="0">
                <a:solidFill>
                  <a:srgbClr val="0D0D0D"/>
                </a:solidFill>
                <a:effectLst/>
                <a:latin typeface="+mj-lt"/>
              </a:rPr>
              <a:t>Optimización de la Cadena de Suministro</a:t>
            </a:r>
            <a:r>
              <a:rPr lang="es-MX" b="0" i="0" dirty="0">
                <a:solidFill>
                  <a:srgbClr val="0D0D0D"/>
                </a:solidFill>
                <a:effectLst/>
                <a:latin typeface="+mj-lt"/>
              </a:rPr>
              <a:t>: Mediante el análisis de datos históricos y en tiempo real, las empresas pueden prever la demanda de productos, optimizar el inventario y reducir los costos asociados con el almacenamiento y la logística. Esto incluye la identificación de los mejores proveedores, la optimización de rutas de transporte y la predicción de necesidades de producción.</a:t>
            </a:r>
          </a:p>
          <a:p>
            <a:pPr algn="l">
              <a:buFont typeface="Arial" panose="020B0604020202020204" pitchFamily="34" charset="0"/>
              <a:buChar char="•"/>
            </a:pPr>
            <a:r>
              <a:rPr lang="es-MX" b="1" i="0" dirty="0">
                <a:solidFill>
                  <a:srgbClr val="0D0D0D"/>
                </a:solidFill>
                <a:effectLst/>
                <a:latin typeface="+mj-lt"/>
              </a:rPr>
              <a:t>Mantenimiento Predictivo</a:t>
            </a:r>
            <a:r>
              <a:rPr lang="es-MX" b="0" i="0" dirty="0">
                <a:solidFill>
                  <a:srgbClr val="0D0D0D"/>
                </a:solidFill>
                <a:effectLst/>
                <a:latin typeface="+mj-lt"/>
              </a:rPr>
              <a:t>: Utilizando técnicas de machine </a:t>
            </a:r>
            <a:r>
              <a:rPr lang="es-MX" b="0" i="0" dirty="0" err="1">
                <a:solidFill>
                  <a:srgbClr val="0D0D0D"/>
                </a:solidFill>
                <a:effectLst/>
                <a:latin typeface="+mj-lt"/>
              </a:rPr>
              <a:t>learning</a:t>
            </a:r>
            <a:r>
              <a:rPr lang="es-MX" b="0" i="0" dirty="0">
                <a:solidFill>
                  <a:srgbClr val="0D0D0D"/>
                </a:solidFill>
                <a:effectLst/>
                <a:latin typeface="+mj-lt"/>
              </a:rPr>
              <a:t> y análisis de datos de sensores, las empresas pueden predecir cuándo una máquina o componente está a punto de fallar, permitiendo realizar mantenimientos proactivos y evitar paradas no planificadas en la producción, lo cual puede ahorrar millones en costos operativos.</a:t>
            </a:r>
          </a:p>
          <a:p>
            <a:pPr algn="l">
              <a:buFont typeface="Arial" panose="020B0604020202020204" pitchFamily="34" charset="0"/>
              <a:buChar char="•"/>
            </a:pPr>
            <a:r>
              <a:rPr lang="es-MX" b="1" i="0" dirty="0">
                <a:solidFill>
                  <a:srgbClr val="0D0D0D"/>
                </a:solidFill>
                <a:effectLst/>
                <a:latin typeface="+mj-lt"/>
              </a:rPr>
              <a:t>Control de Calidad Mejorado</a:t>
            </a:r>
            <a:r>
              <a:rPr lang="es-MX" b="0" i="0" dirty="0">
                <a:solidFill>
                  <a:srgbClr val="0D0D0D"/>
                </a:solidFill>
                <a:effectLst/>
                <a:latin typeface="+mj-lt"/>
              </a:rPr>
              <a:t>: Aplicando análisis de imágenes y machine </a:t>
            </a:r>
            <a:r>
              <a:rPr lang="es-MX" b="0" i="0" dirty="0" err="1">
                <a:solidFill>
                  <a:srgbClr val="0D0D0D"/>
                </a:solidFill>
                <a:effectLst/>
                <a:latin typeface="+mj-lt"/>
              </a:rPr>
              <a:t>learning</a:t>
            </a:r>
            <a:r>
              <a:rPr lang="es-MX" b="0" i="0" dirty="0">
                <a:solidFill>
                  <a:srgbClr val="0D0D0D"/>
                </a:solidFill>
                <a:effectLst/>
                <a:latin typeface="+mj-lt"/>
              </a:rPr>
              <a:t>, es posible automatizar la detección de defectos en productos manufacturados, mejorando la calidad y reduciendo el tiempo y los costos asociados con la inspección manual.</a:t>
            </a:r>
          </a:p>
          <a:p>
            <a:pPr algn="l"/>
            <a:r>
              <a:rPr lang="es-MX" b="1" i="0" dirty="0">
                <a:solidFill>
                  <a:srgbClr val="0D0D0D"/>
                </a:solidFill>
                <a:effectLst/>
                <a:latin typeface="+mj-lt"/>
              </a:rPr>
              <a:t>Educación</a:t>
            </a:r>
          </a:p>
          <a:p>
            <a:pPr algn="l">
              <a:buFont typeface="Arial" panose="020B0604020202020204" pitchFamily="34" charset="0"/>
              <a:buChar char="•"/>
            </a:pPr>
            <a:r>
              <a:rPr lang="es-MX" b="1" i="0" dirty="0">
                <a:solidFill>
                  <a:srgbClr val="0D0D0D"/>
                </a:solidFill>
                <a:effectLst/>
                <a:latin typeface="+mj-lt"/>
              </a:rPr>
              <a:t>Personalización del Aprendizaje</a:t>
            </a:r>
            <a:r>
              <a:rPr lang="es-MX" b="0" i="0" dirty="0">
                <a:solidFill>
                  <a:srgbClr val="0D0D0D"/>
                </a:solidFill>
                <a:effectLst/>
                <a:latin typeface="+mj-lt"/>
              </a:rPr>
              <a:t>: Analizando los datos de rendimiento de los estudiantes, es posible personalizar el material de enseñanza para adaptarse a las necesidades de aprendizaje individuales. Esto puede incluir recomendaciones de recursos, ajustes en la dificultad de los ejercicios y el ofrecimiento de caminos de aprendizaje personalizados.</a:t>
            </a:r>
          </a:p>
          <a:p>
            <a:pPr algn="l">
              <a:buFont typeface="Arial" panose="020B0604020202020204" pitchFamily="34" charset="0"/>
              <a:buChar char="•"/>
            </a:pPr>
            <a:r>
              <a:rPr lang="es-MX" b="1" i="0" dirty="0">
                <a:solidFill>
                  <a:srgbClr val="0D0D0D"/>
                </a:solidFill>
                <a:effectLst/>
                <a:latin typeface="+mj-lt"/>
              </a:rPr>
              <a:t>Análisis de Deserción Estudiantil</a:t>
            </a:r>
            <a:r>
              <a:rPr lang="es-MX" b="0" i="0" dirty="0">
                <a:solidFill>
                  <a:srgbClr val="0D0D0D"/>
                </a:solidFill>
                <a:effectLst/>
                <a:latin typeface="+mj-lt"/>
              </a:rPr>
              <a:t>: Mediante el análisis de patrones y tendencias en los datos de los estudiantes, las instituciones educativas pueden identificar a aquellos en riesgo de abandonar sus estudios. Esto permite la intervención temprana con recursos de apoyo, asesoramiento y programas de retención.</a:t>
            </a:r>
          </a:p>
          <a:p>
            <a:pPr algn="l">
              <a:buFont typeface="Arial" panose="020B0604020202020204" pitchFamily="34" charset="0"/>
              <a:buChar char="•"/>
            </a:pPr>
            <a:r>
              <a:rPr lang="es-MX" b="1" i="0" dirty="0">
                <a:solidFill>
                  <a:srgbClr val="0D0D0D"/>
                </a:solidFill>
                <a:effectLst/>
                <a:latin typeface="+mj-lt"/>
              </a:rPr>
              <a:t>Optimización de Recursos Educativos</a:t>
            </a:r>
            <a:r>
              <a:rPr lang="es-MX" b="0" i="0" dirty="0">
                <a:solidFill>
                  <a:srgbClr val="0D0D0D"/>
                </a:solidFill>
                <a:effectLst/>
                <a:latin typeface="+mj-lt"/>
              </a:rPr>
              <a:t>: La ciencia de datos permite a las instituciones educativas optimizar la asignación de recursos, desde la planificación de horarios de clases y la asignación de profesores hasta la gestión de instalaciones. El análisis de datos puede ayudar a maximizar la eficiencia y mejorar la experiencia educativa tanto para estudiantes como para docentes.</a:t>
            </a:r>
          </a:p>
          <a:p>
            <a:pPr algn="l">
              <a:buFont typeface="Arial" panose="020B0604020202020204" pitchFamily="34" charset="0"/>
              <a:buChar char="•"/>
            </a:pPr>
            <a:endParaRPr lang="es-MX" b="0" i="0" dirty="0">
              <a:solidFill>
                <a:srgbClr val="0D0D0D"/>
              </a:solidFill>
              <a:effectLst/>
              <a:latin typeface="+mj-lt"/>
            </a:endParaRPr>
          </a:p>
          <a:p>
            <a:pPr algn="l"/>
            <a:r>
              <a:rPr lang="es-MX" b="0" i="0" dirty="0">
                <a:solidFill>
                  <a:srgbClr val="0D0D0D"/>
                </a:solidFill>
                <a:effectLst/>
                <a:latin typeface="+mj-lt"/>
              </a:rPr>
              <a:t>Turismo</a:t>
            </a:r>
          </a:p>
          <a:p>
            <a:pPr algn="l">
              <a:buFont typeface="Arial" panose="020B0604020202020204" pitchFamily="34" charset="0"/>
              <a:buChar char="•"/>
            </a:pPr>
            <a:r>
              <a:rPr lang="es-MX" b="1" i="0" dirty="0">
                <a:solidFill>
                  <a:srgbClr val="0D0D0D"/>
                </a:solidFill>
                <a:effectLst/>
                <a:latin typeface="+mj-lt"/>
              </a:rPr>
              <a:t>Análisis de Sentimientos en Reseñas de Usuarios</a:t>
            </a:r>
            <a:r>
              <a:rPr lang="es-MX" b="0" i="0" dirty="0">
                <a:solidFill>
                  <a:srgbClr val="0D0D0D"/>
                </a:solidFill>
                <a:effectLst/>
                <a:latin typeface="+mj-lt"/>
              </a:rPr>
              <a:t>: Uso de técnicas de procesamiento de lenguaje natural para analizar comentarios de clientes y mejorar la experiencia de servicio.</a:t>
            </a:r>
          </a:p>
          <a:p>
            <a:pPr algn="l">
              <a:buFont typeface="Arial" panose="020B0604020202020204" pitchFamily="34" charset="0"/>
              <a:buChar char="•"/>
            </a:pPr>
            <a:r>
              <a:rPr lang="es-MX" b="1" i="0" dirty="0">
                <a:solidFill>
                  <a:srgbClr val="0D0D0D"/>
                </a:solidFill>
                <a:effectLst/>
                <a:latin typeface="+mj-lt"/>
              </a:rPr>
              <a:t>Gestión de Precios Dinámicos</a:t>
            </a:r>
            <a:r>
              <a:rPr lang="es-MX" b="0" i="0" dirty="0">
                <a:solidFill>
                  <a:srgbClr val="0D0D0D"/>
                </a:solidFill>
                <a:effectLst/>
                <a:latin typeface="+mj-lt"/>
              </a:rPr>
              <a:t>: Modelos que ajustan los precios de hoteles, vuelos y servicios turísticos en tiempo real, basados en la demanda, la competencia y otros factores.</a:t>
            </a:r>
          </a:p>
          <a:p>
            <a:pPr algn="l">
              <a:buFont typeface="Arial" panose="020B0604020202020204" pitchFamily="34" charset="0"/>
              <a:buChar char="•"/>
            </a:pPr>
            <a:endParaRPr lang="es-MX" b="0" i="0" dirty="0">
              <a:solidFill>
                <a:srgbClr val="0D0D0D"/>
              </a:solidFill>
              <a:effectLst/>
              <a:latin typeface="Söhne"/>
            </a:endParaRPr>
          </a:p>
          <a:p>
            <a:endParaRPr lang="es-CO" dirty="0"/>
          </a:p>
        </p:txBody>
      </p:sp>
    </p:spTree>
    <p:extLst>
      <p:ext uri="{BB962C8B-B14F-4D97-AF65-F5344CB8AC3E}">
        <p14:creationId xmlns:p14="http://schemas.microsoft.com/office/powerpoint/2010/main" val="27134648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1ab0953e115_0_3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1ab0953e115_0_3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65175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pPr algn="l"/>
            <a:r>
              <a:rPr lang="es-MX" b="1" i="0" dirty="0">
                <a:solidFill>
                  <a:srgbClr val="0D0D0D"/>
                </a:solidFill>
                <a:effectLst/>
                <a:latin typeface="+mj-lt"/>
              </a:rPr>
              <a:t>1. Algoritmo</a:t>
            </a:r>
          </a:p>
          <a:p>
            <a:pPr algn="l">
              <a:buFont typeface="Arial" panose="020B0604020202020204" pitchFamily="34" charset="0"/>
              <a:buChar char="•"/>
            </a:pPr>
            <a:r>
              <a:rPr lang="es-MX" b="1" i="0" dirty="0">
                <a:solidFill>
                  <a:srgbClr val="0D0D0D"/>
                </a:solidFill>
                <a:effectLst/>
                <a:latin typeface="+mj-lt"/>
              </a:rPr>
              <a:t>Definición</a:t>
            </a:r>
            <a:r>
              <a:rPr lang="es-MX" b="0" i="0" dirty="0">
                <a:solidFill>
                  <a:srgbClr val="0D0D0D"/>
                </a:solidFill>
                <a:effectLst/>
                <a:latin typeface="+mj-lt"/>
              </a:rPr>
              <a:t>: Un conjunto ordenado de operaciones sistemáticas que se deben seguir para resolver un problema o realizar una tarea. Los algoritmos son independientes del lenguaje de programación y pueden ser expresados en pseudocódigo, diagramas de flujo, o descripciones verbales. Son la base conceptual para desarrollar soluciones de software.</a:t>
            </a:r>
          </a:p>
          <a:p>
            <a:pPr algn="l"/>
            <a:r>
              <a:rPr lang="es-MX" b="1" i="0" dirty="0">
                <a:solidFill>
                  <a:srgbClr val="0D0D0D"/>
                </a:solidFill>
                <a:effectLst/>
                <a:latin typeface="+mj-lt"/>
              </a:rPr>
              <a:t>2. Sintaxis</a:t>
            </a:r>
          </a:p>
          <a:p>
            <a:pPr algn="l">
              <a:buFont typeface="Arial" panose="020B0604020202020204" pitchFamily="34" charset="0"/>
              <a:buChar char="•"/>
            </a:pPr>
            <a:r>
              <a:rPr lang="es-MX" b="1" i="0" dirty="0">
                <a:solidFill>
                  <a:srgbClr val="0D0D0D"/>
                </a:solidFill>
                <a:effectLst/>
                <a:latin typeface="+mj-lt"/>
              </a:rPr>
              <a:t>Definición</a:t>
            </a:r>
            <a:r>
              <a:rPr lang="es-MX" b="0" i="0" dirty="0">
                <a:solidFill>
                  <a:srgbClr val="0D0D0D"/>
                </a:solidFill>
                <a:effectLst/>
                <a:latin typeface="+mj-lt"/>
              </a:rPr>
              <a:t>: Conjunto de reglas que definen la estructura correcta de las instrucciones en un lenguaje de programación. La sintaxis determina cómo se deben organizar las palabras clave, los símbolos y los identificadores para formar instrucciones comprensibles para el compilador o intérprete.</a:t>
            </a:r>
          </a:p>
          <a:p>
            <a:pPr algn="l"/>
            <a:r>
              <a:rPr lang="es-MX" b="1" i="0" dirty="0">
                <a:solidFill>
                  <a:srgbClr val="0D0D0D"/>
                </a:solidFill>
                <a:effectLst/>
                <a:latin typeface="+mj-lt"/>
              </a:rPr>
              <a:t>3. Código</a:t>
            </a:r>
          </a:p>
          <a:p>
            <a:pPr algn="l">
              <a:buFont typeface="Arial" panose="020B0604020202020204" pitchFamily="34" charset="0"/>
              <a:buChar char="•"/>
            </a:pPr>
            <a:r>
              <a:rPr lang="es-MX" b="1" i="0" dirty="0">
                <a:solidFill>
                  <a:srgbClr val="0D0D0D"/>
                </a:solidFill>
                <a:effectLst/>
                <a:latin typeface="+mj-lt"/>
              </a:rPr>
              <a:t>Definición</a:t>
            </a:r>
            <a:r>
              <a:rPr lang="es-MX" b="0" i="0" dirty="0">
                <a:solidFill>
                  <a:srgbClr val="0D0D0D"/>
                </a:solidFill>
                <a:effectLst/>
                <a:latin typeface="+mj-lt"/>
              </a:rPr>
              <a:t>: La implementación específica de algoritmos en un lenguaje de programación determinado. El código está compuesto por instrucciones que siguen la sintaxis del lenguaje y que una computadora puede ejecutar para realizar tareas específicas.</a:t>
            </a:r>
          </a:p>
          <a:p>
            <a:pPr algn="l"/>
            <a:r>
              <a:rPr lang="es-MX" b="1" i="0" dirty="0">
                <a:solidFill>
                  <a:srgbClr val="0D0D0D"/>
                </a:solidFill>
                <a:effectLst/>
                <a:latin typeface="+mj-lt"/>
              </a:rPr>
              <a:t>4. Script</a:t>
            </a:r>
          </a:p>
          <a:p>
            <a:pPr algn="l">
              <a:buFont typeface="Arial" panose="020B0604020202020204" pitchFamily="34" charset="0"/>
              <a:buChar char="•"/>
            </a:pPr>
            <a:r>
              <a:rPr lang="es-MX" b="1" i="0" dirty="0">
                <a:solidFill>
                  <a:srgbClr val="0D0D0D"/>
                </a:solidFill>
                <a:effectLst/>
                <a:latin typeface="+mj-lt"/>
              </a:rPr>
              <a:t>Definición</a:t>
            </a:r>
            <a:r>
              <a:rPr lang="es-MX" b="0" i="0" dirty="0">
                <a:solidFill>
                  <a:srgbClr val="0D0D0D"/>
                </a:solidFill>
                <a:effectLst/>
                <a:latin typeface="+mj-lt"/>
              </a:rPr>
              <a:t>: Un tipo de código diseñado para ejecutar una serie de instrucciones dentro de un programa mayor o en un entorno específico. Los scripts son a menudo utilizados para automatizar procesos o realizar tareas de administración. Aunque pueden ser programas completos en sí mismos, comúnmente se refieren a código que no requiere un proceso de compilación previo a su ejecución.</a:t>
            </a:r>
          </a:p>
          <a:p>
            <a:pPr algn="l"/>
            <a:r>
              <a:rPr lang="es-MX" b="1" i="0" dirty="0">
                <a:solidFill>
                  <a:srgbClr val="0D0D0D"/>
                </a:solidFill>
                <a:effectLst/>
                <a:latin typeface="+mj-lt"/>
              </a:rPr>
              <a:t>5. Programa</a:t>
            </a:r>
          </a:p>
          <a:p>
            <a:pPr algn="l">
              <a:buFont typeface="Arial" panose="020B0604020202020204" pitchFamily="34" charset="0"/>
              <a:buChar char="•"/>
            </a:pPr>
            <a:r>
              <a:rPr lang="es-MX" b="1" i="0" dirty="0">
                <a:solidFill>
                  <a:srgbClr val="0D0D0D"/>
                </a:solidFill>
                <a:effectLst/>
                <a:latin typeface="+mj-lt"/>
              </a:rPr>
              <a:t>Definición</a:t>
            </a:r>
            <a:r>
              <a:rPr lang="es-MX" b="0" i="0" dirty="0">
                <a:solidFill>
                  <a:srgbClr val="0D0D0D"/>
                </a:solidFill>
                <a:effectLst/>
                <a:latin typeface="+mj-lt"/>
              </a:rPr>
              <a:t>: Una colección de scripts o código que, cuando se ejecuta, realiza una serie de tareas o soluciona un problema específico. Un programa es una aplicación software completa y funcional, que ha sido compilada (si es necesario), enlazada y preparada para que los usuarios finales la ejecuten en sus dispositivos.</a:t>
            </a:r>
          </a:p>
          <a:p>
            <a:pPr marL="158750" indent="0">
              <a:buNone/>
            </a:pPr>
            <a:endParaRPr lang="es-CO" dirty="0"/>
          </a:p>
        </p:txBody>
      </p:sp>
    </p:spTree>
    <p:extLst>
      <p:ext uri="{BB962C8B-B14F-4D97-AF65-F5344CB8AC3E}">
        <p14:creationId xmlns:p14="http://schemas.microsoft.com/office/powerpoint/2010/main" val="35342538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ab0953e11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ab0953e11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1ab0953e115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1ab0953e115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ab0953e115_0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ab0953e115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708839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ab0953e115_0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ab0953e115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1ab0953e115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1ab0953e115_0_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ab0953e115_0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ab0953e115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40419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ab0953e115_0_2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1ab0953e115_0_2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1ab0953e115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1ab0953e115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1ab0953e115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1ab0953e115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CO" b="0" i="0" dirty="0">
                <a:solidFill>
                  <a:srgbClr val="0D0D0D"/>
                </a:solidFill>
                <a:effectLst/>
                <a:latin typeface="+mj-lt"/>
              </a:rPr>
              <a:t>permiten almacenar colecciones de elementos</a:t>
            </a:r>
            <a:endParaRPr dirty="0">
              <a:latin typeface="+mj-lt"/>
            </a:endParaRPr>
          </a:p>
        </p:txBody>
      </p:sp>
    </p:spTree>
    <p:extLst>
      <p:ext uri="{BB962C8B-B14F-4D97-AF65-F5344CB8AC3E}">
        <p14:creationId xmlns:p14="http://schemas.microsoft.com/office/powerpoint/2010/main" val="13523490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1ab0953e115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1ab0953e115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CO" b="0" i="0" dirty="0">
                <a:solidFill>
                  <a:srgbClr val="0D0D0D"/>
                </a:solidFill>
                <a:effectLst/>
                <a:latin typeface="+mj-lt"/>
              </a:rPr>
              <a:t>permiten almacenar colecciones de elementos</a:t>
            </a:r>
            <a:endParaRPr dirty="0">
              <a:latin typeface="+mj-lt"/>
            </a:endParaRPr>
          </a:p>
        </p:txBody>
      </p:sp>
    </p:spTree>
    <p:extLst>
      <p:ext uri="{BB962C8B-B14F-4D97-AF65-F5344CB8AC3E}">
        <p14:creationId xmlns:p14="http://schemas.microsoft.com/office/powerpoint/2010/main" val="3270406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1ad6245b39d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1ad6245b39d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07278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ab0953e115_0_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ab0953e115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67549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1ad6245b39d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1ad6245b39d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2835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1ad6245b39d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1ad6245b39d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49870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1ad6245b39d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1ad6245b39d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1424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1ad6245b39d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1ad6245b39d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998113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1ad6245b39d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1ad6245b39d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987470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1ad6245b39d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1ad6245b39d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ad6245b39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1ad6245b39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ad6245b39d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1ad6245b39d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1ad6245b39d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1ad6245b39d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1ad6245b39d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1ad6245b39d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1ad6245b39d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1ad6245b39d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1ad6245b39d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1ad6245b39d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1c0d9f2b224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1c0d9f2b224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1ad6554b9b6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1ad6554b9b6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1ad6554b9b6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1ad6554b9b6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c0d9f2b22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c0d9f2b22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c0d9f2b22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1c0d9f2b22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1c0d9f2b224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1c0d9f2b224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1c0d9f2b224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1c0d9f2b224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1c13f38997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1c13f3899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1c13f389972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1c13f389972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1c13f389972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1c13f389972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1c0d9f2b224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1c0d9f2b224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g1ad6554b9b6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2" name="Google Shape;292;g1ad6554b9b6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1c13f38997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1c13f38997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1ad6554b9b6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1ad6554b9b6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1c0d9f2b224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1c0d9f2b224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1ad6554b9b6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1ad6554b9b6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1ad6245b39d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1ad6245b39d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26798637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6059773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1142144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 id="2147483662" r:id="rId11"/>
    <p:sldLayoutId id="2147483663" r:id="rId12"/>
    <p:sldLayoutId id="2147483664"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jpeg"/><Relationship Id="rId7" Type="http://schemas.openxmlformats.org/officeDocument/2006/relationships/hyperlink" Target="https://scienti.minciencias.gov.co/cvlac/visualizador/generarCurriculoCv.do?cod_rh=0001539970"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hyperlink" Target="https://www.researchgate.net/profile/Oscar_Vargas7"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11.gif"/><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4.jpeg"/><Relationship Id="rId7" Type="http://schemas.openxmlformats.org/officeDocument/2006/relationships/image" Target="../media/image18.jpeg"/><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6.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20.jpeg"/><Relationship Id="rId7" Type="http://schemas.openxmlformats.org/officeDocument/2006/relationships/image" Target="../media/image24.jpe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 Id="rId9" Type="http://schemas.openxmlformats.org/officeDocument/2006/relationships/image" Target="../media/image26.png"/></Relationships>
</file>

<file path=ppt/slides/_rels/slide7.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1.gif"/></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41.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png"/></Relationships>
</file>

<file path=ppt/slides/_rels/slide20.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7.gi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60.gif"/><Relationship Id="rId4" Type="http://schemas.openxmlformats.org/officeDocument/2006/relationships/image" Target="../media/image59.png"/></Relationships>
</file>

<file path=ppt/slides/_rels/slide2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2.gif"/></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6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68.png"/><Relationship Id="rId4" Type="http://schemas.openxmlformats.org/officeDocument/2006/relationships/image" Target="../media/image67.png"/></Relationships>
</file>

<file path=ppt/slides/_rels/slide34.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36.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s>
</file>

<file path=ppt/slides/_rels/slide37.xml.rels><?xml version="1.0" encoding="UTF-8" standalone="yes"?>
<Relationships xmlns="http://schemas.openxmlformats.org/package/2006/relationships"><Relationship Id="rId2" Type="http://schemas.openxmlformats.org/officeDocument/2006/relationships/image" Target="../media/image81.gif"/><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84.png"/><Relationship Id="rId4" Type="http://schemas.openxmlformats.org/officeDocument/2006/relationships/image" Target="../media/image8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87.png"/></Relationships>
</file>

<file path=ppt/slides/_rels/slide42.xml.rels><?xml version="1.0" encoding="UTF-8" standalone="yes"?>
<Relationships xmlns="http://schemas.openxmlformats.org/package/2006/relationships"><Relationship Id="rId3" Type="http://schemas.openxmlformats.org/officeDocument/2006/relationships/image" Target="../media/image88.png"/><Relationship Id="rId7" Type="http://schemas.openxmlformats.org/officeDocument/2006/relationships/image" Target="../media/image91.png"/><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customXml" Target="../ink/ink1.xml"/><Relationship Id="rId5" Type="http://schemas.openxmlformats.org/officeDocument/2006/relationships/image" Target="../media/image90.png"/><Relationship Id="rId4" Type="http://schemas.openxmlformats.org/officeDocument/2006/relationships/image" Target="../media/image89.png"/></Relationships>
</file>

<file path=ppt/slides/_rels/slide43.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image" Target="../media/image94.png"/><Relationship Id="rId5" Type="http://schemas.openxmlformats.org/officeDocument/2006/relationships/customXml" Target="../ink/ink2.xml"/><Relationship Id="rId4" Type="http://schemas.openxmlformats.org/officeDocument/2006/relationships/image" Target="../media/image93.png"/></Relationships>
</file>

<file path=ppt/slides/_rels/slide44.xml.rels><?xml version="1.0" encoding="UTF-8" standalone="yes"?>
<Relationships xmlns="http://schemas.openxmlformats.org/package/2006/relationships"><Relationship Id="rId2" Type="http://schemas.openxmlformats.org/officeDocument/2006/relationships/image" Target="../media/image94.gif"/><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_rels/slide4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image" Target="../media/image101.png"/><Relationship Id="rId4" Type="http://schemas.openxmlformats.org/officeDocument/2006/relationships/image" Target="../media/image100.png"/></Relationships>
</file>

<file path=ppt/slides/_rels/slide4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3.xml"/><Relationship Id="rId4" Type="http://schemas.openxmlformats.org/officeDocument/2006/relationships/image" Target="../media/image104.png"/></Relationships>
</file>

<file path=ppt/slides/_rels/slide48.xml.rels><?xml version="1.0" encoding="UTF-8" standalone="yes"?>
<Relationships xmlns="http://schemas.openxmlformats.org/package/2006/relationships"><Relationship Id="rId2" Type="http://schemas.openxmlformats.org/officeDocument/2006/relationships/image" Target="../media/image105.gif"/><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3.xml"/><Relationship Id="rId4" Type="http://schemas.openxmlformats.org/officeDocument/2006/relationships/image" Target="../media/image108.png"/></Relationships>
</file>

<file path=ppt/slides/_rels/slide50.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110.png"/><Relationship Id="rId7" Type="http://schemas.openxmlformats.org/officeDocument/2006/relationships/image" Target="../media/image114.png"/><Relationship Id="rId2" Type="http://schemas.openxmlformats.org/officeDocument/2006/relationships/notesSlide" Target="../notesSlides/notesSlide33.xml"/><Relationship Id="rId1" Type="http://schemas.openxmlformats.org/officeDocument/2006/relationships/slideLayout" Target="../slideLayouts/slideLayout3.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 Id="rId9" Type="http://schemas.openxmlformats.org/officeDocument/2006/relationships/image" Target="../media/image116.gi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hyperlink" Target="https://docs.google.com/spreadsheets/d/1Fny9BGdY-jHurP0PRFssneAecz4LaBg8/export?format=csv" TargetMode="External"/><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118.png"/></Relationships>
</file>

<file path=ppt/slides/_rels/slide59.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2.xml"/><Relationship Id="rId4" Type="http://schemas.openxmlformats.org/officeDocument/2006/relationships/image" Target="../media/image122.png"/></Relationships>
</file>

<file path=ppt/slides/_rels/slide76.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123.jpe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1.xml"/></Relationships>
</file>

<file path=ppt/slides/_rels/slide83.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125.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DFD986C2-044E-EE37-C7B0-69F80FE1C767}"/>
              </a:ext>
            </a:extLst>
          </p:cNvPr>
          <p:cNvPicPr>
            <a:picLocks noChangeAspect="1"/>
          </p:cNvPicPr>
          <p:nvPr/>
        </p:nvPicPr>
        <p:blipFill>
          <a:blip r:embed="rId3"/>
          <a:stretch>
            <a:fillRect/>
          </a:stretch>
        </p:blipFill>
        <p:spPr>
          <a:xfrm>
            <a:off x="0" y="224416"/>
            <a:ext cx="5852160" cy="4391554"/>
          </a:xfrm>
          <a:prstGeom prst="rect">
            <a:avLst/>
          </a:prstGeom>
        </p:spPr>
      </p:pic>
      <p:pic>
        <p:nvPicPr>
          <p:cNvPr id="2" name="Imagen 1">
            <a:extLst>
              <a:ext uri="{FF2B5EF4-FFF2-40B4-BE49-F238E27FC236}">
                <a16:creationId xmlns:a16="http://schemas.microsoft.com/office/drawing/2014/main" id="{AE82A878-68EC-6326-F937-540FCA976561}"/>
              </a:ext>
            </a:extLst>
          </p:cNvPr>
          <p:cNvPicPr>
            <a:picLocks noChangeAspect="1"/>
          </p:cNvPicPr>
          <p:nvPr/>
        </p:nvPicPr>
        <p:blipFill>
          <a:blip r:embed="rId4"/>
          <a:stretch>
            <a:fillRect/>
          </a:stretch>
        </p:blipFill>
        <p:spPr>
          <a:xfrm>
            <a:off x="5951417" y="734956"/>
            <a:ext cx="3192583" cy="3014084"/>
          </a:xfrm>
          <a:prstGeom prst="rect">
            <a:avLst/>
          </a:prstGeom>
        </p:spPr>
      </p:pic>
      <p:sp>
        <p:nvSpPr>
          <p:cNvPr id="3" name="Google Shape;97;p1">
            <a:extLst>
              <a:ext uri="{FF2B5EF4-FFF2-40B4-BE49-F238E27FC236}">
                <a16:creationId xmlns:a16="http://schemas.microsoft.com/office/drawing/2014/main" id="{CC02EDAB-89C3-BCC2-66EC-78CDB392C75D}"/>
              </a:ext>
            </a:extLst>
          </p:cNvPr>
          <p:cNvSpPr txBox="1">
            <a:spLocks/>
          </p:cNvSpPr>
          <p:nvPr/>
        </p:nvSpPr>
        <p:spPr>
          <a:xfrm>
            <a:off x="5951417" y="4196944"/>
            <a:ext cx="2328809" cy="838052"/>
          </a:xfrm>
          <a:prstGeom prst="rect">
            <a:avLst/>
          </a:prstGeom>
          <a:noFill/>
          <a:ln>
            <a:noFill/>
          </a:ln>
        </p:spPr>
        <p:txBody>
          <a:bodyPr spcFirstLastPara="1" wrap="square" lIns="68569" tIns="34275" rIns="68569" bIns="34275" anchor="t" anchorCtr="0">
            <a:normAutofit fontScale="92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buClr>
                <a:schemeClr val="dk1"/>
              </a:buClr>
              <a:buSzPts val="1600"/>
            </a:pPr>
            <a:r>
              <a:rPr lang="es-ES" sz="1200" i="1" dirty="0"/>
              <a:t>Ing. Agroindustrial</a:t>
            </a:r>
            <a:endParaRPr lang="es-ES" dirty="0"/>
          </a:p>
          <a:p>
            <a:pPr algn="just">
              <a:buClr>
                <a:schemeClr val="dk1"/>
              </a:buClr>
              <a:buSzPts val="1600"/>
            </a:pPr>
            <a:r>
              <a:rPr lang="es-ES" sz="1200" i="1" dirty="0"/>
              <a:t>Esp. Gestión Integral del Agua </a:t>
            </a:r>
            <a:endParaRPr lang="es-ES" dirty="0"/>
          </a:p>
          <a:p>
            <a:pPr algn="just">
              <a:buClr>
                <a:schemeClr val="dk1"/>
              </a:buClr>
              <a:buSzPts val="1600"/>
            </a:pPr>
            <a:r>
              <a:rPr lang="es-ES" sz="1200" i="1" dirty="0" err="1"/>
              <a:t>Mgs</a:t>
            </a:r>
            <a:r>
              <a:rPr lang="es-ES" sz="1200" i="1" dirty="0"/>
              <a:t>. Gestión Ambiental Sostenible</a:t>
            </a:r>
            <a:endParaRPr lang="es-ES" dirty="0"/>
          </a:p>
          <a:p>
            <a:pPr algn="just">
              <a:buClr>
                <a:schemeClr val="dk1"/>
              </a:buClr>
              <a:buSzPts val="1600"/>
            </a:pPr>
            <a:r>
              <a:rPr lang="es-ES" sz="1200" i="1" dirty="0"/>
              <a:t>PhD. Ciencias Agrarias </a:t>
            </a:r>
            <a:endParaRPr lang="es-ES" dirty="0"/>
          </a:p>
        </p:txBody>
      </p:sp>
    </p:spTree>
    <p:extLst>
      <p:ext uri="{BB962C8B-B14F-4D97-AF65-F5344CB8AC3E}">
        <p14:creationId xmlns:p14="http://schemas.microsoft.com/office/powerpoint/2010/main" val="17800093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
          <p:cNvSpPr txBox="1">
            <a:spLocks noGrp="1"/>
          </p:cNvSpPr>
          <p:nvPr>
            <p:ph type="ctrTitle"/>
          </p:nvPr>
        </p:nvSpPr>
        <p:spPr>
          <a:xfrm>
            <a:off x="805667" y="1745808"/>
            <a:ext cx="3553288" cy="1174315"/>
          </a:xfrm>
          <a:prstGeom prst="rect">
            <a:avLst/>
          </a:prstGeom>
          <a:noFill/>
          <a:ln>
            <a:noFill/>
          </a:ln>
        </p:spPr>
        <p:txBody>
          <a:bodyPr spcFirstLastPara="1" wrap="square" lIns="68569" tIns="34275" rIns="68569" bIns="34275" anchor="b" anchorCtr="0">
            <a:noAutofit/>
          </a:bodyPr>
          <a:lstStyle/>
          <a:p>
            <a:pPr>
              <a:lnSpc>
                <a:spcPct val="90000"/>
              </a:lnSpc>
              <a:buSzPts val="5400"/>
            </a:pPr>
            <a:r>
              <a:rPr lang="es-CO" sz="4050">
                <a:latin typeface="Anton"/>
                <a:ea typeface="Anton"/>
                <a:cs typeface="Anton"/>
                <a:sym typeface="Anton"/>
              </a:rPr>
              <a:t>OSCAR IVAN VARGAS PINEDA</a:t>
            </a:r>
            <a:endParaRPr/>
          </a:p>
        </p:txBody>
      </p:sp>
      <p:sp>
        <p:nvSpPr>
          <p:cNvPr id="97" name="Google Shape;97;p1"/>
          <p:cNvSpPr txBox="1">
            <a:spLocks noGrp="1"/>
          </p:cNvSpPr>
          <p:nvPr>
            <p:ph type="subTitle" idx="1"/>
          </p:nvPr>
        </p:nvSpPr>
        <p:spPr>
          <a:xfrm>
            <a:off x="6010522" y="3971934"/>
            <a:ext cx="2328809" cy="838052"/>
          </a:xfrm>
          <a:prstGeom prst="rect">
            <a:avLst/>
          </a:prstGeom>
          <a:noFill/>
          <a:ln>
            <a:noFill/>
          </a:ln>
        </p:spPr>
        <p:txBody>
          <a:bodyPr spcFirstLastPara="1" wrap="square" lIns="68569" tIns="34275" rIns="68569" bIns="34275" anchor="t" anchorCtr="0">
            <a:normAutofit fontScale="92500"/>
          </a:bodyPr>
          <a:lstStyle/>
          <a:p>
            <a:pPr marL="0" indent="0" algn="just">
              <a:buClr>
                <a:schemeClr val="dk1"/>
              </a:buClr>
              <a:buSzPts val="1600"/>
            </a:pPr>
            <a:r>
              <a:rPr lang="es-CO" sz="1200" i="1"/>
              <a:t>Ing. Agroindustrial</a:t>
            </a:r>
            <a:endParaRPr/>
          </a:p>
          <a:p>
            <a:pPr marL="0" indent="0" algn="just">
              <a:buClr>
                <a:schemeClr val="dk1"/>
              </a:buClr>
              <a:buSzPts val="1600"/>
            </a:pPr>
            <a:r>
              <a:rPr lang="es-CO" sz="1200" i="1"/>
              <a:t>Esp. Gestión Integral del Agua </a:t>
            </a:r>
            <a:endParaRPr/>
          </a:p>
          <a:p>
            <a:pPr marL="0" indent="0" algn="just">
              <a:buClr>
                <a:schemeClr val="dk1"/>
              </a:buClr>
              <a:buSzPts val="1600"/>
            </a:pPr>
            <a:r>
              <a:rPr lang="es-CO" sz="1200" i="1"/>
              <a:t>Mgs. Gestión Ambiental Sostenible</a:t>
            </a:r>
            <a:endParaRPr/>
          </a:p>
          <a:p>
            <a:pPr marL="0" indent="0" algn="just">
              <a:buClr>
                <a:schemeClr val="dk1"/>
              </a:buClr>
              <a:buSzPts val="1600"/>
            </a:pPr>
            <a:r>
              <a:rPr lang="es-CO" sz="1200" i="1"/>
              <a:t>(e) PhD. Ciencias Agrarias </a:t>
            </a:r>
            <a:endParaRPr/>
          </a:p>
        </p:txBody>
      </p:sp>
      <p:sp>
        <p:nvSpPr>
          <p:cNvPr id="98" name="Google Shape;98;p1"/>
          <p:cNvSpPr/>
          <p:nvPr/>
        </p:nvSpPr>
        <p:spPr>
          <a:xfrm>
            <a:off x="805665" y="1642850"/>
            <a:ext cx="3553288" cy="59924"/>
          </a:xfrm>
          <a:prstGeom prst="rect">
            <a:avLst/>
          </a:prstGeom>
          <a:solidFill>
            <a:srgbClr val="825B3E"/>
          </a:solidFill>
          <a:ln>
            <a:noFill/>
          </a:ln>
        </p:spPr>
        <p:txBody>
          <a:bodyPr spcFirstLastPara="1" wrap="square" lIns="68569" tIns="34275" rIns="68569" bIns="34275" anchor="ctr" anchorCtr="0">
            <a:noAutofit/>
          </a:bodyPr>
          <a:lstStyle/>
          <a:p>
            <a:pPr algn="ctr"/>
            <a:endParaRPr sz="1350">
              <a:solidFill>
                <a:schemeClr val="lt1"/>
              </a:solidFill>
              <a:latin typeface="Calibri"/>
              <a:ea typeface="Calibri"/>
              <a:cs typeface="Calibri"/>
              <a:sym typeface="Calibri"/>
            </a:endParaRPr>
          </a:p>
        </p:txBody>
      </p:sp>
      <p:sp>
        <p:nvSpPr>
          <p:cNvPr id="99" name="Google Shape;99;p1"/>
          <p:cNvSpPr/>
          <p:nvPr/>
        </p:nvSpPr>
        <p:spPr>
          <a:xfrm>
            <a:off x="805666" y="2920123"/>
            <a:ext cx="3553288" cy="59924"/>
          </a:xfrm>
          <a:prstGeom prst="rect">
            <a:avLst/>
          </a:prstGeom>
          <a:solidFill>
            <a:srgbClr val="825B3E"/>
          </a:solidFill>
          <a:ln>
            <a:noFill/>
          </a:ln>
        </p:spPr>
        <p:txBody>
          <a:bodyPr spcFirstLastPara="1" wrap="square" lIns="68569" tIns="34275" rIns="68569" bIns="34275" anchor="ctr" anchorCtr="0">
            <a:noAutofit/>
          </a:bodyPr>
          <a:lstStyle/>
          <a:p>
            <a:pPr algn="ctr"/>
            <a:endParaRPr sz="1350">
              <a:solidFill>
                <a:schemeClr val="lt1"/>
              </a:solidFill>
              <a:latin typeface="Calibri"/>
              <a:ea typeface="Calibri"/>
              <a:cs typeface="Calibri"/>
              <a:sym typeface="Calibri"/>
            </a:endParaRPr>
          </a:p>
        </p:txBody>
      </p:sp>
      <p:sp>
        <p:nvSpPr>
          <p:cNvPr id="2" name="Google Shape;94;p1">
            <a:extLst>
              <a:ext uri="{FF2B5EF4-FFF2-40B4-BE49-F238E27FC236}">
                <a16:creationId xmlns:a16="http://schemas.microsoft.com/office/drawing/2014/main" id="{2B0F9D19-6DDF-2BFB-2694-CDAF3B9AB04C}"/>
              </a:ext>
            </a:extLst>
          </p:cNvPr>
          <p:cNvSpPr txBox="1"/>
          <p:nvPr/>
        </p:nvSpPr>
        <p:spPr>
          <a:xfrm>
            <a:off x="0" y="321535"/>
            <a:ext cx="9144000" cy="500107"/>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10800000" scaled="1"/>
            <a:tileRect/>
          </a:gradFill>
          <a:ln>
            <a:noFill/>
          </a:ln>
        </p:spPr>
        <p:txBody>
          <a:bodyPr spcFirstLastPara="1" wrap="square" lIns="68569" tIns="34275" rIns="68569" bIns="34275" anchor="t" anchorCtr="0">
            <a:spAutoFit/>
          </a:bodyPr>
          <a:lstStyle/>
          <a:p>
            <a:pPr algn="ctr">
              <a:buSzPts val="5600"/>
            </a:pPr>
            <a:r>
              <a:rPr lang="es-MX" sz="2800" b="1" i="1" dirty="0">
                <a:solidFill>
                  <a:schemeClr val="bg1"/>
                </a:solidFill>
                <a:latin typeface="Aharoni"/>
                <a:cs typeface="Aharoni"/>
                <a:sym typeface="Aharoni"/>
              </a:rPr>
              <a:t>Lenguajes de Programación Multiplataforma </a:t>
            </a:r>
            <a:endParaRPr lang="es-ES" sz="2800" dirty="0">
              <a:solidFill>
                <a:schemeClr val="bg1"/>
              </a:solidFill>
            </a:endParaRPr>
          </a:p>
        </p:txBody>
      </p:sp>
      <p:pic>
        <p:nvPicPr>
          <p:cNvPr id="3" name="Imagen 2">
            <a:extLst>
              <a:ext uri="{FF2B5EF4-FFF2-40B4-BE49-F238E27FC236}">
                <a16:creationId xmlns:a16="http://schemas.microsoft.com/office/drawing/2014/main" id="{4F80A918-A009-24BB-E473-ADDB10B9DB1C}"/>
              </a:ext>
            </a:extLst>
          </p:cNvPr>
          <p:cNvPicPr>
            <a:picLocks noChangeAspect="1"/>
          </p:cNvPicPr>
          <p:nvPr/>
        </p:nvPicPr>
        <p:blipFill>
          <a:blip r:embed="rId3"/>
          <a:stretch>
            <a:fillRect/>
          </a:stretch>
        </p:blipFill>
        <p:spPr>
          <a:xfrm>
            <a:off x="5936105" y="1347672"/>
            <a:ext cx="2779675" cy="2624262"/>
          </a:xfrm>
          <a:prstGeom prst="rect">
            <a:avLst/>
          </a:prstGeom>
        </p:spPr>
      </p:pic>
      <p:sp>
        <p:nvSpPr>
          <p:cNvPr id="4" name="Google Shape;93;p1">
            <a:extLst>
              <a:ext uri="{FF2B5EF4-FFF2-40B4-BE49-F238E27FC236}">
                <a16:creationId xmlns:a16="http://schemas.microsoft.com/office/drawing/2014/main" id="{393FABD8-4DB8-BB30-01E3-DE15A4760610}"/>
              </a:ext>
            </a:extLst>
          </p:cNvPr>
          <p:cNvSpPr txBox="1"/>
          <p:nvPr/>
        </p:nvSpPr>
        <p:spPr>
          <a:xfrm>
            <a:off x="1902705" y="4390960"/>
            <a:ext cx="3220993" cy="484718"/>
          </a:xfrm>
          <a:prstGeom prst="rect">
            <a:avLst/>
          </a:prstGeom>
          <a:noFill/>
          <a:ln>
            <a:noFill/>
          </a:ln>
        </p:spPr>
        <p:txBody>
          <a:bodyPr spcFirstLastPara="1" wrap="square" lIns="68569" tIns="34275" rIns="68569" bIns="34275" anchor="t" anchorCtr="0">
            <a:spAutoFit/>
          </a:bodyPr>
          <a:lstStyle/>
          <a:p>
            <a:pPr algn="ctr">
              <a:buSzPts val="1800"/>
            </a:pPr>
            <a:r>
              <a:rPr lang="es-MX" sz="1350" i="1" dirty="0" err="1">
                <a:solidFill>
                  <a:schemeClr val="dk1"/>
                </a:solidFill>
                <a:effectLst>
                  <a:outerShdw blurRad="38100" dist="38100" dir="2700000" algn="tl">
                    <a:srgbClr val="000000">
                      <a:alpha val="43137"/>
                    </a:srgbClr>
                  </a:outerShdw>
                </a:effectLst>
                <a:latin typeface="Calibri"/>
                <a:ea typeface="Calibri"/>
                <a:cs typeface="Calibri"/>
                <a:sym typeface="Calibri"/>
              </a:rPr>
              <a:t>oscarvargas@trabajocientific</a:t>
            </a:r>
            <a:r>
              <a:rPr lang="es-MX" sz="1350" i="1" dirty="0">
                <a:solidFill>
                  <a:schemeClr val="dk1"/>
                </a:solidFill>
                <a:effectLst>
                  <a:outerShdw blurRad="38100" dist="38100" dir="2700000" algn="tl">
                    <a:srgbClr val="000000">
                      <a:alpha val="43137"/>
                    </a:srgbClr>
                  </a:outerShdw>
                </a:effectLst>
                <a:latin typeface="Calibri"/>
                <a:ea typeface="Calibri"/>
                <a:cs typeface="Calibri"/>
                <a:sym typeface="Calibri"/>
              </a:rPr>
              <a:t>.</a:t>
            </a:r>
            <a:r>
              <a:rPr lang="es-US" sz="1350" i="1" dirty="0" err="1">
                <a:solidFill>
                  <a:schemeClr val="dk1"/>
                </a:solidFill>
                <a:effectLst>
                  <a:outerShdw blurRad="38100" dist="38100" dir="2700000" algn="tl">
                    <a:srgbClr val="000000">
                      <a:alpha val="43137"/>
                    </a:srgbClr>
                  </a:outerShdw>
                </a:effectLst>
                <a:latin typeface="Calibri"/>
                <a:ea typeface="Calibri"/>
                <a:cs typeface="Calibri"/>
                <a:sym typeface="Calibri"/>
              </a:rPr>
              <a:t>com</a:t>
            </a:r>
            <a:endParaRPr sz="1350" i="1" dirty="0">
              <a:solidFill>
                <a:schemeClr val="dk1"/>
              </a:solidFill>
              <a:effectLst>
                <a:outerShdw blurRad="38100" dist="38100" dir="2700000" algn="tl">
                  <a:srgbClr val="000000">
                    <a:alpha val="43137"/>
                  </a:srgbClr>
                </a:outerShdw>
              </a:effectLst>
              <a:latin typeface="Calibri"/>
              <a:ea typeface="Calibri"/>
              <a:cs typeface="Calibri"/>
              <a:sym typeface="Calibri"/>
            </a:endParaRPr>
          </a:p>
          <a:p>
            <a:pPr algn="ctr">
              <a:buSzPts val="1800"/>
            </a:pPr>
            <a:r>
              <a:rPr lang="es-MX" sz="1350" i="1" dirty="0">
                <a:solidFill>
                  <a:schemeClr val="dk1"/>
                </a:solidFill>
                <a:effectLst>
                  <a:outerShdw blurRad="38100" dist="38100" dir="2700000" algn="tl">
                    <a:srgbClr val="000000">
                      <a:alpha val="43137"/>
                    </a:srgbClr>
                  </a:outerShdw>
                </a:effectLst>
                <a:latin typeface="Calibri"/>
                <a:ea typeface="Calibri"/>
                <a:cs typeface="Calibri"/>
                <a:sym typeface="Calibri"/>
              </a:rPr>
              <a:t>3184280112</a:t>
            </a:r>
            <a:endParaRPr sz="1050" i="1" dirty="0">
              <a:effectLst>
                <a:outerShdw blurRad="38100" dist="38100" dir="2700000" algn="tl">
                  <a:srgbClr val="000000">
                    <a:alpha val="43137"/>
                  </a:srgbClr>
                </a:outerShdw>
              </a:effectLst>
            </a:endParaRPr>
          </a:p>
        </p:txBody>
      </p:sp>
      <p:pic>
        <p:nvPicPr>
          <p:cNvPr id="5" name="Picture 2">
            <a:hlinkClick r:id="rId4"/>
            <a:extLst>
              <a:ext uri="{FF2B5EF4-FFF2-40B4-BE49-F238E27FC236}">
                <a16:creationId xmlns:a16="http://schemas.microsoft.com/office/drawing/2014/main" id="{DC5DAD7E-6180-9BF6-9629-EE6283CA127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1579" y="3516913"/>
            <a:ext cx="1546397" cy="577265"/>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6119C2C3-7A18-E278-0FA8-48E7567F32F4}"/>
              </a:ext>
            </a:extLst>
          </p:cNvPr>
          <p:cNvPicPr>
            <a:picLocks noChangeAspect="1"/>
          </p:cNvPicPr>
          <p:nvPr/>
        </p:nvPicPr>
        <p:blipFill>
          <a:blip r:embed="rId6"/>
          <a:stretch>
            <a:fillRect/>
          </a:stretch>
        </p:blipFill>
        <p:spPr>
          <a:xfrm>
            <a:off x="1407824" y="4290638"/>
            <a:ext cx="614939" cy="614939"/>
          </a:xfrm>
          <a:prstGeom prst="rect">
            <a:avLst/>
          </a:prstGeom>
        </p:spPr>
      </p:pic>
      <p:pic>
        <p:nvPicPr>
          <p:cNvPr id="8" name="Picture 6" descr="Capacitación en CVLAC Y GRUPLAC de Colciencias - Politécnico Colombiano  Jaime Isaza Cadavid">
            <a:hlinkClick r:id="rId7"/>
            <a:extLst>
              <a:ext uri="{FF2B5EF4-FFF2-40B4-BE49-F238E27FC236}">
                <a16:creationId xmlns:a16="http://schemas.microsoft.com/office/drawing/2014/main" id="{A6746C48-6D4C-32A1-5E9F-DDD154F19DA4}"/>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5226" r="48860"/>
          <a:stretch/>
        </p:blipFill>
        <p:spPr bwMode="auto">
          <a:xfrm>
            <a:off x="241910" y="3365763"/>
            <a:ext cx="1716043" cy="71330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4" name="Google Shape;103;p3">
            <a:extLst>
              <a:ext uri="{FF2B5EF4-FFF2-40B4-BE49-F238E27FC236}">
                <a16:creationId xmlns:a16="http://schemas.microsoft.com/office/drawing/2014/main" id="{B9CA52BF-8741-CB2F-E045-BEA941520ED0}"/>
              </a:ext>
            </a:extLst>
          </p:cNvPr>
          <p:cNvSpPr txBox="1">
            <a:spLocks/>
          </p:cNvSpPr>
          <p:nvPr/>
        </p:nvSpPr>
        <p:spPr>
          <a:xfrm>
            <a:off x="0" y="59230"/>
            <a:ext cx="9144000" cy="643214"/>
          </a:xfrm>
          <a:prstGeom prst="rect">
            <a:avLst/>
          </a:prstGeom>
          <a:solidFill>
            <a:srgbClr val="501000"/>
          </a:solidFill>
          <a:ln>
            <a:noFill/>
          </a:ln>
        </p:spPr>
        <p:txBody>
          <a:bodyPr spcFirstLastPara="1" wrap="square" lIns="68569" tIns="34275" rIns="68569" bIns="34275"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defTabSz="685800">
              <a:buClr>
                <a:srgbClr val="FF0000"/>
              </a:buClr>
              <a:buSzPts val="5400"/>
              <a:defRPr/>
            </a:pPr>
            <a:r>
              <a:rPr lang="es-MX" sz="4050" b="1" dirty="0">
                <a:solidFill>
                  <a:srgbClr val="FFFFFF"/>
                </a:solidFill>
                <a:latin typeface="Aharoni"/>
                <a:ea typeface="Aharoni"/>
                <a:cs typeface="Aharoni"/>
                <a:sym typeface="Aharoni"/>
              </a:rPr>
              <a:t>Experiencia en Instituciones</a:t>
            </a:r>
            <a:endParaRPr lang="es-MX" sz="3300" dirty="0">
              <a:solidFill>
                <a:srgbClr val="FFFFFF"/>
              </a:solidFill>
            </a:endParaRPr>
          </a:p>
        </p:txBody>
      </p:sp>
      <p:sp>
        <p:nvSpPr>
          <p:cNvPr id="3" name="CuadroTexto 2">
            <a:extLst>
              <a:ext uri="{FF2B5EF4-FFF2-40B4-BE49-F238E27FC236}">
                <a16:creationId xmlns:a16="http://schemas.microsoft.com/office/drawing/2014/main" id="{CE46E8FC-4F81-65DB-1850-ACF1B0CAF570}"/>
              </a:ext>
            </a:extLst>
          </p:cNvPr>
          <p:cNvSpPr txBox="1"/>
          <p:nvPr/>
        </p:nvSpPr>
        <p:spPr>
          <a:xfrm>
            <a:off x="1308129" y="4733552"/>
            <a:ext cx="2185099" cy="253916"/>
          </a:xfrm>
          <a:prstGeom prst="rect">
            <a:avLst/>
          </a:prstGeom>
          <a:noFill/>
        </p:spPr>
        <p:txBody>
          <a:bodyPr wrap="square">
            <a:spAutoFit/>
          </a:bodyPr>
          <a:lstStyle/>
          <a:p>
            <a:pPr defTabSz="685800">
              <a:defRPr/>
            </a:pPr>
            <a:r>
              <a:rPr lang="es-US" sz="1050" b="1" i="1" dirty="0"/>
              <a:t>Docente investigador</a:t>
            </a:r>
          </a:p>
        </p:txBody>
      </p:sp>
      <p:sp>
        <p:nvSpPr>
          <p:cNvPr id="6" name="CuadroTexto 5">
            <a:extLst>
              <a:ext uri="{FF2B5EF4-FFF2-40B4-BE49-F238E27FC236}">
                <a16:creationId xmlns:a16="http://schemas.microsoft.com/office/drawing/2014/main" id="{FE14BF95-5D92-BAB9-4F74-36B72C0767CB}"/>
              </a:ext>
            </a:extLst>
          </p:cNvPr>
          <p:cNvSpPr txBox="1"/>
          <p:nvPr/>
        </p:nvSpPr>
        <p:spPr>
          <a:xfrm>
            <a:off x="3019699" y="1829181"/>
            <a:ext cx="2780070" cy="507831"/>
          </a:xfrm>
          <a:prstGeom prst="rect">
            <a:avLst/>
          </a:prstGeom>
          <a:noFill/>
        </p:spPr>
        <p:txBody>
          <a:bodyPr wrap="square">
            <a:spAutoFit/>
          </a:bodyPr>
          <a:lstStyle/>
          <a:p>
            <a:pPr algn="ctr" defTabSz="685800">
              <a:defRPr/>
            </a:pPr>
            <a:r>
              <a:rPr lang="es-US" sz="900" b="1" i="1" dirty="0"/>
              <a:t>Consultor en análisis de datos del Banco Interamericano de Desarrollo</a:t>
            </a:r>
            <a:endParaRPr lang="es-ES" sz="900" b="1" i="1" dirty="0"/>
          </a:p>
          <a:p>
            <a:pPr algn="ctr" defTabSz="685800">
              <a:defRPr/>
            </a:pPr>
            <a:endParaRPr lang="es-US" sz="900" b="1" i="1" dirty="0"/>
          </a:p>
        </p:txBody>
      </p:sp>
      <p:sp>
        <p:nvSpPr>
          <p:cNvPr id="8" name="CuadroTexto 7">
            <a:extLst>
              <a:ext uri="{FF2B5EF4-FFF2-40B4-BE49-F238E27FC236}">
                <a16:creationId xmlns:a16="http://schemas.microsoft.com/office/drawing/2014/main" id="{5DD30E4B-CE92-FC83-4F73-FBE1C97F0447}"/>
              </a:ext>
            </a:extLst>
          </p:cNvPr>
          <p:cNvSpPr txBox="1"/>
          <p:nvPr/>
        </p:nvSpPr>
        <p:spPr>
          <a:xfrm>
            <a:off x="6915160" y="4561016"/>
            <a:ext cx="1951141" cy="415498"/>
          </a:xfrm>
          <a:prstGeom prst="rect">
            <a:avLst/>
          </a:prstGeom>
          <a:noFill/>
        </p:spPr>
        <p:txBody>
          <a:bodyPr wrap="square">
            <a:spAutoFit/>
          </a:bodyPr>
          <a:lstStyle/>
          <a:p>
            <a:pPr algn="ctr" defTabSz="685800">
              <a:defRPr/>
            </a:pPr>
            <a:r>
              <a:rPr lang="es-US" sz="1050" b="1" i="1" dirty="0"/>
              <a:t>Creador del canal de YouTube Trabajo Científico</a:t>
            </a:r>
          </a:p>
        </p:txBody>
      </p:sp>
      <p:pic>
        <p:nvPicPr>
          <p:cNvPr id="9" name="Imagen 8">
            <a:extLst>
              <a:ext uri="{FF2B5EF4-FFF2-40B4-BE49-F238E27FC236}">
                <a16:creationId xmlns:a16="http://schemas.microsoft.com/office/drawing/2014/main" id="{B77550AE-2283-AD70-C52C-D02C2ED9731B}"/>
              </a:ext>
            </a:extLst>
          </p:cNvPr>
          <p:cNvPicPr>
            <a:picLocks noChangeAspect="1"/>
          </p:cNvPicPr>
          <p:nvPr/>
        </p:nvPicPr>
        <p:blipFill>
          <a:blip r:embed="rId3"/>
          <a:stretch>
            <a:fillRect/>
          </a:stretch>
        </p:blipFill>
        <p:spPr>
          <a:xfrm>
            <a:off x="730782" y="747612"/>
            <a:ext cx="1626820" cy="1038662"/>
          </a:xfrm>
          <a:prstGeom prst="rect">
            <a:avLst/>
          </a:prstGeom>
        </p:spPr>
      </p:pic>
      <p:sp>
        <p:nvSpPr>
          <p:cNvPr id="13" name="CuadroTexto 12">
            <a:extLst>
              <a:ext uri="{FF2B5EF4-FFF2-40B4-BE49-F238E27FC236}">
                <a16:creationId xmlns:a16="http://schemas.microsoft.com/office/drawing/2014/main" id="{F703C2A8-92FF-C864-1663-65212FB80F04}"/>
              </a:ext>
            </a:extLst>
          </p:cNvPr>
          <p:cNvSpPr txBox="1"/>
          <p:nvPr/>
        </p:nvSpPr>
        <p:spPr>
          <a:xfrm>
            <a:off x="3382554" y="1418352"/>
            <a:ext cx="2271251" cy="461665"/>
          </a:xfrm>
          <a:prstGeom prst="rect">
            <a:avLst/>
          </a:prstGeom>
          <a:noFill/>
        </p:spPr>
        <p:txBody>
          <a:bodyPr wrap="square">
            <a:spAutoFit/>
          </a:bodyPr>
          <a:lstStyle/>
          <a:p>
            <a:pPr defTabSz="685800">
              <a:defRPr/>
            </a:pPr>
            <a:r>
              <a:rPr lang="es-MX" sz="1200" b="1" dirty="0">
                <a:solidFill>
                  <a:srgbClr val="00B050"/>
                </a:solidFill>
                <a:latin typeface="Aharoni" panose="02010803020104030203" pitchFamily="2" charset="-79"/>
                <a:cs typeface="Aharoni" panose="02010803020104030203" pitchFamily="2" charset="-79"/>
              </a:rPr>
              <a:t>AMAZON AGRICULTURAL OPPORTUNITIES</a:t>
            </a:r>
            <a:endParaRPr lang="es-CO" sz="1200" b="1" dirty="0">
              <a:solidFill>
                <a:srgbClr val="00B050"/>
              </a:solidFill>
              <a:latin typeface="Aharoni" panose="02010803020104030203" pitchFamily="2" charset="-79"/>
              <a:cs typeface="Aharoni" panose="02010803020104030203" pitchFamily="2" charset="-79"/>
            </a:endParaRPr>
          </a:p>
        </p:txBody>
      </p:sp>
      <p:sp>
        <p:nvSpPr>
          <p:cNvPr id="14" name="CuadroTexto 13">
            <a:extLst>
              <a:ext uri="{FF2B5EF4-FFF2-40B4-BE49-F238E27FC236}">
                <a16:creationId xmlns:a16="http://schemas.microsoft.com/office/drawing/2014/main" id="{065F2192-1A07-1F97-5969-88106245BF63}"/>
              </a:ext>
            </a:extLst>
          </p:cNvPr>
          <p:cNvSpPr txBox="1"/>
          <p:nvPr/>
        </p:nvSpPr>
        <p:spPr>
          <a:xfrm>
            <a:off x="575849" y="1740171"/>
            <a:ext cx="2352373" cy="461665"/>
          </a:xfrm>
          <a:prstGeom prst="rect">
            <a:avLst/>
          </a:prstGeom>
          <a:noFill/>
        </p:spPr>
        <p:txBody>
          <a:bodyPr wrap="square">
            <a:spAutoFit/>
          </a:bodyPr>
          <a:lstStyle/>
          <a:p>
            <a:pPr defTabSz="685800">
              <a:defRPr/>
            </a:pPr>
            <a:r>
              <a:rPr lang="en-US" sz="1200" b="1" dirty="0">
                <a:solidFill>
                  <a:srgbClr val="4472C4"/>
                </a:solidFill>
                <a:latin typeface="Aharoni" panose="02010803020104030203" pitchFamily="2" charset="-79"/>
                <a:cs typeface="Aharoni" panose="02010803020104030203" pitchFamily="2" charset="-79"/>
              </a:rPr>
              <a:t>Water Resource Management</a:t>
            </a:r>
          </a:p>
          <a:p>
            <a:pPr defTabSz="685800">
              <a:defRPr/>
            </a:pPr>
            <a:r>
              <a:rPr lang="en-US" sz="1200" b="1" dirty="0">
                <a:solidFill>
                  <a:srgbClr val="4472C4"/>
                </a:solidFill>
                <a:latin typeface="Aharoni" panose="02010803020104030203" pitchFamily="2" charset="-79"/>
                <a:cs typeface="Aharoni" panose="02010803020104030203" pitchFamily="2" charset="-79"/>
              </a:rPr>
              <a:t>Options for the </a:t>
            </a:r>
            <a:r>
              <a:rPr lang="en-US" sz="1200" b="1" dirty="0" err="1">
                <a:solidFill>
                  <a:srgbClr val="4472C4"/>
                </a:solidFill>
                <a:latin typeface="Aharoni" panose="02010803020104030203" pitchFamily="2" charset="-79"/>
                <a:cs typeface="Aharoni" panose="02010803020104030203" pitchFamily="2" charset="-79"/>
              </a:rPr>
              <a:t>Orinoquía</a:t>
            </a:r>
            <a:endParaRPr lang="en-US" sz="1200" b="1" dirty="0">
              <a:solidFill>
                <a:srgbClr val="4472C4"/>
              </a:solidFill>
              <a:latin typeface="Aharoni" panose="02010803020104030203" pitchFamily="2" charset="-79"/>
              <a:cs typeface="Aharoni" panose="02010803020104030203" pitchFamily="2" charset="-79"/>
            </a:endParaRPr>
          </a:p>
        </p:txBody>
      </p:sp>
      <p:pic>
        <p:nvPicPr>
          <p:cNvPr id="10" name="Imagen 9">
            <a:extLst>
              <a:ext uri="{FF2B5EF4-FFF2-40B4-BE49-F238E27FC236}">
                <a16:creationId xmlns:a16="http://schemas.microsoft.com/office/drawing/2014/main" id="{0BE49A22-79ED-0810-E63E-6AF573C24C0B}"/>
              </a:ext>
            </a:extLst>
          </p:cNvPr>
          <p:cNvPicPr>
            <a:picLocks noChangeAspect="1"/>
          </p:cNvPicPr>
          <p:nvPr/>
        </p:nvPicPr>
        <p:blipFill>
          <a:blip r:embed="rId4"/>
          <a:stretch>
            <a:fillRect/>
          </a:stretch>
        </p:blipFill>
        <p:spPr>
          <a:xfrm>
            <a:off x="587541" y="2341155"/>
            <a:ext cx="2328988" cy="1386433"/>
          </a:xfrm>
          <a:prstGeom prst="rect">
            <a:avLst/>
          </a:prstGeom>
        </p:spPr>
      </p:pic>
      <p:pic>
        <p:nvPicPr>
          <p:cNvPr id="17" name="Imagen 16">
            <a:extLst>
              <a:ext uri="{FF2B5EF4-FFF2-40B4-BE49-F238E27FC236}">
                <a16:creationId xmlns:a16="http://schemas.microsoft.com/office/drawing/2014/main" id="{62E56DC9-F3D1-5906-7BAE-D508302828FC}"/>
              </a:ext>
            </a:extLst>
          </p:cNvPr>
          <p:cNvPicPr>
            <a:picLocks noChangeAspect="1"/>
          </p:cNvPicPr>
          <p:nvPr/>
        </p:nvPicPr>
        <p:blipFill>
          <a:blip r:embed="rId5"/>
          <a:stretch>
            <a:fillRect/>
          </a:stretch>
        </p:blipFill>
        <p:spPr>
          <a:xfrm>
            <a:off x="2811934" y="836644"/>
            <a:ext cx="3384626" cy="620290"/>
          </a:xfrm>
          <a:prstGeom prst="rect">
            <a:avLst/>
          </a:prstGeom>
        </p:spPr>
      </p:pic>
      <p:pic>
        <p:nvPicPr>
          <p:cNvPr id="19" name="Imagen 18">
            <a:extLst>
              <a:ext uri="{FF2B5EF4-FFF2-40B4-BE49-F238E27FC236}">
                <a16:creationId xmlns:a16="http://schemas.microsoft.com/office/drawing/2014/main" id="{74947062-59AB-817D-E5EE-A3DEE310CE03}"/>
              </a:ext>
            </a:extLst>
          </p:cNvPr>
          <p:cNvPicPr>
            <a:picLocks noChangeAspect="1"/>
          </p:cNvPicPr>
          <p:nvPr/>
        </p:nvPicPr>
        <p:blipFill>
          <a:blip r:embed="rId6"/>
          <a:stretch>
            <a:fillRect/>
          </a:stretch>
        </p:blipFill>
        <p:spPr>
          <a:xfrm>
            <a:off x="3590866" y="2576930"/>
            <a:ext cx="2498711" cy="832904"/>
          </a:xfrm>
          <a:prstGeom prst="rect">
            <a:avLst/>
          </a:prstGeom>
        </p:spPr>
      </p:pic>
      <p:pic>
        <p:nvPicPr>
          <p:cNvPr id="23" name="Imagen 22">
            <a:extLst>
              <a:ext uri="{FF2B5EF4-FFF2-40B4-BE49-F238E27FC236}">
                <a16:creationId xmlns:a16="http://schemas.microsoft.com/office/drawing/2014/main" id="{B66AD90E-B9A8-DED3-E7C3-F99F81C57548}"/>
              </a:ext>
            </a:extLst>
          </p:cNvPr>
          <p:cNvPicPr>
            <a:picLocks noChangeAspect="1"/>
          </p:cNvPicPr>
          <p:nvPr/>
        </p:nvPicPr>
        <p:blipFill>
          <a:blip r:embed="rId7"/>
          <a:stretch>
            <a:fillRect/>
          </a:stretch>
        </p:blipFill>
        <p:spPr>
          <a:xfrm>
            <a:off x="618925" y="4097131"/>
            <a:ext cx="2592548" cy="751838"/>
          </a:xfrm>
          <a:prstGeom prst="rect">
            <a:avLst/>
          </a:prstGeom>
        </p:spPr>
      </p:pic>
      <p:pic>
        <p:nvPicPr>
          <p:cNvPr id="25" name="Imagen 24">
            <a:extLst>
              <a:ext uri="{FF2B5EF4-FFF2-40B4-BE49-F238E27FC236}">
                <a16:creationId xmlns:a16="http://schemas.microsoft.com/office/drawing/2014/main" id="{A219EBFA-1E33-39BF-CD87-EEB7C5FFA75E}"/>
              </a:ext>
            </a:extLst>
          </p:cNvPr>
          <p:cNvPicPr>
            <a:picLocks noChangeAspect="1"/>
          </p:cNvPicPr>
          <p:nvPr/>
        </p:nvPicPr>
        <p:blipFill>
          <a:blip r:embed="rId8"/>
          <a:stretch>
            <a:fillRect/>
          </a:stretch>
        </p:blipFill>
        <p:spPr>
          <a:xfrm>
            <a:off x="3545135" y="4116649"/>
            <a:ext cx="2292951" cy="712802"/>
          </a:xfrm>
          <a:prstGeom prst="rect">
            <a:avLst/>
          </a:prstGeom>
        </p:spPr>
      </p:pic>
      <p:sp>
        <p:nvSpPr>
          <p:cNvPr id="26" name="CuadroTexto 25">
            <a:extLst>
              <a:ext uri="{FF2B5EF4-FFF2-40B4-BE49-F238E27FC236}">
                <a16:creationId xmlns:a16="http://schemas.microsoft.com/office/drawing/2014/main" id="{623D21AD-03AD-FE1D-C930-5376DF2F9431}"/>
              </a:ext>
            </a:extLst>
          </p:cNvPr>
          <p:cNvSpPr txBox="1"/>
          <p:nvPr/>
        </p:nvSpPr>
        <p:spPr>
          <a:xfrm>
            <a:off x="4062985" y="4794909"/>
            <a:ext cx="2185099" cy="253916"/>
          </a:xfrm>
          <a:prstGeom prst="rect">
            <a:avLst/>
          </a:prstGeom>
          <a:noFill/>
        </p:spPr>
        <p:txBody>
          <a:bodyPr wrap="square">
            <a:spAutoFit/>
          </a:bodyPr>
          <a:lstStyle/>
          <a:p>
            <a:pPr defTabSz="685800">
              <a:defRPr/>
            </a:pPr>
            <a:r>
              <a:rPr lang="es-US" sz="1050" b="1" i="1" dirty="0"/>
              <a:t>Docente investigador</a:t>
            </a:r>
          </a:p>
        </p:txBody>
      </p:sp>
      <p:sp>
        <p:nvSpPr>
          <p:cNvPr id="27" name="CuadroTexto 26">
            <a:extLst>
              <a:ext uri="{FF2B5EF4-FFF2-40B4-BE49-F238E27FC236}">
                <a16:creationId xmlns:a16="http://schemas.microsoft.com/office/drawing/2014/main" id="{1ECDFAAE-8E64-E745-3C03-DB6B2E82E79D}"/>
              </a:ext>
            </a:extLst>
          </p:cNvPr>
          <p:cNvSpPr txBox="1"/>
          <p:nvPr/>
        </p:nvSpPr>
        <p:spPr>
          <a:xfrm>
            <a:off x="1377293" y="3548087"/>
            <a:ext cx="1180742" cy="253916"/>
          </a:xfrm>
          <a:prstGeom prst="rect">
            <a:avLst/>
          </a:prstGeom>
          <a:noFill/>
        </p:spPr>
        <p:txBody>
          <a:bodyPr wrap="square">
            <a:spAutoFit/>
          </a:bodyPr>
          <a:lstStyle/>
          <a:p>
            <a:pPr defTabSz="685800">
              <a:defRPr/>
            </a:pPr>
            <a:r>
              <a:rPr lang="es-US" sz="1050" b="1" i="1" dirty="0"/>
              <a:t>Investigador</a:t>
            </a:r>
          </a:p>
        </p:txBody>
      </p:sp>
      <p:sp>
        <p:nvSpPr>
          <p:cNvPr id="28" name="CuadroTexto 27">
            <a:extLst>
              <a:ext uri="{FF2B5EF4-FFF2-40B4-BE49-F238E27FC236}">
                <a16:creationId xmlns:a16="http://schemas.microsoft.com/office/drawing/2014/main" id="{9DF53C10-2342-0066-6056-E2D59C2DB78E}"/>
              </a:ext>
            </a:extLst>
          </p:cNvPr>
          <p:cNvSpPr txBox="1"/>
          <p:nvPr/>
        </p:nvSpPr>
        <p:spPr>
          <a:xfrm>
            <a:off x="4303955" y="3422162"/>
            <a:ext cx="1180742" cy="253916"/>
          </a:xfrm>
          <a:prstGeom prst="rect">
            <a:avLst/>
          </a:prstGeom>
          <a:noFill/>
        </p:spPr>
        <p:txBody>
          <a:bodyPr wrap="square">
            <a:spAutoFit/>
          </a:bodyPr>
          <a:lstStyle/>
          <a:p>
            <a:pPr defTabSz="685800">
              <a:defRPr/>
            </a:pPr>
            <a:r>
              <a:rPr lang="es-US" sz="1050" b="1" i="1" dirty="0"/>
              <a:t>Investigador</a:t>
            </a:r>
          </a:p>
        </p:txBody>
      </p:sp>
      <p:pic>
        <p:nvPicPr>
          <p:cNvPr id="30" name="Imagen 29">
            <a:extLst>
              <a:ext uri="{FF2B5EF4-FFF2-40B4-BE49-F238E27FC236}">
                <a16:creationId xmlns:a16="http://schemas.microsoft.com/office/drawing/2014/main" id="{B497CC28-E6E3-F4A0-29D8-F0078362DEB5}"/>
              </a:ext>
            </a:extLst>
          </p:cNvPr>
          <p:cNvPicPr>
            <a:picLocks noChangeAspect="1"/>
          </p:cNvPicPr>
          <p:nvPr/>
        </p:nvPicPr>
        <p:blipFill>
          <a:blip r:embed="rId9"/>
          <a:stretch>
            <a:fillRect/>
          </a:stretch>
        </p:blipFill>
        <p:spPr>
          <a:xfrm>
            <a:off x="6743322" y="2455537"/>
            <a:ext cx="2185100" cy="2185100"/>
          </a:xfrm>
          <a:prstGeom prst="rect">
            <a:avLst/>
          </a:prstGeom>
        </p:spPr>
      </p:pic>
      <p:pic>
        <p:nvPicPr>
          <p:cNvPr id="5" name="Imagen 4">
            <a:extLst>
              <a:ext uri="{FF2B5EF4-FFF2-40B4-BE49-F238E27FC236}">
                <a16:creationId xmlns:a16="http://schemas.microsoft.com/office/drawing/2014/main" id="{4853F80C-6E4C-701A-6755-1588A51EF1DF}"/>
              </a:ext>
            </a:extLst>
          </p:cNvPr>
          <p:cNvPicPr>
            <a:picLocks noChangeAspect="1"/>
          </p:cNvPicPr>
          <p:nvPr/>
        </p:nvPicPr>
        <p:blipFill>
          <a:blip r:embed="rId10"/>
          <a:stretch>
            <a:fillRect/>
          </a:stretch>
        </p:blipFill>
        <p:spPr>
          <a:xfrm>
            <a:off x="6452419" y="1047816"/>
            <a:ext cx="2548316" cy="818235"/>
          </a:xfrm>
          <a:prstGeom prst="rect">
            <a:avLst/>
          </a:prstGeom>
        </p:spPr>
      </p:pic>
      <p:sp>
        <p:nvSpPr>
          <p:cNvPr id="12" name="CuadroTexto 11">
            <a:extLst>
              <a:ext uri="{FF2B5EF4-FFF2-40B4-BE49-F238E27FC236}">
                <a16:creationId xmlns:a16="http://schemas.microsoft.com/office/drawing/2014/main" id="{BC22DF99-C619-A08B-497F-F3B8B4544225}"/>
              </a:ext>
            </a:extLst>
          </p:cNvPr>
          <p:cNvSpPr txBox="1"/>
          <p:nvPr/>
        </p:nvSpPr>
        <p:spPr>
          <a:xfrm>
            <a:off x="6171833" y="1910784"/>
            <a:ext cx="3009038" cy="600164"/>
          </a:xfrm>
          <a:prstGeom prst="rect">
            <a:avLst/>
          </a:prstGeom>
          <a:noFill/>
        </p:spPr>
        <p:txBody>
          <a:bodyPr wrap="square">
            <a:spAutoFit/>
          </a:bodyPr>
          <a:lstStyle/>
          <a:p>
            <a:pPr algn="ctr" defTabSz="685800">
              <a:defRPr/>
            </a:pPr>
            <a:r>
              <a:rPr lang="es-ES" sz="825" b="1" i="1" dirty="0"/>
              <a:t>Consultor en modelación para la Reducción de emisiones por deforestación y degradación de bosques (REDD+)</a:t>
            </a:r>
          </a:p>
          <a:p>
            <a:pPr algn="ctr" defTabSz="685800">
              <a:defRPr/>
            </a:pPr>
            <a:endParaRPr lang="es-US" sz="825" b="1" i="1" dirty="0"/>
          </a:p>
        </p:txBody>
      </p:sp>
    </p:spTree>
    <p:extLst>
      <p:ext uri="{BB962C8B-B14F-4D97-AF65-F5344CB8AC3E}">
        <p14:creationId xmlns:p14="http://schemas.microsoft.com/office/powerpoint/2010/main" val="3542588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3"/>
          <p:cNvSpPr txBox="1"/>
          <p:nvPr/>
        </p:nvSpPr>
        <p:spPr>
          <a:xfrm>
            <a:off x="676924" y="2360759"/>
            <a:ext cx="3023207" cy="2447816"/>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68569" tIns="34275" rIns="68569" bIns="34275" anchor="t" anchorCtr="0">
            <a:normAutofit fontScale="92500" lnSpcReduction="20000"/>
          </a:bodyPr>
          <a:lstStyle/>
          <a:p>
            <a:pPr marL="257175" indent="-178308" defTabSz="685800">
              <a:lnSpc>
                <a:spcPct val="90000"/>
              </a:lnSpc>
              <a:buClr>
                <a:srgbClr val="4472C4"/>
              </a:buClr>
              <a:buSzPts val="1656"/>
              <a:defRPr/>
            </a:pPr>
            <a:endParaRPr sz="1350" b="1" dirty="0">
              <a:latin typeface="Aharoni"/>
              <a:ea typeface="Aharoni"/>
              <a:cs typeface="Aharoni"/>
              <a:sym typeface="Aharoni"/>
            </a:endParaRPr>
          </a:p>
          <a:p>
            <a:pPr marL="257175" indent="-257175" defTabSz="685800">
              <a:lnSpc>
                <a:spcPct val="90000"/>
              </a:lnSpc>
              <a:spcBef>
                <a:spcPts val="720"/>
              </a:spcBef>
              <a:buClr>
                <a:srgbClr val="4472C4"/>
              </a:buClr>
              <a:buSzPts val="1656"/>
              <a:buFont typeface="Noto Sans Symbols"/>
              <a:buChar char="⮚"/>
              <a:defRPr/>
            </a:pPr>
            <a:r>
              <a:rPr lang="es-MX" sz="1350" b="1" dirty="0">
                <a:latin typeface="Aharoni"/>
                <a:ea typeface="Aharoni"/>
                <a:cs typeface="Aharoni"/>
                <a:sym typeface="Aharoni"/>
              </a:rPr>
              <a:t>Beca doctoral por investigación</a:t>
            </a:r>
          </a:p>
          <a:p>
            <a:pPr defTabSz="685800">
              <a:lnSpc>
                <a:spcPct val="90000"/>
              </a:lnSpc>
              <a:spcBef>
                <a:spcPts val="720"/>
              </a:spcBef>
              <a:buClr>
                <a:srgbClr val="4472C4"/>
              </a:buClr>
              <a:buSzPts val="1656"/>
              <a:defRPr/>
            </a:pPr>
            <a:endParaRPr lang="es-MX" sz="1350" b="1" dirty="0">
              <a:latin typeface="Aharoni"/>
              <a:ea typeface="Aharoni"/>
              <a:cs typeface="Aharoni"/>
              <a:sym typeface="Aharoni"/>
            </a:endParaRPr>
          </a:p>
          <a:p>
            <a:pPr marL="257175" indent="-257175" defTabSz="685800">
              <a:lnSpc>
                <a:spcPct val="90000"/>
              </a:lnSpc>
              <a:spcBef>
                <a:spcPts val="720"/>
              </a:spcBef>
              <a:buClr>
                <a:srgbClr val="4472C4"/>
              </a:buClr>
              <a:buSzPts val="1656"/>
              <a:buFont typeface="Noto Sans Symbols"/>
              <a:buChar char="⮚"/>
              <a:defRPr/>
            </a:pPr>
            <a:r>
              <a:rPr lang="es-MX" sz="1350" b="1" dirty="0">
                <a:latin typeface="Aharoni"/>
                <a:ea typeface="Aharoni"/>
                <a:cs typeface="Aharoni"/>
                <a:sym typeface="Aharoni"/>
              </a:rPr>
              <a:t>Beca-Joven Investigador (Gobernación del Meta)</a:t>
            </a:r>
            <a:endParaRPr sz="1050" dirty="0"/>
          </a:p>
          <a:p>
            <a:pPr marL="257175" indent="-178308" defTabSz="685800">
              <a:lnSpc>
                <a:spcPct val="90000"/>
              </a:lnSpc>
              <a:spcBef>
                <a:spcPts val="720"/>
              </a:spcBef>
              <a:buClr>
                <a:srgbClr val="4472C4"/>
              </a:buClr>
              <a:buSzPts val="1656"/>
              <a:defRPr/>
            </a:pPr>
            <a:endParaRPr sz="1350" b="1" dirty="0">
              <a:latin typeface="Aharoni"/>
              <a:ea typeface="Aharoni"/>
              <a:cs typeface="Aharoni"/>
              <a:sym typeface="Aharoni"/>
            </a:endParaRPr>
          </a:p>
          <a:p>
            <a:pPr marL="257175" indent="-257175" defTabSz="685800">
              <a:lnSpc>
                <a:spcPct val="90000"/>
              </a:lnSpc>
              <a:spcBef>
                <a:spcPts val="720"/>
              </a:spcBef>
              <a:buClr>
                <a:srgbClr val="4472C4"/>
              </a:buClr>
              <a:buSzPts val="1656"/>
              <a:buFont typeface="Noto Sans Symbols"/>
              <a:buChar char="⮚"/>
              <a:defRPr/>
            </a:pPr>
            <a:r>
              <a:rPr lang="es-MX" sz="1350" b="1" dirty="0">
                <a:latin typeface="Aharoni"/>
                <a:ea typeface="Aharoni"/>
                <a:cs typeface="Aharoni"/>
                <a:sym typeface="Aharoni"/>
              </a:rPr>
              <a:t>Mejor Joven Investigador (2016)</a:t>
            </a:r>
            <a:endParaRPr sz="1050" dirty="0"/>
          </a:p>
          <a:p>
            <a:pPr marL="257175" indent="-178308" defTabSz="685800">
              <a:lnSpc>
                <a:spcPct val="90000"/>
              </a:lnSpc>
              <a:spcBef>
                <a:spcPts val="720"/>
              </a:spcBef>
              <a:buClr>
                <a:srgbClr val="4472C4"/>
              </a:buClr>
              <a:buSzPts val="1656"/>
              <a:defRPr/>
            </a:pPr>
            <a:endParaRPr sz="1350" b="1" dirty="0">
              <a:latin typeface="Aharoni"/>
              <a:ea typeface="Aharoni"/>
              <a:cs typeface="Aharoni"/>
              <a:sym typeface="Aharoni"/>
            </a:endParaRPr>
          </a:p>
          <a:p>
            <a:pPr marL="257175" indent="-257175" defTabSz="685800">
              <a:lnSpc>
                <a:spcPct val="90000"/>
              </a:lnSpc>
              <a:spcBef>
                <a:spcPts val="720"/>
              </a:spcBef>
              <a:buClr>
                <a:srgbClr val="4472C4"/>
              </a:buClr>
              <a:buSzPts val="1656"/>
              <a:buFont typeface="Noto Sans Symbols"/>
              <a:buChar char="⮚"/>
              <a:defRPr/>
            </a:pPr>
            <a:r>
              <a:rPr lang="es-MX" sz="1350" b="1" dirty="0">
                <a:latin typeface="Aharoni"/>
                <a:ea typeface="Aharoni"/>
                <a:cs typeface="Aharoni"/>
                <a:sym typeface="Aharoni"/>
              </a:rPr>
              <a:t>Delegado del </a:t>
            </a:r>
            <a:r>
              <a:rPr lang="es-MX" sz="1350" b="1" dirty="0" err="1">
                <a:latin typeface="Aharoni"/>
                <a:ea typeface="Aharoni"/>
                <a:cs typeface="Aharoni"/>
                <a:sym typeface="Aharoni"/>
              </a:rPr>
              <a:t>pais</a:t>
            </a:r>
            <a:r>
              <a:rPr lang="es-MX" sz="1350" b="1" dirty="0">
                <a:latin typeface="Aharoni"/>
                <a:ea typeface="Aharoni"/>
                <a:cs typeface="Aharoni"/>
                <a:sym typeface="Aharoni"/>
              </a:rPr>
              <a:t> 3 ocasiones</a:t>
            </a:r>
            <a:endParaRPr sz="1350" b="1" dirty="0">
              <a:latin typeface="Aharoni"/>
              <a:ea typeface="Aharoni"/>
              <a:cs typeface="Aharoni"/>
              <a:sym typeface="Aharoni"/>
            </a:endParaRPr>
          </a:p>
          <a:p>
            <a:pPr marL="257175" indent="-178308" defTabSz="685800">
              <a:lnSpc>
                <a:spcPct val="90000"/>
              </a:lnSpc>
              <a:spcBef>
                <a:spcPts val="720"/>
              </a:spcBef>
              <a:buClr>
                <a:srgbClr val="4472C4"/>
              </a:buClr>
              <a:buSzPts val="1656"/>
              <a:defRPr/>
            </a:pPr>
            <a:endParaRPr sz="1350" b="1" dirty="0">
              <a:latin typeface="Aharoni"/>
              <a:ea typeface="Aharoni"/>
              <a:cs typeface="Aharoni"/>
              <a:sym typeface="Aharoni"/>
            </a:endParaRPr>
          </a:p>
          <a:p>
            <a:pPr marL="257175" indent="-257175" defTabSz="685800">
              <a:lnSpc>
                <a:spcPct val="90000"/>
              </a:lnSpc>
              <a:spcBef>
                <a:spcPts val="720"/>
              </a:spcBef>
              <a:buClr>
                <a:srgbClr val="4472C4"/>
              </a:buClr>
              <a:buSzPts val="1656"/>
              <a:buFont typeface="Noto Sans Symbols"/>
              <a:buChar char="⮚"/>
              <a:defRPr/>
            </a:pPr>
            <a:r>
              <a:rPr lang="es-MX" sz="1350" b="1" dirty="0">
                <a:latin typeface="Aharoni"/>
                <a:ea typeface="Aharoni"/>
                <a:cs typeface="Aharoni"/>
                <a:sym typeface="Aharoni"/>
              </a:rPr>
              <a:t>Investigador Junior (2022)</a:t>
            </a:r>
            <a:endParaRPr sz="1050" dirty="0"/>
          </a:p>
        </p:txBody>
      </p:sp>
      <p:sp>
        <p:nvSpPr>
          <p:cNvPr id="100" name="Google Shape;100;p3"/>
          <p:cNvSpPr txBox="1"/>
          <p:nvPr/>
        </p:nvSpPr>
        <p:spPr>
          <a:xfrm>
            <a:off x="676924" y="1646545"/>
            <a:ext cx="3023207" cy="650315"/>
          </a:xfrm>
          <a:prstGeom prst="rect">
            <a:avLst/>
          </a:prstGeom>
          <a:solidFill>
            <a:srgbClr val="B3C6E7"/>
          </a:solidFill>
          <a:ln>
            <a:noFill/>
          </a:ln>
        </p:spPr>
        <p:txBody>
          <a:bodyPr spcFirstLastPara="1" wrap="square" lIns="68569" tIns="34275" rIns="68569" bIns="34275" anchor="ctr" anchorCtr="0">
            <a:normAutofit fontScale="85000" lnSpcReduction="10000"/>
          </a:bodyPr>
          <a:lstStyle/>
          <a:p>
            <a:pPr algn="ctr" defTabSz="685800">
              <a:lnSpc>
                <a:spcPct val="90000"/>
              </a:lnSpc>
              <a:buSzPct val="100000"/>
              <a:defRPr/>
            </a:pPr>
            <a:r>
              <a:rPr lang="es-MX" sz="3300" b="1">
                <a:latin typeface="Aharoni"/>
                <a:ea typeface="Aharoni"/>
                <a:cs typeface="Aharoni"/>
                <a:sym typeface="Aharoni"/>
              </a:rPr>
              <a:t>Reconocimiento</a:t>
            </a:r>
            <a:endParaRPr sz="1050"/>
          </a:p>
        </p:txBody>
      </p:sp>
      <p:sp>
        <p:nvSpPr>
          <p:cNvPr id="101" name="Google Shape;101;p3"/>
          <p:cNvSpPr txBox="1"/>
          <p:nvPr/>
        </p:nvSpPr>
        <p:spPr>
          <a:xfrm>
            <a:off x="4719484" y="1271073"/>
            <a:ext cx="3440524" cy="650315"/>
          </a:xfrm>
          <a:prstGeom prst="rect">
            <a:avLst/>
          </a:prstGeom>
          <a:solidFill>
            <a:srgbClr val="FEE599"/>
          </a:solidFill>
          <a:ln>
            <a:noFill/>
          </a:ln>
        </p:spPr>
        <p:txBody>
          <a:bodyPr spcFirstLastPara="1" wrap="square" lIns="68569" tIns="34275" rIns="68569" bIns="34275" anchor="ctr" anchorCtr="0">
            <a:normAutofit fontScale="85000" lnSpcReduction="10000"/>
          </a:bodyPr>
          <a:lstStyle/>
          <a:p>
            <a:pPr algn="ctr" defTabSz="685800">
              <a:lnSpc>
                <a:spcPct val="90000"/>
              </a:lnSpc>
              <a:buSzPts val="4400"/>
              <a:defRPr/>
            </a:pPr>
            <a:r>
              <a:rPr lang="es-MX" sz="3300" b="1" dirty="0">
                <a:latin typeface="Aharoni"/>
                <a:ea typeface="Aharoni"/>
                <a:cs typeface="Aharoni"/>
                <a:sym typeface="Aharoni"/>
              </a:rPr>
              <a:t>Artículos Científicos</a:t>
            </a:r>
            <a:endParaRPr sz="1050" dirty="0"/>
          </a:p>
        </p:txBody>
      </p:sp>
      <p:sp>
        <p:nvSpPr>
          <p:cNvPr id="102" name="Google Shape;102;p3"/>
          <p:cNvSpPr txBox="1"/>
          <p:nvPr/>
        </p:nvSpPr>
        <p:spPr>
          <a:xfrm>
            <a:off x="4106825" y="1971703"/>
            <a:ext cx="4880345" cy="2836872"/>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68569" tIns="34275" rIns="68569" bIns="34275" anchor="t" anchorCtr="0">
            <a:normAutofit/>
          </a:bodyPr>
          <a:lstStyle/>
          <a:p>
            <a:pPr defTabSz="685800">
              <a:lnSpc>
                <a:spcPct val="200000"/>
              </a:lnSpc>
              <a:buClr>
                <a:srgbClr val="4472C4"/>
              </a:buClr>
              <a:buSzPts val="828"/>
              <a:defRPr/>
            </a:pPr>
            <a:r>
              <a:rPr lang="es-ES" sz="675" b="1" dirty="0"/>
              <a:t>1. Análisis e identificación de variables estratégicas de sostenibilidad, como herramientas de calidad del turismo en Villavicencio.</a:t>
            </a:r>
            <a:endParaRPr lang="es-MX" sz="675" b="1" i="1" dirty="0">
              <a:ea typeface="Calibri"/>
              <a:cs typeface="Calibri"/>
              <a:sym typeface="Calibri"/>
            </a:endParaRPr>
          </a:p>
          <a:p>
            <a:pPr defTabSz="685800">
              <a:lnSpc>
                <a:spcPct val="200000"/>
              </a:lnSpc>
              <a:buClr>
                <a:srgbClr val="4472C4"/>
              </a:buClr>
              <a:buSzPts val="828"/>
              <a:defRPr/>
            </a:pPr>
            <a:r>
              <a:rPr lang="es-MX" sz="675" b="1" i="1" dirty="0">
                <a:ea typeface="Calibri"/>
                <a:cs typeface="Calibri"/>
                <a:sym typeface="Calibri"/>
              </a:rPr>
              <a:t>2. </a:t>
            </a:r>
            <a:r>
              <a:rPr lang="es-MX" sz="675" b="1" i="1" dirty="0" err="1">
                <a:ea typeface="Calibri"/>
                <a:cs typeface="Calibri"/>
                <a:sym typeface="Calibri"/>
              </a:rPr>
              <a:t>Supply-Demand</a:t>
            </a:r>
            <a:r>
              <a:rPr lang="es-MX" sz="675" b="1" i="1" dirty="0">
                <a:ea typeface="Calibri"/>
                <a:cs typeface="Calibri"/>
                <a:sym typeface="Calibri"/>
              </a:rPr>
              <a:t> </a:t>
            </a:r>
            <a:r>
              <a:rPr lang="es-MX" sz="675" b="1" i="1" dirty="0" err="1">
                <a:ea typeface="Calibri"/>
                <a:cs typeface="Calibri"/>
                <a:sym typeface="Calibri"/>
              </a:rPr>
              <a:t>of</a:t>
            </a:r>
            <a:r>
              <a:rPr lang="es-MX" sz="675" b="1" i="1" dirty="0">
                <a:ea typeface="Calibri"/>
                <a:cs typeface="Calibri"/>
                <a:sym typeface="Calibri"/>
              </a:rPr>
              <a:t> </a:t>
            </a:r>
            <a:r>
              <a:rPr lang="es-MX" sz="675" b="1" i="1" dirty="0" err="1">
                <a:ea typeface="Calibri"/>
                <a:cs typeface="Calibri"/>
                <a:sym typeface="Calibri"/>
              </a:rPr>
              <a:t>the</a:t>
            </a:r>
            <a:r>
              <a:rPr lang="es-MX" sz="675" b="1" i="1" dirty="0">
                <a:ea typeface="Calibri"/>
                <a:cs typeface="Calibri"/>
                <a:sym typeface="Calibri"/>
              </a:rPr>
              <a:t> </a:t>
            </a:r>
            <a:r>
              <a:rPr lang="es-MX" sz="675" b="1" i="1" dirty="0" err="1">
                <a:ea typeface="Calibri"/>
                <a:cs typeface="Calibri"/>
                <a:sym typeface="Calibri"/>
              </a:rPr>
              <a:t>Water</a:t>
            </a:r>
            <a:r>
              <a:rPr lang="es-MX" sz="675" b="1" i="1" dirty="0">
                <a:ea typeface="Calibri"/>
                <a:cs typeface="Calibri"/>
                <a:sym typeface="Calibri"/>
              </a:rPr>
              <a:t> </a:t>
            </a:r>
            <a:r>
              <a:rPr lang="es-MX" sz="675" b="1" i="1" dirty="0" err="1">
                <a:ea typeface="Calibri"/>
                <a:cs typeface="Calibri"/>
                <a:sym typeface="Calibri"/>
              </a:rPr>
              <a:t>Resource</a:t>
            </a:r>
            <a:r>
              <a:rPr lang="es-MX" sz="675" b="1" i="1" dirty="0">
                <a:ea typeface="Calibri"/>
                <a:cs typeface="Calibri"/>
                <a:sym typeface="Calibri"/>
              </a:rPr>
              <a:t> </a:t>
            </a:r>
            <a:r>
              <a:rPr lang="es-MX" sz="675" b="1" i="1" dirty="0" err="1">
                <a:ea typeface="Calibri"/>
                <a:cs typeface="Calibri"/>
                <a:sym typeface="Calibri"/>
              </a:rPr>
              <a:t>of</a:t>
            </a:r>
            <a:r>
              <a:rPr lang="es-MX" sz="675" b="1" i="1" dirty="0">
                <a:ea typeface="Calibri"/>
                <a:cs typeface="Calibri"/>
                <a:sym typeface="Calibri"/>
              </a:rPr>
              <a:t> a </a:t>
            </a:r>
            <a:r>
              <a:rPr lang="es-MX" sz="675" b="1" i="1" dirty="0" err="1">
                <a:ea typeface="Calibri"/>
                <a:cs typeface="Calibri"/>
                <a:sym typeface="Calibri"/>
              </a:rPr>
              <a:t>Basin</a:t>
            </a:r>
            <a:r>
              <a:rPr lang="es-MX" sz="675" b="1" i="1" dirty="0">
                <a:ea typeface="Calibri"/>
                <a:cs typeface="Calibri"/>
                <a:sym typeface="Calibri"/>
              </a:rPr>
              <a:t> </a:t>
            </a:r>
            <a:r>
              <a:rPr lang="es-MX" sz="675" b="1" i="1" dirty="0" err="1">
                <a:ea typeface="Calibri"/>
                <a:cs typeface="Calibri"/>
                <a:sym typeface="Calibri"/>
              </a:rPr>
              <a:t>with</a:t>
            </a:r>
            <a:r>
              <a:rPr lang="es-MX" sz="675" b="1" i="1" dirty="0">
                <a:ea typeface="Calibri"/>
                <a:cs typeface="Calibri"/>
                <a:sym typeface="Calibri"/>
              </a:rPr>
              <a:t> High </a:t>
            </a:r>
            <a:r>
              <a:rPr lang="es-MX" sz="675" b="1" i="1" dirty="0" err="1">
                <a:ea typeface="Calibri"/>
                <a:cs typeface="Calibri"/>
                <a:sym typeface="Calibri"/>
              </a:rPr>
              <a:t>Anthropic</a:t>
            </a:r>
            <a:r>
              <a:rPr lang="es-MX" sz="675" b="1" i="1" dirty="0">
                <a:ea typeface="Calibri"/>
                <a:cs typeface="Calibri"/>
                <a:sym typeface="Calibri"/>
              </a:rPr>
              <a:t> </a:t>
            </a:r>
            <a:r>
              <a:rPr lang="es-MX" sz="675" b="1" i="1" dirty="0" err="1">
                <a:ea typeface="Calibri"/>
                <a:cs typeface="Calibri"/>
                <a:sym typeface="Calibri"/>
              </a:rPr>
              <a:t>Pressure</a:t>
            </a:r>
            <a:r>
              <a:rPr lang="es-MX" sz="675" b="1" i="1" dirty="0">
                <a:ea typeface="Calibri"/>
                <a:cs typeface="Calibri"/>
                <a:sym typeface="Calibri"/>
              </a:rPr>
              <a:t>; Case </a:t>
            </a:r>
            <a:r>
              <a:rPr lang="es-MX" sz="675" b="1" i="1" dirty="0" err="1">
                <a:ea typeface="Calibri"/>
                <a:cs typeface="Calibri"/>
                <a:sym typeface="Calibri"/>
              </a:rPr>
              <a:t>Study</a:t>
            </a:r>
            <a:r>
              <a:rPr lang="es-MX" sz="675" b="1" i="1" dirty="0">
                <a:ea typeface="Calibri"/>
                <a:cs typeface="Calibri"/>
                <a:sym typeface="Calibri"/>
              </a:rPr>
              <a:t> </a:t>
            </a:r>
            <a:r>
              <a:rPr lang="es-MX" sz="675" b="1" i="1" dirty="0" err="1">
                <a:ea typeface="Calibri"/>
                <a:cs typeface="Calibri"/>
                <a:sym typeface="Calibri"/>
              </a:rPr>
              <a:t>Quenane-Quenanito</a:t>
            </a:r>
            <a:r>
              <a:rPr lang="es-MX" sz="675" b="1" i="1" dirty="0">
                <a:ea typeface="Calibri"/>
                <a:cs typeface="Calibri"/>
                <a:sym typeface="Calibri"/>
              </a:rPr>
              <a:t> </a:t>
            </a:r>
            <a:r>
              <a:rPr lang="es-MX" sz="675" b="1" i="1" dirty="0" err="1">
                <a:ea typeface="Calibri"/>
                <a:cs typeface="Calibri"/>
                <a:sym typeface="Calibri"/>
              </a:rPr>
              <a:t>Basin</a:t>
            </a:r>
            <a:r>
              <a:rPr lang="es-MX" sz="675" b="1" i="1" dirty="0">
                <a:ea typeface="Calibri"/>
                <a:cs typeface="Calibri"/>
                <a:sym typeface="Calibri"/>
              </a:rPr>
              <a:t> in Colombia</a:t>
            </a:r>
            <a:endParaRPr sz="675" b="1" i="1" dirty="0">
              <a:ea typeface="Calibri"/>
              <a:cs typeface="Calibri"/>
              <a:sym typeface="Calibri"/>
            </a:endParaRPr>
          </a:p>
          <a:p>
            <a:pPr defTabSz="685800">
              <a:lnSpc>
                <a:spcPct val="200000"/>
              </a:lnSpc>
              <a:spcBef>
                <a:spcPts val="585"/>
              </a:spcBef>
              <a:buClr>
                <a:srgbClr val="4472C4"/>
              </a:buClr>
              <a:buSzPts val="828"/>
              <a:defRPr/>
            </a:pPr>
            <a:r>
              <a:rPr lang="es-MX" sz="675" b="1" i="1" dirty="0">
                <a:ea typeface="Calibri"/>
                <a:cs typeface="Calibri"/>
                <a:sym typeface="Calibri"/>
              </a:rPr>
              <a:t>3. </a:t>
            </a:r>
            <a:r>
              <a:rPr lang="es-MX" sz="675" b="1" i="1" dirty="0" err="1">
                <a:ea typeface="Calibri"/>
                <a:cs typeface="Calibri"/>
                <a:sym typeface="Calibri"/>
              </a:rPr>
              <a:t>Water</a:t>
            </a:r>
            <a:r>
              <a:rPr lang="es-MX" sz="675" b="1" i="1" dirty="0">
                <a:ea typeface="Calibri"/>
                <a:cs typeface="Calibri"/>
                <a:sym typeface="Calibri"/>
              </a:rPr>
              <a:t> </a:t>
            </a:r>
            <a:r>
              <a:rPr lang="es-MX" sz="675" b="1" i="1" dirty="0" err="1">
                <a:ea typeface="Calibri"/>
                <a:cs typeface="Calibri"/>
                <a:sym typeface="Calibri"/>
              </a:rPr>
              <a:t>Footprint</a:t>
            </a:r>
            <a:r>
              <a:rPr lang="es-MX" sz="675" b="1" i="1" dirty="0">
                <a:ea typeface="Calibri"/>
                <a:cs typeface="Calibri"/>
                <a:sym typeface="Calibri"/>
              </a:rPr>
              <a:t>: </a:t>
            </a:r>
            <a:r>
              <a:rPr lang="es-MX" sz="675" b="1" i="1" dirty="0" err="1">
                <a:ea typeface="Calibri"/>
                <a:cs typeface="Calibri"/>
                <a:sym typeface="Calibri"/>
              </a:rPr>
              <a:t>an</a:t>
            </a:r>
            <a:r>
              <a:rPr lang="es-MX" sz="675" b="1" i="1" dirty="0">
                <a:ea typeface="Calibri"/>
                <a:cs typeface="Calibri"/>
                <a:sym typeface="Calibri"/>
              </a:rPr>
              <a:t> </a:t>
            </a:r>
            <a:r>
              <a:rPr lang="es-MX" sz="675" b="1" i="1" dirty="0" err="1">
                <a:ea typeface="Calibri"/>
                <a:cs typeface="Calibri"/>
                <a:sym typeface="Calibri"/>
              </a:rPr>
              <a:t>Effective</a:t>
            </a:r>
            <a:r>
              <a:rPr lang="es-MX" sz="675" b="1" i="1" dirty="0">
                <a:ea typeface="Calibri"/>
                <a:cs typeface="Calibri"/>
                <a:sym typeface="Calibri"/>
              </a:rPr>
              <a:t> Tool </a:t>
            </a:r>
            <a:r>
              <a:rPr lang="es-MX" sz="675" b="1" i="1" dirty="0" err="1">
                <a:ea typeface="Calibri"/>
                <a:cs typeface="Calibri"/>
                <a:sym typeface="Calibri"/>
              </a:rPr>
              <a:t>for</a:t>
            </a:r>
            <a:r>
              <a:rPr lang="es-MX" sz="675" b="1" i="1" dirty="0">
                <a:ea typeface="Calibri"/>
                <a:cs typeface="Calibri"/>
                <a:sym typeface="Calibri"/>
              </a:rPr>
              <a:t> </a:t>
            </a:r>
            <a:r>
              <a:rPr lang="es-MX" sz="675" b="1" i="1" dirty="0" err="1">
                <a:ea typeface="Calibri"/>
                <a:cs typeface="Calibri"/>
                <a:sym typeface="Calibri"/>
              </a:rPr>
              <a:t>the</a:t>
            </a:r>
            <a:r>
              <a:rPr lang="es-MX" sz="675" b="1" i="1" dirty="0">
                <a:ea typeface="Calibri"/>
                <a:cs typeface="Calibri"/>
                <a:sym typeface="Calibri"/>
              </a:rPr>
              <a:t> </a:t>
            </a:r>
            <a:r>
              <a:rPr lang="es-MX" sz="675" b="1" i="1" dirty="0" err="1">
                <a:ea typeface="Calibri"/>
                <a:cs typeface="Calibri"/>
                <a:sym typeface="Calibri"/>
              </a:rPr>
              <a:t>Challenge</a:t>
            </a:r>
            <a:r>
              <a:rPr lang="es-MX" sz="675" b="1" i="1" dirty="0">
                <a:ea typeface="Calibri"/>
                <a:cs typeface="Calibri"/>
                <a:sym typeface="Calibri"/>
              </a:rPr>
              <a:t> </a:t>
            </a:r>
            <a:r>
              <a:rPr lang="es-MX" sz="675" b="1" i="1" dirty="0" err="1">
                <a:ea typeface="Calibri"/>
                <a:cs typeface="Calibri"/>
                <a:sym typeface="Calibri"/>
              </a:rPr>
              <a:t>of</a:t>
            </a:r>
            <a:r>
              <a:rPr lang="es-MX" sz="675" b="1" i="1" dirty="0">
                <a:ea typeface="Calibri"/>
                <a:cs typeface="Calibri"/>
                <a:sym typeface="Calibri"/>
              </a:rPr>
              <a:t> </a:t>
            </a:r>
            <a:r>
              <a:rPr lang="es-MX" sz="675" b="1" i="1" dirty="0" err="1">
                <a:ea typeface="Calibri"/>
                <a:cs typeface="Calibri"/>
                <a:sym typeface="Calibri"/>
              </a:rPr>
              <a:t>Water</a:t>
            </a:r>
            <a:r>
              <a:rPr lang="es-MX" sz="675" b="1" i="1" dirty="0">
                <a:ea typeface="Calibri"/>
                <a:cs typeface="Calibri"/>
                <a:sym typeface="Calibri"/>
              </a:rPr>
              <a:t> </a:t>
            </a:r>
            <a:r>
              <a:rPr lang="es-MX" sz="675" b="1" i="1" dirty="0" err="1">
                <a:ea typeface="Calibri"/>
                <a:cs typeface="Calibri"/>
                <a:sym typeface="Calibri"/>
              </a:rPr>
              <a:t>Sustainability</a:t>
            </a:r>
            <a:endParaRPr sz="675" b="1" i="1" dirty="0">
              <a:ea typeface="Calibri"/>
              <a:cs typeface="Calibri"/>
              <a:sym typeface="Calibri"/>
            </a:endParaRPr>
          </a:p>
          <a:p>
            <a:pPr defTabSz="685800">
              <a:lnSpc>
                <a:spcPct val="200000"/>
              </a:lnSpc>
              <a:spcBef>
                <a:spcPts val="585"/>
              </a:spcBef>
              <a:buClr>
                <a:srgbClr val="4472C4"/>
              </a:buClr>
              <a:buSzPts val="828"/>
              <a:defRPr/>
            </a:pPr>
            <a:r>
              <a:rPr lang="es-MX" sz="675" b="1" i="1" dirty="0">
                <a:ea typeface="Calibri"/>
                <a:cs typeface="Calibri"/>
                <a:sym typeface="Calibri"/>
              </a:rPr>
              <a:t>4. Análisis de un Sistema de Cosecha de Agua a Pequeña Escala con Finalidad Pecuaria:</a:t>
            </a:r>
            <a:endParaRPr sz="675" b="1" i="1" dirty="0">
              <a:ea typeface="Calibri"/>
              <a:cs typeface="Calibri"/>
              <a:sym typeface="Calibri"/>
            </a:endParaRPr>
          </a:p>
          <a:p>
            <a:pPr defTabSz="685800">
              <a:lnSpc>
                <a:spcPct val="200000"/>
              </a:lnSpc>
              <a:spcBef>
                <a:spcPts val="585"/>
              </a:spcBef>
              <a:buClr>
                <a:srgbClr val="4472C4"/>
              </a:buClr>
              <a:buSzPts val="828"/>
              <a:defRPr/>
            </a:pPr>
            <a:r>
              <a:rPr lang="es-MX" sz="675" b="1" i="1" dirty="0">
                <a:ea typeface="Calibri"/>
                <a:cs typeface="Calibri"/>
                <a:sym typeface="Calibri"/>
              </a:rPr>
              <a:t>5. LA ECONOMÍA VERDE: UN CAMBIO AMBIENTAL Y SOCIAL PARA EL MODELO ECONÓMICO ACTUAL.</a:t>
            </a:r>
            <a:endParaRPr sz="675" b="1" i="1" dirty="0">
              <a:ea typeface="Calibri"/>
              <a:cs typeface="Calibri"/>
              <a:sym typeface="Calibri"/>
            </a:endParaRPr>
          </a:p>
          <a:p>
            <a:pPr defTabSz="685800">
              <a:lnSpc>
                <a:spcPct val="200000"/>
              </a:lnSpc>
              <a:spcBef>
                <a:spcPts val="585"/>
              </a:spcBef>
              <a:buClr>
                <a:srgbClr val="4472C4"/>
              </a:buClr>
              <a:buSzPts val="828"/>
              <a:defRPr/>
            </a:pPr>
            <a:r>
              <a:rPr lang="es-MX" sz="675" b="1" i="1" dirty="0">
                <a:ea typeface="Calibri"/>
                <a:cs typeface="Calibri"/>
                <a:sym typeface="Calibri"/>
              </a:rPr>
              <a:t>6. ANÁLISIS DE LA INCLUSIÓN DE ASPECTOS AMBIENTALES EN MICROEMPRESAS AGROINDUSTRIALES DE LA CIUDAD DE VILLAVICENCIO, COLOMBIA.</a:t>
            </a:r>
            <a:endParaRPr sz="675" b="1" i="1" dirty="0">
              <a:ea typeface="Calibri"/>
              <a:cs typeface="Calibri"/>
              <a:sym typeface="Calibri"/>
            </a:endParaRPr>
          </a:p>
          <a:p>
            <a:pPr defTabSz="685800">
              <a:lnSpc>
                <a:spcPct val="200000"/>
              </a:lnSpc>
              <a:spcBef>
                <a:spcPts val="585"/>
              </a:spcBef>
              <a:buClr>
                <a:srgbClr val="4472C4"/>
              </a:buClr>
              <a:buSzPts val="828"/>
              <a:defRPr/>
            </a:pPr>
            <a:r>
              <a:rPr lang="es-MX" sz="675" b="1" i="1" dirty="0">
                <a:ea typeface="Calibri"/>
                <a:cs typeface="Calibri"/>
                <a:sym typeface="Calibri"/>
              </a:rPr>
              <a:t>7. EL COMPOSTAJE, UNA ALTERNATIVA PARA EL APROVECHAMIENTO DE RESIDUOS ORGÁNICOS EN LAS CENTRALES DE ABASTECIMIENTO.</a:t>
            </a:r>
          </a:p>
        </p:txBody>
      </p:sp>
      <p:sp>
        <p:nvSpPr>
          <p:cNvPr id="103" name="Google Shape;103;p3"/>
          <p:cNvSpPr txBox="1">
            <a:spLocks noGrp="1"/>
          </p:cNvSpPr>
          <p:nvPr>
            <p:ph type="title"/>
          </p:nvPr>
        </p:nvSpPr>
        <p:spPr>
          <a:xfrm>
            <a:off x="0" y="281094"/>
            <a:ext cx="9144000" cy="643214"/>
          </a:xfrm>
          <a:prstGeom prst="rect">
            <a:avLst/>
          </a:prstGeo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path path="circle">
              <a:fillToRect l="50000" t="50000" r="50000" b="50000"/>
            </a:path>
            <a:tileRect/>
          </a:gradFill>
          <a:ln>
            <a:noFill/>
          </a:ln>
        </p:spPr>
        <p:txBody>
          <a:bodyPr spcFirstLastPara="1" wrap="square" lIns="68569" tIns="34275" rIns="68569" bIns="34275" anchor="ctr" anchorCtr="0">
            <a:normAutofit/>
          </a:bodyPr>
          <a:lstStyle/>
          <a:p>
            <a:pPr algn="ctr">
              <a:lnSpc>
                <a:spcPct val="90000"/>
              </a:lnSpc>
              <a:buClr>
                <a:srgbClr val="FF0000"/>
              </a:buClr>
              <a:buSzPts val="5400"/>
            </a:pPr>
            <a:r>
              <a:rPr lang="es-MX" sz="4050" dirty="0">
                <a:solidFill>
                  <a:schemeClr val="bg1"/>
                </a:solidFill>
                <a:latin typeface="Aharoni"/>
                <a:ea typeface="Aharoni"/>
                <a:cs typeface="Aharoni"/>
                <a:sym typeface="Aharoni"/>
              </a:rPr>
              <a:t>Experiencia en Investigación</a:t>
            </a:r>
            <a:endParaRPr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12" name="Google Shape;112;p4"/>
          <p:cNvSpPr txBox="1"/>
          <p:nvPr/>
        </p:nvSpPr>
        <p:spPr>
          <a:xfrm>
            <a:off x="3475664" y="2725859"/>
            <a:ext cx="2128022" cy="276969"/>
          </a:xfrm>
          <a:prstGeom prst="rect">
            <a:avLst/>
          </a:prstGeom>
          <a:noFill/>
          <a:ln>
            <a:noFill/>
          </a:ln>
        </p:spPr>
        <p:txBody>
          <a:bodyPr spcFirstLastPara="1" wrap="square" lIns="68569" tIns="34275" rIns="68569" bIns="34275" anchor="t" anchorCtr="0">
            <a:spAutoFit/>
          </a:bodyPr>
          <a:lstStyle/>
          <a:p>
            <a:pPr defTabSz="685800">
              <a:buSzPts val="1800"/>
              <a:defRPr/>
            </a:pPr>
            <a:r>
              <a:rPr lang="es-MX" sz="1350" b="1" dirty="0">
                <a:latin typeface="Calibri"/>
                <a:ea typeface="Calibri"/>
                <a:cs typeface="Calibri"/>
                <a:sym typeface="Calibri"/>
              </a:rPr>
              <a:t>Jornadas - </a:t>
            </a:r>
            <a:r>
              <a:rPr lang="es-MX" sz="1350" b="1" dirty="0" err="1">
                <a:latin typeface="Calibri"/>
                <a:ea typeface="Calibri"/>
                <a:cs typeface="Calibri"/>
                <a:sym typeface="Calibri"/>
              </a:rPr>
              <a:t>Unillanos</a:t>
            </a:r>
            <a:endParaRPr sz="1050" dirty="0"/>
          </a:p>
        </p:txBody>
      </p:sp>
      <p:sp>
        <p:nvSpPr>
          <p:cNvPr id="113" name="Google Shape;113;p4"/>
          <p:cNvSpPr txBox="1"/>
          <p:nvPr/>
        </p:nvSpPr>
        <p:spPr>
          <a:xfrm>
            <a:off x="233173" y="4813980"/>
            <a:ext cx="2345997" cy="276969"/>
          </a:xfrm>
          <a:prstGeom prst="rect">
            <a:avLst/>
          </a:prstGeom>
          <a:noFill/>
          <a:ln>
            <a:noFill/>
          </a:ln>
        </p:spPr>
        <p:txBody>
          <a:bodyPr spcFirstLastPara="1" wrap="square" lIns="68569" tIns="34275" rIns="68569" bIns="34275" anchor="t" anchorCtr="0">
            <a:spAutoFit/>
          </a:bodyPr>
          <a:lstStyle/>
          <a:p>
            <a:pPr defTabSz="685800">
              <a:buSzPts val="1800"/>
              <a:defRPr/>
            </a:pPr>
            <a:r>
              <a:rPr lang="es-MX" sz="1350" b="1" dirty="0">
                <a:latin typeface="Calibri"/>
                <a:ea typeface="Calibri"/>
                <a:cs typeface="Calibri"/>
                <a:sym typeface="Calibri"/>
              </a:rPr>
              <a:t>Proyecto Guayuriba - </a:t>
            </a:r>
            <a:r>
              <a:rPr lang="es-MX" sz="1350" b="1" dirty="0" err="1">
                <a:latin typeface="Calibri"/>
                <a:ea typeface="Calibri"/>
                <a:cs typeface="Calibri"/>
                <a:sym typeface="Calibri"/>
              </a:rPr>
              <a:t>Unillanos</a:t>
            </a:r>
            <a:endParaRPr sz="1050" dirty="0"/>
          </a:p>
        </p:txBody>
      </p:sp>
      <p:sp>
        <p:nvSpPr>
          <p:cNvPr id="114" name="Google Shape;114;p4"/>
          <p:cNvSpPr txBox="1"/>
          <p:nvPr/>
        </p:nvSpPr>
        <p:spPr>
          <a:xfrm>
            <a:off x="155891" y="2671174"/>
            <a:ext cx="2579170" cy="253885"/>
          </a:xfrm>
          <a:prstGeom prst="rect">
            <a:avLst/>
          </a:prstGeom>
          <a:noFill/>
          <a:ln>
            <a:noFill/>
          </a:ln>
        </p:spPr>
        <p:txBody>
          <a:bodyPr spcFirstLastPara="1" wrap="square" lIns="68569" tIns="34275" rIns="68569" bIns="34275" anchor="t" anchorCtr="0">
            <a:spAutoFit/>
          </a:bodyPr>
          <a:lstStyle/>
          <a:p>
            <a:pPr defTabSz="685800">
              <a:buSzPts val="1800"/>
              <a:defRPr/>
            </a:pPr>
            <a:r>
              <a:rPr lang="es-MX" sz="1200" b="1" dirty="0">
                <a:latin typeface="Calibri"/>
                <a:ea typeface="Calibri"/>
                <a:cs typeface="Calibri"/>
                <a:sym typeface="Calibri"/>
              </a:rPr>
              <a:t>Ingeniería Agroindustrial - </a:t>
            </a:r>
            <a:r>
              <a:rPr lang="es-MX" sz="1200" b="1" dirty="0" err="1">
                <a:latin typeface="Calibri"/>
                <a:ea typeface="Calibri"/>
                <a:cs typeface="Calibri"/>
                <a:sym typeface="Calibri"/>
              </a:rPr>
              <a:t>Unillanos</a:t>
            </a:r>
            <a:endParaRPr sz="900" dirty="0"/>
          </a:p>
        </p:txBody>
      </p:sp>
      <p:sp>
        <p:nvSpPr>
          <p:cNvPr id="117" name="Google Shape;117;p4"/>
          <p:cNvSpPr txBox="1"/>
          <p:nvPr/>
        </p:nvSpPr>
        <p:spPr>
          <a:xfrm>
            <a:off x="6462181" y="4699852"/>
            <a:ext cx="2285516" cy="484718"/>
          </a:xfrm>
          <a:prstGeom prst="rect">
            <a:avLst/>
          </a:prstGeom>
          <a:noFill/>
          <a:ln>
            <a:noFill/>
          </a:ln>
        </p:spPr>
        <p:txBody>
          <a:bodyPr spcFirstLastPara="1" wrap="square" lIns="68569" tIns="34275" rIns="68569" bIns="34275" anchor="t" anchorCtr="0">
            <a:spAutoFit/>
          </a:bodyPr>
          <a:lstStyle/>
          <a:p>
            <a:pPr defTabSz="685800">
              <a:buSzPts val="1800"/>
              <a:defRPr/>
            </a:pPr>
            <a:r>
              <a:rPr lang="es-MX" sz="1350" b="1" dirty="0">
                <a:latin typeface="Calibri"/>
                <a:ea typeface="Calibri"/>
                <a:cs typeface="Calibri"/>
                <a:sym typeface="Calibri"/>
              </a:rPr>
              <a:t>Maestría Gestión Ambiental sostenible - </a:t>
            </a:r>
            <a:r>
              <a:rPr lang="es-MX" sz="1350" b="1" dirty="0" err="1">
                <a:latin typeface="Calibri"/>
                <a:ea typeface="Calibri"/>
                <a:cs typeface="Calibri"/>
                <a:sym typeface="Calibri"/>
              </a:rPr>
              <a:t>Unillanos</a:t>
            </a:r>
            <a:endParaRPr lang="es-MX" sz="1050" dirty="0"/>
          </a:p>
        </p:txBody>
      </p:sp>
      <p:sp>
        <p:nvSpPr>
          <p:cNvPr id="118" name="Google Shape;118;p4"/>
          <p:cNvSpPr txBox="1"/>
          <p:nvPr/>
        </p:nvSpPr>
        <p:spPr>
          <a:xfrm>
            <a:off x="6550876" y="2615515"/>
            <a:ext cx="2128022" cy="276969"/>
          </a:xfrm>
          <a:prstGeom prst="rect">
            <a:avLst/>
          </a:prstGeom>
          <a:noFill/>
          <a:ln>
            <a:noFill/>
          </a:ln>
        </p:spPr>
        <p:txBody>
          <a:bodyPr spcFirstLastPara="1" wrap="square" lIns="68569" tIns="34275" rIns="68569" bIns="34275" anchor="t" anchorCtr="0">
            <a:spAutoFit/>
          </a:bodyPr>
          <a:lstStyle/>
          <a:p>
            <a:pPr defTabSz="685800">
              <a:buSzPts val="1800"/>
              <a:defRPr/>
            </a:pPr>
            <a:r>
              <a:rPr lang="es-MX" sz="1350" b="1" dirty="0">
                <a:latin typeface="Calibri"/>
                <a:ea typeface="Calibri"/>
                <a:cs typeface="Calibri"/>
                <a:sym typeface="Calibri"/>
              </a:rPr>
              <a:t>Congresos - </a:t>
            </a:r>
            <a:r>
              <a:rPr lang="es-MX" sz="1350" b="1" dirty="0" err="1">
                <a:latin typeface="Calibri"/>
                <a:ea typeface="Calibri"/>
                <a:cs typeface="Calibri"/>
                <a:sym typeface="Calibri"/>
              </a:rPr>
              <a:t>Unillanos</a:t>
            </a:r>
            <a:endParaRPr sz="1050" dirty="0"/>
          </a:p>
        </p:txBody>
      </p:sp>
      <p:sp>
        <p:nvSpPr>
          <p:cNvPr id="120" name="Google Shape;120;p4"/>
          <p:cNvSpPr txBox="1"/>
          <p:nvPr/>
        </p:nvSpPr>
        <p:spPr>
          <a:xfrm>
            <a:off x="3470674" y="4603588"/>
            <a:ext cx="1616777" cy="276969"/>
          </a:xfrm>
          <a:prstGeom prst="rect">
            <a:avLst/>
          </a:prstGeom>
          <a:noFill/>
          <a:ln>
            <a:noFill/>
          </a:ln>
        </p:spPr>
        <p:txBody>
          <a:bodyPr spcFirstLastPara="1" wrap="square" lIns="68569" tIns="34275" rIns="68569" bIns="34275" anchor="t" anchorCtr="0">
            <a:spAutoFit/>
          </a:bodyPr>
          <a:lstStyle/>
          <a:p>
            <a:pPr defTabSz="685800">
              <a:buSzPts val="1800"/>
              <a:defRPr/>
            </a:pPr>
            <a:r>
              <a:rPr lang="es-MX" sz="1350" b="1" dirty="0">
                <a:latin typeface="Calibri"/>
                <a:ea typeface="Calibri"/>
                <a:cs typeface="Calibri"/>
                <a:sym typeface="Calibri"/>
              </a:rPr>
              <a:t>Acacías - </a:t>
            </a:r>
            <a:r>
              <a:rPr lang="es-MX" sz="1350" b="1" dirty="0" err="1">
                <a:latin typeface="Calibri"/>
                <a:ea typeface="Calibri"/>
                <a:cs typeface="Calibri"/>
                <a:sym typeface="Calibri"/>
              </a:rPr>
              <a:t>Unillanos</a:t>
            </a:r>
            <a:endParaRPr sz="1050" dirty="0"/>
          </a:p>
        </p:txBody>
      </p:sp>
      <p:sp>
        <p:nvSpPr>
          <p:cNvPr id="4" name="Google Shape;103;p3">
            <a:extLst>
              <a:ext uri="{FF2B5EF4-FFF2-40B4-BE49-F238E27FC236}">
                <a16:creationId xmlns:a16="http://schemas.microsoft.com/office/drawing/2014/main" id="{B9CA52BF-8741-CB2F-E045-BEA941520ED0}"/>
              </a:ext>
            </a:extLst>
          </p:cNvPr>
          <p:cNvSpPr txBox="1">
            <a:spLocks/>
          </p:cNvSpPr>
          <p:nvPr/>
        </p:nvSpPr>
        <p:spPr>
          <a:xfrm>
            <a:off x="0" y="59230"/>
            <a:ext cx="9144000" cy="643214"/>
          </a:xfrm>
          <a:prstGeom prst="rect">
            <a:avLst/>
          </a:prstGeom>
          <a:gradFill flip="none" rotWithShape="1">
            <a:gsLst>
              <a:gs pos="0">
                <a:schemeClr val="accent2">
                  <a:lumMod val="75000"/>
                  <a:shade val="30000"/>
                  <a:satMod val="115000"/>
                </a:schemeClr>
              </a:gs>
              <a:gs pos="50000">
                <a:schemeClr val="accent2">
                  <a:lumMod val="75000"/>
                  <a:shade val="67500"/>
                  <a:satMod val="115000"/>
                </a:schemeClr>
              </a:gs>
              <a:gs pos="100000">
                <a:schemeClr val="accent2">
                  <a:lumMod val="75000"/>
                  <a:shade val="100000"/>
                  <a:satMod val="115000"/>
                </a:schemeClr>
              </a:gs>
            </a:gsLst>
            <a:lin ang="5400000" scaled="1"/>
            <a:tileRect/>
          </a:gradFill>
          <a:ln>
            <a:noFill/>
          </a:ln>
        </p:spPr>
        <p:txBody>
          <a:bodyPr spcFirstLastPara="1" wrap="square" lIns="68569" tIns="34275" rIns="68569" bIns="34275"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defTabSz="685800">
              <a:buClr>
                <a:srgbClr val="FF0000"/>
              </a:buClr>
              <a:buSzPts val="5400"/>
              <a:defRPr/>
            </a:pPr>
            <a:r>
              <a:rPr lang="es-MX" sz="4050" b="1" dirty="0">
                <a:solidFill>
                  <a:srgbClr val="FFFFFF"/>
                </a:solidFill>
                <a:latin typeface="Aharoni"/>
                <a:ea typeface="Aharoni"/>
                <a:cs typeface="Aharoni"/>
                <a:sym typeface="Aharoni"/>
              </a:rPr>
              <a:t>Experiencia Nacional</a:t>
            </a:r>
            <a:endParaRPr lang="es-MX" sz="3300" dirty="0">
              <a:solidFill>
                <a:srgbClr val="FFFFFF"/>
              </a:solidFill>
            </a:endParaRPr>
          </a:p>
        </p:txBody>
      </p:sp>
      <p:pic>
        <p:nvPicPr>
          <p:cNvPr id="3" name="Imagen 2">
            <a:extLst>
              <a:ext uri="{FF2B5EF4-FFF2-40B4-BE49-F238E27FC236}">
                <a16:creationId xmlns:a16="http://schemas.microsoft.com/office/drawing/2014/main" id="{F4ABDE8E-A549-882E-6E5B-CA8E332DCF32}"/>
              </a:ext>
            </a:extLst>
          </p:cNvPr>
          <p:cNvPicPr>
            <a:picLocks noChangeAspect="1"/>
          </p:cNvPicPr>
          <p:nvPr/>
        </p:nvPicPr>
        <p:blipFill>
          <a:blip r:embed="rId3"/>
          <a:stretch>
            <a:fillRect/>
          </a:stretch>
        </p:blipFill>
        <p:spPr>
          <a:xfrm>
            <a:off x="684418" y="846111"/>
            <a:ext cx="1385615" cy="1847487"/>
          </a:xfrm>
          <a:prstGeom prst="rect">
            <a:avLst/>
          </a:prstGeom>
        </p:spPr>
      </p:pic>
      <p:pic>
        <p:nvPicPr>
          <p:cNvPr id="6" name="Imagen 5">
            <a:extLst>
              <a:ext uri="{FF2B5EF4-FFF2-40B4-BE49-F238E27FC236}">
                <a16:creationId xmlns:a16="http://schemas.microsoft.com/office/drawing/2014/main" id="{5DED9650-EFE1-5B06-693A-C3859AFA97EA}"/>
              </a:ext>
            </a:extLst>
          </p:cNvPr>
          <p:cNvPicPr>
            <a:picLocks noChangeAspect="1"/>
          </p:cNvPicPr>
          <p:nvPr/>
        </p:nvPicPr>
        <p:blipFill>
          <a:blip r:embed="rId4"/>
          <a:stretch>
            <a:fillRect/>
          </a:stretch>
        </p:blipFill>
        <p:spPr>
          <a:xfrm>
            <a:off x="3229493" y="3374432"/>
            <a:ext cx="2198474" cy="1237707"/>
          </a:xfrm>
          <a:prstGeom prst="rect">
            <a:avLst/>
          </a:prstGeom>
        </p:spPr>
      </p:pic>
      <p:pic>
        <p:nvPicPr>
          <p:cNvPr id="8" name="Imagen 7">
            <a:extLst>
              <a:ext uri="{FF2B5EF4-FFF2-40B4-BE49-F238E27FC236}">
                <a16:creationId xmlns:a16="http://schemas.microsoft.com/office/drawing/2014/main" id="{2DB999A5-A071-688B-5348-FB2ED0A27E3A}"/>
              </a:ext>
            </a:extLst>
          </p:cNvPr>
          <p:cNvPicPr>
            <a:picLocks noChangeAspect="1"/>
          </p:cNvPicPr>
          <p:nvPr/>
        </p:nvPicPr>
        <p:blipFill>
          <a:blip r:embed="rId5"/>
          <a:stretch>
            <a:fillRect/>
          </a:stretch>
        </p:blipFill>
        <p:spPr>
          <a:xfrm>
            <a:off x="6285252" y="1088239"/>
            <a:ext cx="2226136" cy="1483511"/>
          </a:xfrm>
          <a:prstGeom prst="rect">
            <a:avLst/>
          </a:prstGeom>
        </p:spPr>
      </p:pic>
      <p:pic>
        <p:nvPicPr>
          <p:cNvPr id="10" name="Imagen 9">
            <a:extLst>
              <a:ext uri="{FF2B5EF4-FFF2-40B4-BE49-F238E27FC236}">
                <a16:creationId xmlns:a16="http://schemas.microsoft.com/office/drawing/2014/main" id="{95770BA1-724E-5350-38CC-6438D6D41616}"/>
              </a:ext>
            </a:extLst>
          </p:cNvPr>
          <p:cNvPicPr>
            <a:picLocks noChangeAspect="1"/>
          </p:cNvPicPr>
          <p:nvPr/>
        </p:nvPicPr>
        <p:blipFill>
          <a:blip r:embed="rId6"/>
          <a:stretch>
            <a:fillRect/>
          </a:stretch>
        </p:blipFill>
        <p:spPr>
          <a:xfrm>
            <a:off x="2913657" y="846111"/>
            <a:ext cx="2634469" cy="1886280"/>
          </a:xfrm>
          <a:prstGeom prst="rect">
            <a:avLst/>
          </a:prstGeom>
        </p:spPr>
      </p:pic>
      <p:pic>
        <p:nvPicPr>
          <p:cNvPr id="12" name="Imagen 11">
            <a:extLst>
              <a:ext uri="{FF2B5EF4-FFF2-40B4-BE49-F238E27FC236}">
                <a16:creationId xmlns:a16="http://schemas.microsoft.com/office/drawing/2014/main" id="{6FAFB0DE-E8B2-9A2A-0D96-F61873FA309F}"/>
              </a:ext>
            </a:extLst>
          </p:cNvPr>
          <p:cNvPicPr>
            <a:picLocks noChangeAspect="1"/>
          </p:cNvPicPr>
          <p:nvPr/>
        </p:nvPicPr>
        <p:blipFill>
          <a:blip r:embed="rId7"/>
          <a:stretch>
            <a:fillRect/>
          </a:stretch>
        </p:blipFill>
        <p:spPr>
          <a:xfrm>
            <a:off x="454493" y="3222988"/>
            <a:ext cx="1981965" cy="1486474"/>
          </a:xfrm>
          <a:prstGeom prst="rect">
            <a:avLst/>
          </a:prstGeom>
        </p:spPr>
      </p:pic>
      <p:pic>
        <p:nvPicPr>
          <p:cNvPr id="13" name="Imagen 12">
            <a:extLst>
              <a:ext uri="{FF2B5EF4-FFF2-40B4-BE49-F238E27FC236}">
                <a16:creationId xmlns:a16="http://schemas.microsoft.com/office/drawing/2014/main" id="{BE5C5E06-AACA-A06E-89DF-245886A81FA8}"/>
              </a:ext>
            </a:extLst>
          </p:cNvPr>
          <p:cNvPicPr>
            <a:picLocks noChangeAspect="1"/>
          </p:cNvPicPr>
          <p:nvPr/>
        </p:nvPicPr>
        <p:blipFill>
          <a:blip r:embed="rId8"/>
          <a:stretch>
            <a:fillRect/>
          </a:stretch>
        </p:blipFill>
        <p:spPr>
          <a:xfrm>
            <a:off x="6342188" y="3125264"/>
            <a:ext cx="2112264" cy="158419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1581FBBB-F3BA-DD49-DCAC-D26A7410508D}"/>
            </a:ext>
          </a:extLst>
        </p:cNvPr>
        <p:cNvGrpSpPr/>
        <p:nvPr/>
      </p:nvGrpSpPr>
      <p:grpSpPr>
        <a:xfrm>
          <a:off x="0" y="0"/>
          <a:ext cx="0" cy="0"/>
          <a:chOff x="0" y="0"/>
          <a:chExt cx="0" cy="0"/>
        </a:xfrm>
      </p:grpSpPr>
      <p:pic>
        <p:nvPicPr>
          <p:cNvPr id="110" name="Google Shape;110;p4" descr="Un grupo de personas posando para una foto en oficina&#10;&#10;Descripción generada automáticamente">
            <a:extLst>
              <a:ext uri="{FF2B5EF4-FFF2-40B4-BE49-F238E27FC236}">
                <a16:creationId xmlns:a16="http://schemas.microsoft.com/office/drawing/2014/main" id="{5F868A83-159B-B24E-E5D5-BCA5F1196D63}"/>
              </a:ext>
            </a:extLst>
          </p:cNvPr>
          <p:cNvPicPr preferRelativeResize="0"/>
          <p:nvPr/>
        </p:nvPicPr>
        <p:blipFill rotWithShape="1">
          <a:blip r:embed="rId3">
            <a:alphaModFix/>
          </a:blip>
          <a:srcRect/>
          <a:stretch/>
        </p:blipFill>
        <p:spPr>
          <a:xfrm>
            <a:off x="3033337" y="864598"/>
            <a:ext cx="2393336" cy="1795002"/>
          </a:xfrm>
          <a:prstGeom prst="rect">
            <a:avLst/>
          </a:prstGeom>
          <a:noFill/>
          <a:ln>
            <a:noFill/>
          </a:ln>
        </p:spPr>
      </p:pic>
      <p:pic>
        <p:nvPicPr>
          <p:cNvPr id="111" name="Google Shape;111;p4" descr="Un dibujo de un edificio&#10;&#10;Descripción generada automáticamente con confianza media">
            <a:extLst>
              <a:ext uri="{FF2B5EF4-FFF2-40B4-BE49-F238E27FC236}">
                <a16:creationId xmlns:a16="http://schemas.microsoft.com/office/drawing/2014/main" id="{84D48089-6A9F-6420-B87F-C4C3E2919872}"/>
              </a:ext>
            </a:extLst>
          </p:cNvPr>
          <p:cNvPicPr preferRelativeResize="0"/>
          <p:nvPr/>
        </p:nvPicPr>
        <p:blipFill rotWithShape="1">
          <a:blip r:embed="rId4">
            <a:alphaModFix/>
          </a:blip>
          <a:srcRect/>
          <a:stretch/>
        </p:blipFill>
        <p:spPr>
          <a:xfrm rot="5400000">
            <a:off x="-82174" y="3265453"/>
            <a:ext cx="1772846" cy="1329635"/>
          </a:xfrm>
          <a:prstGeom prst="rect">
            <a:avLst/>
          </a:prstGeom>
          <a:noFill/>
          <a:ln>
            <a:noFill/>
          </a:ln>
        </p:spPr>
      </p:pic>
      <p:sp>
        <p:nvSpPr>
          <p:cNvPr id="112" name="Google Shape;112;p4">
            <a:extLst>
              <a:ext uri="{FF2B5EF4-FFF2-40B4-BE49-F238E27FC236}">
                <a16:creationId xmlns:a16="http://schemas.microsoft.com/office/drawing/2014/main" id="{38E1CCDC-962B-6A86-097A-3A78A3DC64BF}"/>
              </a:ext>
            </a:extLst>
          </p:cNvPr>
          <p:cNvSpPr txBox="1"/>
          <p:nvPr/>
        </p:nvSpPr>
        <p:spPr>
          <a:xfrm>
            <a:off x="3475664" y="2725859"/>
            <a:ext cx="2128022" cy="276969"/>
          </a:xfrm>
          <a:prstGeom prst="rect">
            <a:avLst/>
          </a:prstGeom>
          <a:noFill/>
          <a:ln>
            <a:noFill/>
          </a:ln>
        </p:spPr>
        <p:txBody>
          <a:bodyPr spcFirstLastPara="1" wrap="square" lIns="68569" tIns="34275" rIns="68569" bIns="34275" anchor="t" anchorCtr="0">
            <a:spAutoFit/>
          </a:bodyPr>
          <a:lstStyle/>
          <a:p>
            <a:pPr defTabSz="685800">
              <a:buSzPts val="1800"/>
              <a:defRPr/>
            </a:pPr>
            <a:r>
              <a:rPr lang="es-MX" sz="1350" b="1">
                <a:latin typeface="Calibri"/>
                <a:ea typeface="Calibri"/>
                <a:cs typeface="Calibri"/>
                <a:sym typeface="Calibri"/>
              </a:rPr>
              <a:t>México - UNAN </a:t>
            </a:r>
            <a:endParaRPr sz="1050"/>
          </a:p>
        </p:txBody>
      </p:sp>
      <p:sp>
        <p:nvSpPr>
          <p:cNvPr id="113" name="Google Shape;113;p4">
            <a:extLst>
              <a:ext uri="{FF2B5EF4-FFF2-40B4-BE49-F238E27FC236}">
                <a16:creationId xmlns:a16="http://schemas.microsoft.com/office/drawing/2014/main" id="{E5F86568-4D5E-5F8C-A8AB-5E74081CCB41}"/>
              </a:ext>
            </a:extLst>
          </p:cNvPr>
          <p:cNvSpPr txBox="1"/>
          <p:nvPr/>
        </p:nvSpPr>
        <p:spPr>
          <a:xfrm>
            <a:off x="139432" y="4816693"/>
            <a:ext cx="1616777" cy="276969"/>
          </a:xfrm>
          <a:prstGeom prst="rect">
            <a:avLst/>
          </a:prstGeom>
          <a:noFill/>
          <a:ln>
            <a:noFill/>
          </a:ln>
        </p:spPr>
        <p:txBody>
          <a:bodyPr spcFirstLastPara="1" wrap="square" lIns="68569" tIns="34275" rIns="68569" bIns="34275" anchor="t" anchorCtr="0">
            <a:spAutoFit/>
          </a:bodyPr>
          <a:lstStyle/>
          <a:p>
            <a:pPr defTabSz="685800">
              <a:buSzPts val="1800"/>
              <a:defRPr/>
            </a:pPr>
            <a:r>
              <a:rPr lang="es-MX" sz="1350" b="1">
                <a:latin typeface="Calibri"/>
                <a:ea typeface="Calibri"/>
                <a:cs typeface="Calibri"/>
                <a:sym typeface="Calibri"/>
              </a:rPr>
              <a:t>Cuba  – U. Habana </a:t>
            </a:r>
            <a:endParaRPr sz="1050"/>
          </a:p>
        </p:txBody>
      </p:sp>
      <p:sp>
        <p:nvSpPr>
          <p:cNvPr id="114" name="Google Shape;114;p4">
            <a:extLst>
              <a:ext uri="{FF2B5EF4-FFF2-40B4-BE49-F238E27FC236}">
                <a16:creationId xmlns:a16="http://schemas.microsoft.com/office/drawing/2014/main" id="{BCF68718-2ACD-2CE6-C464-8E8801CD22DE}"/>
              </a:ext>
            </a:extLst>
          </p:cNvPr>
          <p:cNvSpPr txBox="1"/>
          <p:nvPr/>
        </p:nvSpPr>
        <p:spPr>
          <a:xfrm>
            <a:off x="573060" y="2510421"/>
            <a:ext cx="1616777" cy="276969"/>
          </a:xfrm>
          <a:prstGeom prst="rect">
            <a:avLst/>
          </a:prstGeom>
          <a:noFill/>
          <a:ln>
            <a:noFill/>
          </a:ln>
        </p:spPr>
        <p:txBody>
          <a:bodyPr spcFirstLastPara="1" wrap="square" lIns="68569" tIns="34275" rIns="68569" bIns="34275" anchor="t" anchorCtr="0">
            <a:spAutoFit/>
          </a:bodyPr>
          <a:lstStyle/>
          <a:p>
            <a:pPr defTabSz="685800">
              <a:buSzPts val="1800"/>
              <a:defRPr/>
            </a:pPr>
            <a:r>
              <a:rPr lang="es-MX" sz="1350" b="1">
                <a:latin typeface="Calibri"/>
                <a:ea typeface="Calibri"/>
                <a:cs typeface="Calibri"/>
                <a:sym typeface="Calibri"/>
              </a:rPr>
              <a:t>Argentina - U. Plata</a:t>
            </a:r>
            <a:endParaRPr sz="1050"/>
          </a:p>
        </p:txBody>
      </p:sp>
      <p:pic>
        <p:nvPicPr>
          <p:cNvPr id="115" name="Google Shape;115;p4" descr="Un grupo de personas en un salón&#10;&#10;Descripción generada automáticamente con confianza media">
            <a:extLst>
              <a:ext uri="{FF2B5EF4-FFF2-40B4-BE49-F238E27FC236}">
                <a16:creationId xmlns:a16="http://schemas.microsoft.com/office/drawing/2014/main" id="{46CBCDDD-9922-2832-2C29-42DEB604372D}"/>
              </a:ext>
            </a:extLst>
          </p:cNvPr>
          <p:cNvPicPr preferRelativeResize="0"/>
          <p:nvPr/>
        </p:nvPicPr>
        <p:blipFill rotWithShape="1">
          <a:blip r:embed="rId5">
            <a:alphaModFix/>
          </a:blip>
          <a:srcRect/>
          <a:stretch/>
        </p:blipFill>
        <p:spPr>
          <a:xfrm>
            <a:off x="573060" y="787659"/>
            <a:ext cx="1292072" cy="1722763"/>
          </a:xfrm>
          <a:prstGeom prst="rect">
            <a:avLst/>
          </a:prstGeom>
          <a:noFill/>
          <a:ln>
            <a:noFill/>
          </a:ln>
        </p:spPr>
      </p:pic>
      <p:pic>
        <p:nvPicPr>
          <p:cNvPr id="116" name="Google Shape;116;p4" descr="Un grupo de personas en medio de cuarto&#10;&#10;Descripción generada automáticamente">
            <a:extLst>
              <a:ext uri="{FF2B5EF4-FFF2-40B4-BE49-F238E27FC236}">
                <a16:creationId xmlns:a16="http://schemas.microsoft.com/office/drawing/2014/main" id="{58EB3424-3044-1E76-67D2-A2599593C8C7}"/>
              </a:ext>
            </a:extLst>
          </p:cNvPr>
          <p:cNvPicPr preferRelativeResize="0"/>
          <p:nvPr/>
        </p:nvPicPr>
        <p:blipFill rotWithShape="1">
          <a:blip r:embed="rId6">
            <a:alphaModFix/>
          </a:blip>
          <a:srcRect/>
          <a:stretch/>
        </p:blipFill>
        <p:spPr>
          <a:xfrm>
            <a:off x="6621099" y="836442"/>
            <a:ext cx="1193462" cy="1779074"/>
          </a:xfrm>
          <a:prstGeom prst="rect">
            <a:avLst/>
          </a:prstGeom>
          <a:noFill/>
          <a:ln>
            <a:noFill/>
          </a:ln>
        </p:spPr>
      </p:pic>
      <p:sp>
        <p:nvSpPr>
          <p:cNvPr id="117" name="Google Shape;117;p4">
            <a:extLst>
              <a:ext uri="{FF2B5EF4-FFF2-40B4-BE49-F238E27FC236}">
                <a16:creationId xmlns:a16="http://schemas.microsoft.com/office/drawing/2014/main" id="{D28A6C4C-041A-A9B6-AFE5-A8C880AF85EC}"/>
              </a:ext>
            </a:extLst>
          </p:cNvPr>
          <p:cNvSpPr txBox="1"/>
          <p:nvPr/>
        </p:nvSpPr>
        <p:spPr>
          <a:xfrm>
            <a:off x="4230005" y="4862537"/>
            <a:ext cx="2756934" cy="276969"/>
          </a:xfrm>
          <a:prstGeom prst="rect">
            <a:avLst/>
          </a:prstGeom>
          <a:noFill/>
          <a:ln>
            <a:noFill/>
          </a:ln>
        </p:spPr>
        <p:txBody>
          <a:bodyPr spcFirstLastPara="1" wrap="square" lIns="68569" tIns="34275" rIns="68569" bIns="34275" anchor="t" anchorCtr="0">
            <a:spAutoFit/>
          </a:bodyPr>
          <a:lstStyle/>
          <a:p>
            <a:pPr defTabSz="685800">
              <a:buSzPts val="1800"/>
              <a:defRPr/>
            </a:pPr>
            <a:r>
              <a:rPr lang="es-MX" sz="1350" b="1" dirty="0">
                <a:latin typeface="Calibri"/>
                <a:ea typeface="Calibri"/>
                <a:cs typeface="Calibri"/>
                <a:sym typeface="Calibri"/>
              </a:rPr>
              <a:t>España – U. Politécnica de Madrid</a:t>
            </a:r>
            <a:endParaRPr sz="1050" dirty="0"/>
          </a:p>
        </p:txBody>
      </p:sp>
      <p:sp>
        <p:nvSpPr>
          <p:cNvPr id="118" name="Google Shape;118;p4">
            <a:extLst>
              <a:ext uri="{FF2B5EF4-FFF2-40B4-BE49-F238E27FC236}">
                <a16:creationId xmlns:a16="http://schemas.microsoft.com/office/drawing/2014/main" id="{178F99DF-E283-2688-12EC-797AC940C3C3}"/>
              </a:ext>
            </a:extLst>
          </p:cNvPr>
          <p:cNvSpPr txBox="1"/>
          <p:nvPr/>
        </p:nvSpPr>
        <p:spPr>
          <a:xfrm>
            <a:off x="6550876" y="2615515"/>
            <a:ext cx="2128022" cy="276969"/>
          </a:xfrm>
          <a:prstGeom prst="rect">
            <a:avLst/>
          </a:prstGeom>
          <a:noFill/>
          <a:ln>
            <a:noFill/>
          </a:ln>
        </p:spPr>
        <p:txBody>
          <a:bodyPr spcFirstLastPara="1" wrap="square" lIns="68569" tIns="34275" rIns="68569" bIns="34275" anchor="t" anchorCtr="0">
            <a:spAutoFit/>
          </a:bodyPr>
          <a:lstStyle/>
          <a:p>
            <a:pPr defTabSz="685800">
              <a:buSzPts val="1800"/>
              <a:defRPr/>
            </a:pPr>
            <a:r>
              <a:rPr lang="es-MX" sz="1350" b="1">
                <a:latin typeface="Calibri"/>
                <a:ea typeface="Calibri"/>
                <a:cs typeface="Calibri"/>
                <a:sym typeface="Calibri"/>
              </a:rPr>
              <a:t>Perú – U. Lima </a:t>
            </a:r>
            <a:endParaRPr sz="1050"/>
          </a:p>
        </p:txBody>
      </p:sp>
      <p:pic>
        <p:nvPicPr>
          <p:cNvPr id="119" name="Google Shape;119;p4" descr="Un grupo de personas en medio de cuarto&#10;&#10;Descripción generada automáticamente con confianza media">
            <a:extLst>
              <a:ext uri="{FF2B5EF4-FFF2-40B4-BE49-F238E27FC236}">
                <a16:creationId xmlns:a16="http://schemas.microsoft.com/office/drawing/2014/main" id="{D689F179-CA3F-A3BB-A21B-455A15EB6545}"/>
              </a:ext>
            </a:extLst>
          </p:cNvPr>
          <p:cNvPicPr preferRelativeResize="0"/>
          <p:nvPr/>
        </p:nvPicPr>
        <p:blipFill rotWithShape="1">
          <a:blip r:embed="rId7">
            <a:alphaModFix/>
          </a:blip>
          <a:srcRect/>
          <a:stretch/>
        </p:blipFill>
        <p:spPr>
          <a:xfrm>
            <a:off x="1764157" y="3259169"/>
            <a:ext cx="2410362" cy="1352063"/>
          </a:xfrm>
          <a:prstGeom prst="rect">
            <a:avLst/>
          </a:prstGeom>
          <a:noFill/>
          <a:ln>
            <a:noFill/>
          </a:ln>
        </p:spPr>
      </p:pic>
      <p:sp>
        <p:nvSpPr>
          <p:cNvPr id="120" name="Google Shape;120;p4">
            <a:extLst>
              <a:ext uri="{FF2B5EF4-FFF2-40B4-BE49-F238E27FC236}">
                <a16:creationId xmlns:a16="http://schemas.microsoft.com/office/drawing/2014/main" id="{A01E0303-9225-B7D7-B85C-FF0C24B5FA48}"/>
              </a:ext>
            </a:extLst>
          </p:cNvPr>
          <p:cNvSpPr txBox="1"/>
          <p:nvPr/>
        </p:nvSpPr>
        <p:spPr>
          <a:xfrm>
            <a:off x="2068903" y="4611232"/>
            <a:ext cx="1616777" cy="276969"/>
          </a:xfrm>
          <a:prstGeom prst="rect">
            <a:avLst/>
          </a:prstGeom>
          <a:noFill/>
          <a:ln>
            <a:noFill/>
          </a:ln>
        </p:spPr>
        <p:txBody>
          <a:bodyPr spcFirstLastPara="1" wrap="square" lIns="68569" tIns="34275" rIns="68569" bIns="34275" anchor="t" anchorCtr="0">
            <a:spAutoFit/>
          </a:bodyPr>
          <a:lstStyle/>
          <a:p>
            <a:pPr defTabSz="685800">
              <a:buSzPts val="1800"/>
              <a:defRPr/>
            </a:pPr>
            <a:r>
              <a:rPr lang="es-MX" sz="1350" b="1" dirty="0">
                <a:latin typeface="Calibri"/>
                <a:ea typeface="Calibri"/>
                <a:cs typeface="Calibri"/>
                <a:sym typeface="Calibri"/>
              </a:rPr>
              <a:t>Bolivia  – U. Católica </a:t>
            </a:r>
            <a:endParaRPr sz="1050" dirty="0"/>
          </a:p>
        </p:txBody>
      </p:sp>
      <p:sp>
        <p:nvSpPr>
          <p:cNvPr id="4" name="Google Shape;103;p3">
            <a:extLst>
              <a:ext uri="{FF2B5EF4-FFF2-40B4-BE49-F238E27FC236}">
                <a16:creationId xmlns:a16="http://schemas.microsoft.com/office/drawing/2014/main" id="{0164C0A7-9EE0-5E29-935E-4DFA867352D6}"/>
              </a:ext>
            </a:extLst>
          </p:cNvPr>
          <p:cNvSpPr txBox="1">
            <a:spLocks/>
          </p:cNvSpPr>
          <p:nvPr/>
        </p:nvSpPr>
        <p:spPr>
          <a:xfrm>
            <a:off x="0" y="59230"/>
            <a:ext cx="9144000" cy="643214"/>
          </a:xfrm>
          <a:prstGeom prst="rect">
            <a:avLst/>
          </a:prstGeo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path path="circle">
              <a:fillToRect l="50000" t="50000" r="50000" b="50000"/>
            </a:path>
            <a:tileRect/>
          </a:gradFill>
          <a:ln>
            <a:noFill/>
          </a:ln>
        </p:spPr>
        <p:txBody>
          <a:bodyPr spcFirstLastPara="1" wrap="square" lIns="68569" tIns="34275" rIns="68569" bIns="34275"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defTabSz="685800">
              <a:buClr>
                <a:srgbClr val="FF0000"/>
              </a:buClr>
              <a:buSzPts val="5400"/>
              <a:defRPr/>
            </a:pPr>
            <a:r>
              <a:rPr lang="es-MX" sz="4050" b="1" dirty="0">
                <a:solidFill>
                  <a:srgbClr val="FFFFFF"/>
                </a:solidFill>
                <a:latin typeface="Aharoni"/>
                <a:ea typeface="Aharoni"/>
                <a:cs typeface="Aharoni"/>
                <a:sym typeface="Aharoni"/>
              </a:rPr>
              <a:t>Experiencia Internacional</a:t>
            </a:r>
            <a:endParaRPr lang="es-MX" sz="3300" dirty="0">
              <a:solidFill>
                <a:srgbClr val="FFFFFF"/>
              </a:solidFill>
            </a:endParaRPr>
          </a:p>
        </p:txBody>
      </p:sp>
      <p:pic>
        <p:nvPicPr>
          <p:cNvPr id="6" name="Imagen 5">
            <a:extLst>
              <a:ext uri="{FF2B5EF4-FFF2-40B4-BE49-F238E27FC236}">
                <a16:creationId xmlns:a16="http://schemas.microsoft.com/office/drawing/2014/main" id="{D5047455-B1F9-D357-98A9-A4FABF20A018}"/>
              </a:ext>
            </a:extLst>
          </p:cNvPr>
          <p:cNvPicPr>
            <a:picLocks noChangeAspect="1"/>
          </p:cNvPicPr>
          <p:nvPr/>
        </p:nvPicPr>
        <p:blipFill>
          <a:blip r:embed="rId8"/>
          <a:srcRect l="44929" t="1480" r="1538" b="29670"/>
          <a:stretch/>
        </p:blipFill>
        <p:spPr>
          <a:xfrm>
            <a:off x="4539364" y="3069118"/>
            <a:ext cx="1837916" cy="1772846"/>
          </a:xfrm>
          <a:prstGeom prst="rect">
            <a:avLst/>
          </a:prstGeom>
        </p:spPr>
      </p:pic>
      <p:sp>
        <p:nvSpPr>
          <p:cNvPr id="7" name="Google Shape;117;p4">
            <a:extLst>
              <a:ext uri="{FF2B5EF4-FFF2-40B4-BE49-F238E27FC236}">
                <a16:creationId xmlns:a16="http://schemas.microsoft.com/office/drawing/2014/main" id="{5F86AFFD-F4D4-6D29-03DD-CFF710D5E78A}"/>
              </a:ext>
            </a:extLst>
          </p:cNvPr>
          <p:cNvSpPr txBox="1"/>
          <p:nvPr/>
        </p:nvSpPr>
        <p:spPr>
          <a:xfrm>
            <a:off x="7075098" y="4667101"/>
            <a:ext cx="1913036" cy="276969"/>
          </a:xfrm>
          <a:prstGeom prst="rect">
            <a:avLst/>
          </a:prstGeom>
          <a:noFill/>
          <a:ln>
            <a:noFill/>
          </a:ln>
        </p:spPr>
        <p:txBody>
          <a:bodyPr spcFirstLastPara="1" wrap="square" lIns="68569" tIns="34275" rIns="68569" bIns="34275" anchor="t" anchorCtr="0">
            <a:spAutoFit/>
          </a:bodyPr>
          <a:lstStyle/>
          <a:p>
            <a:pPr defTabSz="685800">
              <a:buSzPts val="1800"/>
              <a:defRPr/>
            </a:pPr>
            <a:r>
              <a:rPr lang="es-MX" sz="1350" b="1" dirty="0">
                <a:latin typeface="Calibri"/>
                <a:ea typeface="Calibri"/>
                <a:cs typeface="Calibri"/>
                <a:sym typeface="Calibri"/>
              </a:rPr>
              <a:t>Francia – U. Montpellier</a:t>
            </a:r>
            <a:endParaRPr sz="1050" dirty="0"/>
          </a:p>
        </p:txBody>
      </p:sp>
      <p:pic>
        <p:nvPicPr>
          <p:cNvPr id="8" name="Imagen 7">
            <a:extLst>
              <a:ext uri="{FF2B5EF4-FFF2-40B4-BE49-F238E27FC236}">
                <a16:creationId xmlns:a16="http://schemas.microsoft.com/office/drawing/2014/main" id="{650195D3-E5E3-CF5A-8CE1-9A22E9B4F9C4}"/>
              </a:ext>
            </a:extLst>
          </p:cNvPr>
          <p:cNvPicPr>
            <a:picLocks noChangeAspect="1"/>
          </p:cNvPicPr>
          <p:nvPr/>
        </p:nvPicPr>
        <p:blipFill>
          <a:blip r:embed="rId9"/>
          <a:stretch>
            <a:fillRect/>
          </a:stretch>
        </p:blipFill>
        <p:spPr>
          <a:xfrm>
            <a:off x="6597207" y="3275602"/>
            <a:ext cx="2434708" cy="1370903"/>
          </a:xfrm>
          <a:prstGeom prst="rect">
            <a:avLst/>
          </a:prstGeom>
        </p:spPr>
      </p:pic>
    </p:spTree>
    <p:extLst>
      <p:ext uri="{BB962C8B-B14F-4D97-AF65-F5344CB8AC3E}">
        <p14:creationId xmlns:p14="http://schemas.microsoft.com/office/powerpoint/2010/main" val="2521016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 y="0"/>
            <a:ext cx="9143999" cy="5143498"/>
          </a:xfrm>
          <a:prstGeom prst="rect">
            <a:avLst/>
          </a:prstGeom>
          <a:blipFill>
            <a:blip r:embed="rId2" cstate="print"/>
            <a:stretch>
              <a:fillRect/>
            </a:stretch>
          </a:blipFill>
        </p:spPr>
        <p:txBody>
          <a:bodyPr wrap="square" lIns="0" tIns="0" rIns="0" bIns="0" rtlCol="0"/>
          <a:lstStyle/>
          <a:p>
            <a:endParaRPr sz="1050"/>
          </a:p>
        </p:txBody>
      </p:sp>
      <p:sp>
        <p:nvSpPr>
          <p:cNvPr id="3" name="object 3"/>
          <p:cNvSpPr/>
          <p:nvPr/>
        </p:nvSpPr>
        <p:spPr>
          <a:xfrm>
            <a:off x="0" y="3990975"/>
            <a:ext cx="9144000" cy="552450"/>
          </a:xfrm>
          <a:custGeom>
            <a:avLst/>
            <a:gdLst/>
            <a:ahLst/>
            <a:cxnLst/>
            <a:rect l="l" t="t" r="r" b="b"/>
            <a:pathLst>
              <a:path w="12192000" h="736600">
                <a:moveTo>
                  <a:pt x="0" y="736600"/>
                </a:moveTo>
                <a:lnTo>
                  <a:pt x="12192000" y="736600"/>
                </a:lnTo>
                <a:lnTo>
                  <a:pt x="12192000" y="0"/>
                </a:lnTo>
                <a:lnTo>
                  <a:pt x="0" y="0"/>
                </a:lnTo>
                <a:lnTo>
                  <a:pt x="0" y="736600"/>
                </a:lnTo>
                <a:close/>
              </a:path>
            </a:pathLst>
          </a:custGeom>
          <a:solidFill>
            <a:srgbClr val="FFFFFF">
              <a:alpha val="92939"/>
            </a:srgbClr>
          </a:solidFill>
        </p:spPr>
        <p:txBody>
          <a:bodyPr wrap="square" lIns="0" tIns="0" rIns="0" bIns="0" rtlCol="0"/>
          <a:lstStyle/>
          <a:p>
            <a:endParaRPr sz="1050"/>
          </a:p>
        </p:txBody>
      </p:sp>
      <p:sp>
        <p:nvSpPr>
          <p:cNvPr id="4" name="object 4"/>
          <p:cNvSpPr txBox="1"/>
          <p:nvPr/>
        </p:nvSpPr>
        <p:spPr>
          <a:xfrm>
            <a:off x="2336959" y="4001928"/>
            <a:ext cx="4519136" cy="425116"/>
          </a:xfrm>
          <a:prstGeom prst="rect">
            <a:avLst/>
          </a:prstGeom>
        </p:spPr>
        <p:txBody>
          <a:bodyPr vert="horz" wrap="square" lIns="0" tIns="9525" rIns="0" bIns="0" rtlCol="0">
            <a:spAutoFit/>
          </a:bodyPr>
          <a:lstStyle/>
          <a:p>
            <a:pPr marL="9525">
              <a:spcBef>
                <a:spcPts val="75"/>
              </a:spcBef>
            </a:pPr>
            <a:r>
              <a:rPr sz="2700" b="1" spc="-214" dirty="0">
                <a:solidFill>
                  <a:srgbClr val="252525"/>
                </a:solidFill>
              </a:rPr>
              <a:t>ELEMENTOS</a:t>
            </a:r>
            <a:r>
              <a:rPr sz="2700" b="1" spc="-53" dirty="0">
                <a:solidFill>
                  <a:srgbClr val="252525"/>
                </a:solidFill>
              </a:rPr>
              <a:t> </a:t>
            </a:r>
            <a:r>
              <a:rPr sz="2700" b="1" spc="-217" dirty="0">
                <a:solidFill>
                  <a:srgbClr val="252525"/>
                </a:solidFill>
              </a:rPr>
              <a:t>CONCEPTUALES</a:t>
            </a:r>
            <a:endParaRPr sz="2700" dirty="0"/>
          </a:p>
        </p:txBody>
      </p:sp>
      <p:sp>
        <p:nvSpPr>
          <p:cNvPr id="5" name="object 5"/>
          <p:cNvSpPr/>
          <p:nvPr/>
        </p:nvSpPr>
        <p:spPr>
          <a:xfrm>
            <a:off x="0" y="3931919"/>
            <a:ext cx="9144000" cy="0"/>
          </a:xfrm>
          <a:custGeom>
            <a:avLst/>
            <a:gdLst/>
            <a:ahLst/>
            <a:cxnLst/>
            <a:rect l="l" t="t" r="r" b="b"/>
            <a:pathLst>
              <a:path w="12192000">
                <a:moveTo>
                  <a:pt x="0" y="0"/>
                </a:moveTo>
                <a:lnTo>
                  <a:pt x="12192000" y="0"/>
                </a:lnTo>
              </a:path>
            </a:pathLst>
          </a:custGeom>
          <a:ln w="41275">
            <a:solidFill>
              <a:srgbClr val="FFFFFF"/>
            </a:solidFill>
          </a:ln>
        </p:spPr>
        <p:txBody>
          <a:bodyPr wrap="square" lIns="0" tIns="0" rIns="0" bIns="0" rtlCol="0"/>
          <a:lstStyle/>
          <a:p>
            <a:endParaRPr sz="1050"/>
          </a:p>
        </p:txBody>
      </p:sp>
      <p:sp>
        <p:nvSpPr>
          <p:cNvPr id="6" name="object 6"/>
          <p:cNvSpPr/>
          <p:nvPr/>
        </p:nvSpPr>
        <p:spPr>
          <a:xfrm>
            <a:off x="0" y="4600575"/>
            <a:ext cx="9144000" cy="0"/>
          </a:xfrm>
          <a:custGeom>
            <a:avLst/>
            <a:gdLst/>
            <a:ahLst/>
            <a:cxnLst/>
            <a:rect l="l" t="t" r="r" b="b"/>
            <a:pathLst>
              <a:path w="12192000">
                <a:moveTo>
                  <a:pt x="0" y="0"/>
                </a:moveTo>
                <a:lnTo>
                  <a:pt x="12192000" y="0"/>
                </a:lnTo>
              </a:path>
            </a:pathLst>
          </a:custGeom>
          <a:ln w="41275">
            <a:solidFill>
              <a:srgbClr val="FFFFFF"/>
            </a:solidFill>
          </a:ln>
        </p:spPr>
        <p:txBody>
          <a:bodyPr wrap="square" lIns="0" tIns="0" rIns="0" bIns="0" rtlCol="0"/>
          <a:lstStyle/>
          <a:p>
            <a:endParaRPr sz="1050"/>
          </a:p>
        </p:txBody>
      </p:sp>
      <p:sp>
        <p:nvSpPr>
          <p:cNvPr id="7" name="object 7"/>
          <p:cNvSpPr/>
          <p:nvPr/>
        </p:nvSpPr>
        <p:spPr>
          <a:xfrm>
            <a:off x="3993832" y="23813"/>
            <a:ext cx="973455" cy="971550"/>
          </a:xfrm>
          <a:custGeom>
            <a:avLst/>
            <a:gdLst/>
            <a:ahLst/>
            <a:cxnLst/>
            <a:rect l="l" t="t" r="r" b="b"/>
            <a:pathLst>
              <a:path w="1297940" h="1295400">
                <a:moveTo>
                  <a:pt x="648969" y="0"/>
                </a:moveTo>
                <a:lnTo>
                  <a:pt x="600539" y="1776"/>
                </a:lnTo>
                <a:lnTo>
                  <a:pt x="553074" y="7021"/>
                </a:lnTo>
                <a:lnTo>
                  <a:pt x="506702" y="15611"/>
                </a:lnTo>
                <a:lnTo>
                  <a:pt x="461547" y="27419"/>
                </a:lnTo>
                <a:lnTo>
                  <a:pt x="417734" y="42321"/>
                </a:lnTo>
                <a:lnTo>
                  <a:pt x="375390" y="60191"/>
                </a:lnTo>
                <a:lnTo>
                  <a:pt x="334639" y="80905"/>
                </a:lnTo>
                <a:lnTo>
                  <a:pt x="295608" y="104337"/>
                </a:lnTo>
                <a:lnTo>
                  <a:pt x="258422" y="130362"/>
                </a:lnTo>
                <a:lnTo>
                  <a:pt x="223207" y="158854"/>
                </a:lnTo>
                <a:lnTo>
                  <a:pt x="190087" y="189690"/>
                </a:lnTo>
                <a:lnTo>
                  <a:pt x="159188" y="222743"/>
                </a:lnTo>
                <a:lnTo>
                  <a:pt x="130637" y="257888"/>
                </a:lnTo>
                <a:lnTo>
                  <a:pt x="104558" y="295001"/>
                </a:lnTo>
                <a:lnTo>
                  <a:pt x="81077" y="333955"/>
                </a:lnTo>
                <a:lnTo>
                  <a:pt x="60320" y="374626"/>
                </a:lnTo>
                <a:lnTo>
                  <a:pt x="42412" y="416889"/>
                </a:lnTo>
                <a:lnTo>
                  <a:pt x="27478" y="460619"/>
                </a:lnTo>
                <a:lnTo>
                  <a:pt x="15644" y="505690"/>
                </a:lnTo>
                <a:lnTo>
                  <a:pt x="7037" y="551977"/>
                </a:lnTo>
                <a:lnTo>
                  <a:pt x="1780" y="599355"/>
                </a:lnTo>
                <a:lnTo>
                  <a:pt x="0" y="647700"/>
                </a:lnTo>
                <a:lnTo>
                  <a:pt x="1780" y="696044"/>
                </a:lnTo>
                <a:lnTo>
                  <a:pt x="7037" y="743422"/>
                </a:lnTo>
                <a:lnTo>
                  <a:pt x="15644" y="789709"/>
                </a:lnTo>
                <a:lnTo>
                  <a:pt x="27478" y="834780"/>
                </a:lnTo>
                <a:lnTo>
                  <a:pt x="42412" y="878510"/>
                </a:lnTo>
                <a:lnTo>
                  <a:pt x="60320" y="920773"/>
                </a:lnTo>
                <a:lnTo>
                  <a:pt x="81077" y="961444"/>
                </a:lnTo>
                <a:lnTo>
                  <a:pt x="104558" y="1000398"/>
                </a:lnTo>
                <a:lnTo>
                  <a:pt x="130637" y="1037511"/>
                </a:lnTo>
                <a:lnTo>
                  <a:pt x="159188" y="1072656"/>
                </a:lnTo>
                <a:lnTo>
                  <a:pt x="190087" y="1105709"/>
                </a:lnTo>
                <a:lnTo>
                  <a:pt x="223207" y="1136545"/>
                </a:lnTo>
                <a:lnTo>
                  <a:pt x="258422" y="1165037"/>
                </a:lnTo>
                <a:lnTo>
                  <a:pt x="295608" y="1191062"/>
                </a:lnTo>
                <a:lnTo>
                  <a:pt x="334639" y="1214494"/>
                </a:lnTo>
                <a:lnTo>
                  <a:pt x="375390" y="1235208"/>
                </a:lnTo>
                <a:lnTo>
                  <a:pt x="417734" y="1253078"/>
                </a:lnTo>
                <a:lnTo>
                  <a:pt x="461547" y="1267980"/>
                </a:lnTo>
                <a:lnTo>
                  <a:pt x="506702" y="1279788"/>
                </a:lnTo>
                <a:lnTo>
                  <a:pt x="553074" y="1288378"/>
                </a:lnTo>
                <a:lnTo>
                  <a:pt x="600539" y="1293623"/>
                </a:lnTo>
                <a:lnTo>
                  <a:pt x="648969" y="1295400"/>
                </a:lnTo>
                <a:lnTo>
                  <a:pt x="697400" y="1293623"/>
                </a:lnTo>
                <a:lnTo>
                  <a:pt x="744865" y="1288378"/>
                </a:lnTo>
                <a:lnTo>
                  <a:pt x="791237" y="1279788"/>
                </a:lnTo>
                <a:lnTo>
                  <a:pt x="836392" y="1267980"/>
                </a:lnTo>
                <a:lnTo>
                  <a:pt x="880205" y="1253078"/>
                </a:lnTo>
                <a:lnTo>
                  <a:pt x="922549" y="1235208"/>
                </a:lnTo>
                <a:lnTo>
                  <a:pt x="963300" y="1214494"/>
                </a:lnTo>
                <a:lnTo>
                  <a:pt x="1002331" y="1191062"/>
                </a:lnTo>
                <a:lnTo>
                  <a:pt x="1039517" y="1165037"/>
                </a:lnTo>
                <a:lnTo>
                  <a:pt x="1074732" y="1136545"/>
                </a:lnTo>
                <a:lnTo>
                  <a:pt x="1107852" y="1105709"/>
                </a:lnTo>
                <a:lnTo>
                  <a:pt x="1138751" y="1072656"/>
                </a:lnTo>
                <a:lnTo>
                  <a:pt x="1167302" y="1037511"/>
                </a:lnTo>
                <a:lnTo>
                  <a:pt x="1193381" y="1000398"/>
                </a:lnTo>
                <a:lnTo>
                  <a:pt x="1216862" y="961444"/>
                </a:lnTo>
                <a:lnTo>
                  <a:pt x="1237619" y="920773"/>
                </a:lnTo>
                <a:lnTo>
                  <a:pt x="1255527" y="878510"/>
                </a:lnTo>
                <a:lnTo>
                  <a:pt x="1270461" y="834780"/>
                </a:lnTo>
                <a:lnTo>
                  <a:pt x="1282295" y="789709"/>
                </a:lnTo>
                <a:lnTo>
                  <a:pt x="1290902" y="743422"/>
                </a:lnTo>
                <a:lnTo>
                  <a:pt x="1296159" y="696044"/>
                </a:lnTo>
                <a:lnTo>
                  <a:pt x="1297939" y="647700"/>
                </a:lnTo>
                <a:lnTo>
                  <a:pt x="1296159" y="599355"/>
                </a:lnTo>
                <a:lnTo>
                  <a:pt x="1290902" y="551977"/>
                </a:lnTo>
                <a:lnTo>
                  <a:pt x="1282295" y="505690"/>
                </a:lnTo>
                <a:lnTo>
                  <a:pt x="1270461" y="460619"/>
                </a:lnTo>
                <a:lnTo>
                  <a:pt x="1255527" y="416889"/>
                </a:lnTo>
                <a:lnTo>
                  <a:pt x="1237619" y="374626"/>
                </a:lnTo>
                <a:lnTo>
                  <a:pt x="1216862" y="333955"/>
                </a:lnTo>
                <a:lnTo>
                  <a:pt x="1193381" y="295001"/>
                </a:lnTo>
                <a:lnTo>
                  <a:pt x="1167302" y="257888"/>
                </a:lnTo>
                <a:lnTo>
                  <a:pt x="1138751" y="222743"/>
                </a:lnTo>
                <a:lnTo>
                  <a:pt x="1107852" y="189690"/>
                </a:lnTo>
                <a:lnTo>
                  <a:pt x="1074732" y="158854"/>
                </a:lnTo>
                <a:lnTo>
                  <a:pt x="1039517" y="130362"/>
                </a:lnTo>
                <a:lnTo>
                  <a:pt x="1002331" y="104337"/>
                </a:lnTo>
                <a:lnTo>
                  <a:pt x="963300" y="80905"/>
                </a:lnTo>
                <a:lnTo>
                  <a:pt x="922549" y="60191"/>
                </a:lnTo>
                <a:lnTo>
                  <a:pt x="880205" y="42321"/>
                </a:lnTo>
                <a:lnTo>
                  <a:pt x="836392" y="27419"/>
                </a:lnTo>
                <a:lnTo>
                  <a:pt x="791237" y="15611"/>
                </a:lnTo>
                <a:lnTo>
                  <a:pt x="744865" y="7021"/>
                </a:lnTo>
                <a:lnTo>
                  <a:pt x="697400" y="1776"/>
                </a:lnTo>
                <a:lnTo>
                  <a:pt x="648969" y="0"/>
                </a:lnTo>
                <a:close/>
              </a:path>
            </a:pathLst>
          </a:custGeom>
          <a:solidFill>
            <a:srgbClr val="FFFFFF"/>
          </a:solidFill>
        </p:spPr>
        <p:txBody>
          <a:bodyPr wrap="square" lIns="0" tIns="0" rIns="0" bIns="0" rtlCol="0"/>
          <a:lstStyle/>
          <a:p>
            <a:endParaRPr sz="1050"/>
          </a:p>
        </p:txBody>
      </p:sp>
      <p:sp>
        <p:nvSpPr>
          <p:cNvPr id="8" name="object 8"/>
          <p:cNvSpPr/>
          <p:nvPr/>
        </p:nvSpPr>
        <p:spPr>
          <a:xfrm>
            <a:off x="3993832" y="23813"/>
            <a:ext cx="973455" cy="971550"/>
          </a:xfrm>
          <a:custGeom>
            <a:avLst/>
            <a:gdLst/>
            <a:ahLst/>
            <a:cxnLst/>
            <a:rect l="l" t="t" r="r" b="b"/>
            <a:pathLst>
              <a:path w="1297940" h="1295400">
                <a:moveTo>
                  <a:pt x="0" y="647700"/>
                </a:moveTo>
                <a:lnTo>
                  <a:pt x="1780" y="599355"/>
                </a:lnTo>
                <a:lnTo>
                  <a:pt x="7037" y="551977"/>
                </a:lnTo>
                <a:lnTo>
                  <a:pt x="15644" y="505690"/>
                </a:lnTo>
                <a:lnTo>
                  <a:pt x="27478" y="460619"/>
                </a:lnTo>
                <a:lnTo>
                  <a:pt x="42412" y="416889"/>
                </a:lnTo>
                <a:lnTo>
                  <a:pt x="60320" y="374626"/>
                </a:lnTo>
                <a:lnTo>
                  <a:pt x="81077" y="333955"/>
                </a:lnTo>
                <a:lnTo>
                  <a:pt x="104558" y="295001"/>
                </a:lnTo>
                <a:lnTo>
                  <a:pt x="130637" y="257888"/>
                </a:lnTo>
                <a:lnTo>
                  <a:pt x="159188" y="222743"/>
                </a:lnTo>
                <a:lnTo>
                  <a:pt x="190087" y="189690"/>
                </a:lnTo>
                <a:lnTo>
                  <a:pt x="223207" y="158854"/>
                </a:lnTo>
                <a:lnTo>
                  <a:pt x="258422" y="130362"/>
                </a:lnTo>
                <a:lnTo>
                  <a:pt x="295608" y="104337"/>
                </a:lnTo>
                <a:lnTo>
                  <a:pt x="334639" y="80905"/>
                </a:lnTo>
                <a:lnTo>
                  <a:pt x="375390" y="60191"/>
                </a:lnTo>
                <a:lnTo>
                  <a:pt x="417734" y="42321"/>
                </a:lnTo>
                <a:lnTo>
                  <a:pt x="461547" y="27419"/>
                </a:lnTo>
                <a:lnTo>
                  <a:pt x="506702" y="15611"/>
                </a:lnTo>
                <a:lnTo>
                  <a:pt x="553074" y="7021"/>
                </a:lnTo>
                <a:lnTo>
                  <a:pt x="600539" y="1776"/>
                </a:lnTo>
                <a:lnTo>
                  <a:pt x="648969" y="0"/>
                </a:lnTo>
                <a:lnTo>
                  <a:pt x="697400" y="1776"/>
                </a:lnTo>
                <a:lnTo>
                  <a:pt x="744865" y="7021"/>
                </a:lnTo>
                <a:lnTo>
                  <a:pt x="791237" y="15611"/>
                </a:lnTo>
                <a:lnTo>
                  <a:pt x="836392" y="27419"/>
                </a:lnTo>
                <a:lnTo>
                  <a:pt x="880205" y="42321"/>
                </a:lnTo>
                <a:lnTo>
                  <a:pt x="922549" y="60191"/>
                </a:lnTo>
                <a:lnTo>
                  <a:pt x="963300" y="80905"/>
                </a:lnTo>
                <a:lnTo>
                  <a:pt x="1002331" y="104337"/>
                </a:lnTo>
                <a:lnTo>
                  <a:pt x="1039517" y="130362"/>
                </a:lnTo>
                <a:lnTo>
                  <a:pt x="1074732" y="158854"/>
                </a:lnTo>
                <a:lnTo>
                  <a:pt x="1107852" y="189690"/>
                </a:lnTo>
                <a:lnTo>
                  <a:pt x="1138751" y="222743"/>
                </a:lnTo>
                <a:lnTo>
                  <a:pt x="1167302" y="257888"/>
                </a:lnTo>
                <a:lnTo>
                  <a:pt x="1193381" y="295001"/>
                </a:lnTo>
                <a:lnTo>
                  <a:pt x="1216862" y="333955"/>
                </a:lnTo>
                <a:lnTo>
                  <a:pt x="1237619" y="374626"/>
                </a:lnTo>
                <a:lnTo>
                  <a:pt x="1255527" y="416889"/>
                </a:lnTo>
                <a:lnTo>
                  <a:pt x="1270461" y="460619"/>
                </a:lnTo>
                <a:lnTo>
                  <a:pt x="1282295" y="505690"/>
                </a:lnTo>
                <a:lnTo>
                  <a:pt x="1290902" y="551977"/>
                </a:lnTo>
                <a:lnTo>
                  <a:pt x="1296159" y="599355"/>
                </a:lnTo>
                <a:lnTo>
                  <a:pt x="1297939" y="647700"/>
                </a:lnTo>
                <a:lnTo>
                  <a:pt x="1296159" y="696044"/>
                </a:lnTo>
                <a:lnTo>
                  <a:pt x="1290902" y="743422"/>
                </a:lnTo>
                <a:lnTo>
                  <a:pt x="1282295" y="789709"/>
                </a:lnTo>
                <a:lnTo>
                  <a:pt x="1270461" y="834780"/>
                </a:lnTo>
                <a:lnTo>
                  <a:pt x="1255527" y="878510"/>
                </a:lnTo>
                <a:lnTo>
                  <a:pt x="1237619" y="920773"/>
                </a:lnTo>
                <a:lnTo>
                  <a:pt x="1216862" y="961444"/>
                </a:lnTo>
                <a:lnTo>
                  <a:pt x="1193381" y="1000398"/>
                </a:lnTo>
                <a:lnTo>
                  <a:pt x="1167302" y="1037511"/>
                </a:lnTo>
                <a:lnTo>
                  <a:pt x="1138751" y="1072656"/>
                </a:lnTo>
                <a:lnTo>
                  <a:pt x="1107852" y="1105709"/>
                </a:lnTo>
                <a:lnTo>
                  <a:pt x="1074732" y="1136545"/>
                </a:lnTo>
                <a:lnTo>
                  <a:pt x="1039517" y="1165037"/>
                </a:lnTo>
                <a:lnTo>
                  <a:pt x="1002331" y="1191062"/>
                </a:lnTo>
                <a:lnTo>
                  <a:pt x="963300" y="1214494"/>
                </a:lnTo>
                <a:lnTo>
                  <a:pt x="922549" y="1235208"/>
                </a:lnTo>
                <a:lnTo>
                  <a:pt x="880205" y="1253078"/>
                </a:lnTo>
                <a:lnTo>
                  <a:pt x="836392" y="1267980"/>
                </a:lnTo>
                <a:lnTo>
                  <a:pt x="791237" y="1279788"/>
                </a:lnTo>
                <a:lnTo>
                  <a:pt x="744865" y="1288378"/>
                </a:lnTo>
                <a:lnTo>
                  <a:pt x="697400" y="1293623"/>
                </a:lnTo>
                <a:lnTo>
                  <a:pt x="648969" y="1295400"/>
                </a:lnTo>
                <a:lnTo>
                  <a:pt x="600539" y="1293623"/>
                </a:lnTo>
                <a:lnTo>
                  <a:pt x="553074" y="1288378"/>
                </a:lnTo>
                <a:lnTo>
                  <a:pt x="506702" y="1279788"/>
                </a:lnTo>
                <a:lnTo>
                  <a:pt x="461547" y="1267980"/>
                </a:lnTo>
                <a:lnTo>
                  <a:pt x="417734" y="1253078"/>
                </a:lnTo>
                <a:lnTo>
                  <a:pt x="375390" y="1235208"/>
                </a:lnTo>
                <a:lnTo>
                  <a:pt x="334639" y="1214494"/>
                </a:lnTo>
                <a:lnTo>
                  <a:pt x="295608" y="1191062"/>
                </a:lnTo>
                <a:lnTo>
                  <a:pt x="258422" y="1165037"/>
                </a:lnTo>
                <a:lnTo>
                  <a:pt x="223207" y="1136545"/>
                </a:lnTo>
                <a:lnTo>
                  <a:pt x="190087" y="1105709"/>
                </a:lnTo>
                <a:lnTo>
                  <a:pt x="159188" y="1072656"/>
                </a:lnTo>
                <a:lnTo>
                  <a:pt x="130637" y="1037511"/>
                </a:lnTo>
                <a:lnTo>
                  <a:pt x="104558" y="1000398"/>
                </a:lnTo>
                <a:lnTo>
                  <a:pt x="81077" y="961444"/>
                </a:lnTo>
                <a:lnTo>
                  <a:pt x="60320" y="920773"/>
                </a:lnTo>
                <a:lnTo>
                  <a:pt x="42412" y="878510"/>
                </a:lnTo>
                <a:lnTo>
                  <a:pt x="27478" y="834780"/>
                </a:lnTo>
                <a:lnTo>
                  <a:pt x="15644" y="789709"/>
                </a:lnTo>
                <a:lnTo>
                  <a:pt x="7037" y="743422"/>
                </a:lnTo>
                <a:lnTo>
                  <a:pt x="1780" y="696044"/>
                </a:lnTo>
                <a:lnTo>
                  <a:pt x="0" y="647700"/>
                </a:lnTo>
                <a:close/>
              </a:path>
            </a:pathLst>
          </a:custGeom>
          <a:ln w="12700">
            <a:solidFill>
              <a:srgbClr val="3C67B0"/>
            </a:solidFill>
          </a:ln>
        </p:spPr>
        <p:txBody>
          <a:bodyPr wrap="square" lIns="0" tIns="0" rIns="0" bIns="0" rtlCol="0"/>
          <a:lstStyle/>
          <a:p>
            <a:endParaRPr sz="1050"/>
          </a:p>
        </p:txBody>
      </p:sp>
      <p:sp>
        <p:nvSpPr>
          <p:cNvPr id="9" name="object 9"/>
          <p:cNvSpPr txBox="1"/>
          <p:nvPr/>
        </p:nvSpPr>
        <p:spPr>
          <a:xfrm>
            <a:off x="4240816" y="396049"/>
            <a:ext cx="478631" cy="182742"/>
          </a:xfrm>
          <a:prstGeom prst="rect">
            <a:avLst/>
          </a:prstGeom>
        </p:spPr>
        <p:txBody>
          <a:bodyPr vert="horz" wrap="square" lIns="0" tIns="9525" rIns="0" bIns="0" rtlCol="0">
            <a:spAutoFit/>
          </a:bodyPr>
          <a:lstStyle/>
          <a:p>
            <a:pPr marL="9525">
              <a:spcBef>
                <a:spcPts val="75"/>
              </a:spcBef>
            </a:pPr>
            <a:r>
              <a:rPr sz="1125" spc="-4" dirty="0">
                <a:latin typeface="Calibri Light"/>
                <a:cs typeface="Calibri Light"/>
              </a:rPr>
              <a:t>Big</a:t>
            </a:r>
            <a:r>
              <a:rPr sz="1125" spc="-45" dirty="0">
                <a:latin typeface="Calibri Light"/>
                <a:cs typeface="Calibri Light"/>
              </a:rPr>
              <a:t> </a:t>
            </a:r>
            <a:r>
              <a:rPr sz="1125" spc="-11" dirty="0">
                <a:latin typeface="Calibri Light"/>
                <a:cs typeface="Calibri Light"/>
              </a:rPr>
              <a:t>data</a:t>
            </a:r>
            <a:endParaRPr sz="1125">
              <a:latin typeface="Calibri Light"/>
              <a:cs typeface="Calibri Light"/>
            </a:endParaRPr>
          </a:p>
        </p:txBody>
      </p:sp>
      <p:sp>
        <p:nvSpPr>
          <p:cNvPr id="10" name="object 10"/>
          <p:cNvSpPr/>
          <p:nvPr/>
        </p:nvSpPr>
        <p:spPr>
          <a:xfrm>
            <a:off x="4944522" y="720089"/>
            <a:ext cx="273844" cy="292418"/>
          </a:xfrm>
          <a:custGeom>
            <a:avLst/>
            <a:gdLst/>
            <a:ahLst/>
            <a:cxnLst/>
            <a:rect l="l" t="t" r="r" b="b"/>
            <a:pathLst>
              <a:path w="365125" h="389890">
                <a:moveTo>
                  <a:pt x="131318" y="0"/>
                </a:moveTo>
                <a:lnTo>
                  <a:pt x="0" y="227329"/>
                </a:lnTo>
                <a:lnTo>
                  <a:pt x="149605" y="313689"/>
                </a:lnTo>
                <a:lnTo>
                  <a:pt x="105918" y="389381"/>
                </a:lnTo>
                <a:lnTo>
                  <a:pt x="364744" y="286384"/>
                </a:lnTo>
                <a:lnTo>
                  <a:pt x="335642" y="86359"/>
                </a:lnTo>
                <a:lnTo>
                  <a:pt x="280797" y="86359"/>
                </a:lnTo>
                <a:lnTo>
                  <a:pt x="131318" y="0"/>
                </a:lnTo>
                <a:close/>
              </a:path>
              <a:path w="365125" h="389890">
                <a:moveTo>
                  <a:pt x="324611" y="10540"/>
                </a:moveTo>
                <a:lnTo>
                  <a:pt x="280797" y="86359"/>
                </a:lnTo>
                <a:lnTo>
                  <a:pt x="335642" y="86359"/>
                </a:lnTo>
                <a:lnTo>
                  <a:pt x="324611" y="10540"/>
                </a:lnTo>
                <a:close/>
              </a:path>
            </a:pathLst>
          </a:custGeom>
          <a:solidFill>
            <a:srgbClr val="AFBBDE"/>
          </a:solidFill>
        </p:spPr>
        <p:txBody>
          <a:bodyPr wrap="square" lIns="0" tIns="0" rIns="0" bIns="0" rtlCol="0"/>
          <a:lstStyle/>
          <a:p>
            <a:endParaRPr sz="1050"/>
          </a:p>
        </p:txBody>
      </p:sp>
      <p:sp>
        <p:nvSpPr>
          <p:cNvPr id="11" name="object 11"/>
          <p:cNvSpPr/>
          <p:nvPr/>
        </p:nvSpPr>
        <p:spPr>
          <a:xfrm>
            <a:off x="5260657" y="753427"/>
            <a:ext cx="971550" cy="973455"/>
          </a:xfrm>
          <a:custGeom>
            <a:avLst/>
            <a:gdLst/>
            <a:ahLst/>
            <a:cxnLst/>
            <a:rect l="l" t="t" r="r" b="b"/>
            <a:pathLst>
              <a:path w="1295400" h="1297939">
                <a:moveTo>
                  <a:pt x="647700" y="0"/>
                </a:moveTo>
                <a:lnTo>
                  <a:pt x="599355" y="1780"/>
                </a:lnTo>
                <a:lnTo>
                  <a:pt x="551977" y="7037"/>
                </a:lnTo>
                <a:lnTo>
                  <a:pt x="505690" y="15644"/>
                </a:lnTo>
                <a:lnTo>
                  <a:pt x="460619" y="27478"/>
                </a:lnTo>
                <a:lnTo>
                  <a:pt x="416889" y="42412"/>
                </a:lnTo>
                <a:lnTo>
                  <a:pt x="374626" y="60320"/>
                </a:lnTo>
                <a:lnTo>
                  <a:pt x="333955" y="81077"/>
                </a:lnTo>
                <a:lnTo>
                  <a:pt x="295001" y="104558"/>
                </a:lnTo>
                <a:lnTo>
                  <a:pt x="257888" y="130637"/>
                </a:lnTo>
                <a:lnTo>
                  <a:pt x="222743" y="159188"/>
                </a:lnTo>
                <a:lnTo>
                  <a:pt x="189690" y="190087"/>
                </a:lnTo>
                <a:lnTo>
                  <a:pt x="158854" y="223207"/>
                </a:lnTo>
                <a:lnTo>
                  <a:pt x="130362" y="258422"/>
                </a:lnTo>
                <a:lnTo>
                  <a:pt x="104337" y="295608"/>
                </a:lnTo>
                <a:lnTo>
                  <a:pt x="80905" y="334639"/>
                </a:lnTo>
                <a:lnTo>
                  <a:pt x="60191" y="375390"/>
                </a:lnTo>
                <a:lnTo>
                  <a:pt x="42321" y="417734"/>
                </a:lnTo>
                <a:lnTo>
                  <a:pt x="27419" y="461547"/>
                </a:lnTo>
                <a:lnTo>
                  <a:pt x="15611" y="506702"/>
                </a:lnTo>
                <a:lnTo>
                  <a:pt x="7021" y="553074"/>
                </a:lnTo>
                <a:lnTo>
                  <a:pt x="1776" y="600539"/>
                </a:lnTo>
                <a:lnTo>
                  <a:pt x="0" y="648969"/>
                </a:lnTo>
                <a:lnTo>
                  <a:pt x="1776" y="697400"/>
                </a:lnTo>
                <a:lnTo>
                  <a:pt x="7021" y="744865"/>
                </a:lnTo>
                <a:lnTo>
                  <a:pt x="15611" y="791237"/>
                </a:lnTo>
                <a:lnTo>
                  <a:pt x="27419" y="836392"/>
                </a:lnTo>
                <a:lnTo>
                  <a:pt x="42321" y="880205"/>
                </a:lnTo>
                <a:lnTo>
                  <a:pt x="60191" y="922549"/>
                </a:lnTo>
                <a:lnTo>
                  <a:pt x="80905" y="963300"/>
                </a:lnTo>
                <a:lnTo>
                  <a:pt x="104337" y="1002331"/>
                </a:lnTo>
                <a:lnTo>
                  <a:pt x="130362" y="1039517"/>
                </a:lnTo>
                <a:lnTo>
                  <a:pt x="158854" y="1074732"/>
                </a:lnTo>
                <a:lnTo>
                  <a:pt x="189690" y="1107852"/>
                </a:lnTo>
                <a:lnTo>
                  <a:pt x="222743" y="1138751"/>
                </a:lnTo>
                <a:lnTo>
                  <a:pt x="257888" y="1167302"/>
                </a:lnTo>
                <a:lnTo>
                  <a:pt x="295001" y="1193381"/>
                </a:lnTo>
                <a:lnTo>
                  <a:pt x="333955" y="1216862"/>
                </a:lnTo>
                <a:lnTo>
                  <a:pt x="374626" y="1237619"/>
                </a:lnTo>
                <a:lnTo>
                  <a:pt x="416889" y="1255527"/>
                </a:lnTo>
                <a:lnTo>
                  <a:pt x="460619" y="1270461"/>
                </a:lnTo>
                <a:lnTo>
                  <a:pt x="505690" y="1282295"/>
                </a:lnTo>
                <a:lnTo>
                  <a:pt x="551977" y="1290902"/>
                </a:lnTo>
                <a:lnTo>
                  <a:pt x="599355" y="1296159"/>
                </a:lnTo>
                <a:lnTo>
                  <a:pt x="647700" y="1297939"/>
                </a:lnTo>
                <a:lnTo>
                  <a:pt x="696044" y="1296159"/>
                </a:lnTo>
                <a:lnTo>
                  <a:pt x="743422" y="1290902"/>
                </a:lnTo>
                <a:lnTo>
                  <a:pt x="789709" y="1282295"/>
                </a:lnTo>
                <a:lnTo>
                  <a:pt x="834780" y="1270461"/>
                </a:lnTo>
                <a:lnTo>
                  <a:pt x="878510" y="1255527"/>
                </a:lnTo>
                <a:lnTo>
                  <a:pt x="920773" y="1237619"/>
                </a:lnTo>
                <a:lnTo>
                  <a:pt x="961444" y="1216862"/>
                </a:lnTo>
                <a:lnTo>
                  <a:pt x="1000398" y="1193381"/>
                </a:lnTo>
                <a:lnTo>
                  <a:pt x="1037511" y="1167302"/>
                </a:lnTo>
                <a:lnTo>
                  <a:pt x="1072656" y="1138751"/>
                </a:lnTo>
                <a:lnTo>
                  <a:pt x="1105709" y="1107852"/>
                </a:lnTo>
                <a:lnTo>
                  <a:pt x="1136545" y="1074732"/>
                </a:lnTo>
                <a:lnTo>
                  <a:pt x="1165037" y="1039517"/>
                </a:lnTo>
                <a:lnTo>
                  <a:pt x="1191062" y="1002331"/>
                </a:lnTo>
                <a:lnTo>
                  <a:pt x="1214494" y="963300"/>
                </a:lnTo>
                <a:lnTo>
                  <a:pt x="1235208" y="922549"/>
                </a:lnTo>
                <a:lnTo>
                  <a:pt x="1253078" y="880205"/>
                </a:lnTo>
                <a:lnTo>
                  <a:pt x="1267980" y="836392"/>
                </a:lnTo>
                <a:lnTo>
                  <a:pt x="1279788" y="791237"/>
                </a:lnTo>
                <a:lnTo>
                  <a:pt x="1288378" y="744865"/>
                </a:lnTo>
                <a:lnTo>
                  <a:pt x="1293623" y="697400"/>
                </a:lnTo>
                <a:lnTo>
                  <a:pt x="1295400" y="648969"/>
                </a:lnTo>
                <a:lnTo>
                  <a:pt x="1293623" y="600539"/>
                </a:lnTo>
                <a:lnTo>
                  <a:pt x="1288378" y="553074"/>
                </a:lnTo>
                <a:lnTo>
                  <a:pt x="1279788" y="506702"/>
                </a:lnTo>
                <a:lnTo>
                  <a:pt x="1267980" y="461547"/>
                </a:lnTo>
                <a:lnTo>
                  <a:pt x="1253078" y="417734"/>
                </a:lnTo>
                <a:lnTo>
                  <a:pt x="1235208" y="375390"/>
                </a:lnTo>
                <a:lnTo>
                  <a:pt x="1214494" y="334639"/>
                </a:lnTo>
                <a:lnTo>
                  <a:pt x="1191062" y="295608"/>
                </a:lnTo>
                <a:lnTo>
                  <a:pt x="1165037" y="258422"/>
                </a:lnTo>
                <a:lnTo>
                  <a:pt x="1136545" y="223207"/>
                </a:lnTo>
                <a:lnTo>
                  <a:pt x="1105709" y="190087"/>
                </a:lnTo>
                <a:lnTo>
                  <a:pt x="1072656" y="159188"/>
                </a:lnTo>
                <a:lnTo>
                  <a:pt x="1037511" y="130637"/>
                </a:lnTo>
                <a:lnTo>
                  <a:pt x="1000398" y="104558"/>
                </a:lnTo>
                <a:lnTo>
                  <a:pt x="961444" y="81077"/>
                </a:lnTo>
                <a:lnTo>
                  <a:pt x="920773" y="60320"/>
                </a:lnTo>
                <a:lnTo>
                  <a:pt x="878510" y="42412"/>
                </a:lnTo>
                <a:lnTo>
                  <a:pt x="834780" y="27478"/>
                </a:lnTo>
                <a:lnTo>
                  <a:pt x="789709" y="15644"/>
                </a:lnTo>
                <a:lnTo>
                  <a:pt x="743422" y="7037"/>
                </a:lnTo>
                <a:lnTo>
                  <a:pt x="696044" y="1780"/>
                </a:lnTo>
                <a:lnTo>
                  <a:pt x="647700" y="0"/>
                </a:lnTo>
                <a:close/>
              </a:path>
            </a:pathLst>
          </a:custGeom>
          <a:solidFill>
            <a:srgbClr val="FFFFFF"/>
          </a:solidFill>
        </p:spPr>
        <p:txBody>
          <a:bodyPr wrap="square" lIns="0" tIns="0" rIns="0" bIns="0" rtlCol="0"/>
          <a:lstStyle/>
          <a:p>
            <a:endParaRPr sz="1050"/>
          </a:p>
        </p:txBody>
      </p:sp>
      <p:sp>
        <p:nvSpPr>
          <p:cNvPr id="12" name="object 12"/>
          <p:cNvSpPr/>
          <p:nvPr/>
        </p:nvSpPr>
        <p:spPr>
          <a:xfrm>
            <a:off x="5260657" y="753427"/>
            <a:ext cx="971550" cy="973455"/>
          </a:xfrm>
          <a:custGeom>
            <a:avLst/>
            <a:gdLst/>
            <a:ahLst/>
            <a:cxnLst/>
            <a:rect l="l" t="t" r="r" b="b"/>
            <a:pathLst>
              <a:path w="1295400" h="1297939">
                <a:moveTo>
                  <a:pt x="0" y="648969"/>
                </a:moveTo>
                <a:lnTo>
                  <a:pt x="1776" y="600539"/>
                </a:lnTo>
                <a:lnTo>
                  <a:pt x="7021" y="553074"/>
                </a:lnTo>
                <a:lnTo>
                  <a:pt x="15611" y="506702"/>
                </a:lnTo>
                <a:lnTo>
                  <a:pt x="27419" y="461547"/>
                </a:lnTo>
                <a:lnTo>
                  <a:pt x="42321" y="417734"/>
                </a:lnTo>
                <a:lnTo>
                  <a:pt x="60191" y="375390"/>
                </a:lnTo>
                <a:lnTo>
                  <a:pt x="80905" y="334639"/>
                </a:lnTo>
                <a:lnTo>
                  <a:pt x="104337" y="295608"/>
                </a:lnTo>
                <a:lnTo>
                  <a:pt x="130362" y="258422"/>
                </a:lnTo>
                <a:lnTo>
                  <a:pt x="158854" y="223207"/>
                </a:lnTo>
                <a:lnTo>
                  <a:pt x="189690" y="190087"/>
                </a:lnTo>
                <a:lnTo>
                  <a:pt x="222743" y="159188"/>
                </a:lnTo>
                <a:lnTo>
                  <a:pt x="257888" y="130637"/>
                </a:lnTo>
                <a:lnTo>
                  <a:pt x="295001" y="104558"/>
                </a:lnTo>
                <a:lnTo>
                  <a:pt x="333955" y="81077"/>
                </a:lnTo>
                <a:lnTo>
                  <a:pt x="374626" y="60320"/>
                </a:lnTo>
                <a:lnTo>
                  <a:pt x="416889" y="42412"/>
                </a:lnTo>
                <a:lnTo>
                  <a:pt x="460619" y="27478"/>
                </a:lnTo>
                <a:lnTo>
                  <a:pt x="505690" y="15644"/>
                </a:lnTo>
                <a:lnTo>
                  <a:pt x="551977" y="7037"/>
                </a:lnTo>
                <a:lnTo>
                  <a:pt x="599355" y="1780"/>
                </a:lnTo>
                <a:lnTo>
                  <a:pt x="647700" y="0"/>
                </a:lnTo>
                <a:lnTo>
                  <a:pt x="696044" y="1780"/>
                </a:lnTo>
                <a:lnTo>
                  <a:pt x="743422" y="7037"/>
                </a:lnTo>
                <a:lnTo>
                  <a:pt x="789709" y="15644"/>
                </a:lnTo>
                <a:lnTo>
                  <a:pt x="834780" y="27478"/>
                </a:lnTo>
                <a:lnTo>
                  <a:pt x="878510" y="42412"/>
                </a:lnTo>
                <a:lnTo>
                  <a:pt x="920773" y="60320"/>
                </a:lnTo>
                <a:lnTo>
                  <a:pt x="961444" y="81077"/>
                </a:lnTo>
                <a:lnTo>
                  <a:pt x="1000398" y="104558"/>
                </a:lnTo>
                <a:lnTo>
                  <a:pt x="1037511" y="130637"/>
                </a:lnTo>
                <a:lnTo>
                  <a:pt x="1072656" y="159188"/>
                </a:lnTo>
                <a:lnTo>
                  <a:pt x="1105709" y="190087"/>
                </a:lnTo>
                <a:lnTo>
                  <a:pt x="1136545" y="223207"/>
                </a:lnTo>
                <a:lnTo>
                  <a:pt x="1165037" y="258422"/>
                </a:lnTo>
                <a:lnTo>
                  <a:pt x="1191062" y="295608"/>
                </a:lnTo>
                <a:lnTo>
                  <a:pt x="1214494" y="334639"/>
                </a:lnTo>
                <a:lnTo>
                  <a:pt x="1235208" y="375390"/>
                </a:lnTo>
                <a:lnTo>
                  <a:pt x="1253078" y="417734"/>
                </a:lnTo>
                <a:lnTo>
                  <a:pt x="1267980" y="461547"/>
                </a:lnTo>
                <a:lnTo>
                  <a:pt x="1279788" y="506702"/>
                </a:lnTo>
                <a:lnTo>
                  <a:pt x="1288378" y="553074"/>
                </a:lnTo>
                <a:lnTo>
                  <a:pt x="1293623" y="600539"/>
                </a:lnTo>
                <a:lnTo>
                  <a:pt x="1295400" y="648969"/>
                </a:lnTo>
                <a:lnTo>
                  <a:pt x="1293623" y="697400"/>
                </a:lnTo>
                <a:lnTo>
                  <a:pt x="1288378" y="744865"/>
                </a:lnTo>
                <a:lnTo>
                  <a:pt x="1279788" y="791237"/>
                </a:lnTo>
                <a:lnTo>
                  <a:pt x="1267980" y="836392"/>
                </a:lnTo>
                <a:lnTo>
                  <a:pt x="1253078" y="880205"/>
                </a:lnTo>
                <a:lnTo>
                  <a:pt x="1235208" y="922549"/>
                </a:lnTo>
                <a:lnTo>
                  <a:pt x="1214494" y="963300"/>
                </a:lnTo>
                <a:lnTo>
                  <a:pt x="1191062" y="1002331"/>
                </a:lnTo>
                <a:lnTo>
                  <a:pt x="1165037" y="1039517"/>
                </a:lnTo>
                <a:lnTo>
                  <a:pt x="1136545" y="1074732"/>
                </a:lnTo>
                <a:lnTo>
                  <a:pt x="1105709" y="1107852"/>
                </a:lnTo>
                <a:lnTo>
                  <a:pt x="1072656" y="1138751"/>
                </a:lnTo>
                <a:lnTo>
                  <a:pt x="1037511" y="1167302"/>
                </a:lnTo>
                <a:lnTo>
                  <a:pt x="1000398" y="1193381"/>
                </a:lnTo>
                <a:lnTo>
                  <a:pt x="961444" y="1216862"/>
                </a:lnTo>
                <a:lnTo>
                  <a:pt x="920773" y="1237619"/>
                </a:lnTo>
                <a:lnTo>
                  <a:pt x="878510" y="1255527"/>
                </a:lnTo>
                <a:lnTo>
                  <a:pt x="834780" y="1270461"/>
                </a:lnTo>
                <a:lnTo>
                  <a:pt x="789709" y="1282295"/>
                </a:lnTo>
                <a:lnTo>
                  <a:pt x="743422" y="1290902"/>
                </a:lnTo>
                <a:lnTo>
                  <a:pt x="696044" y="1296159"/>
                </a:lnTo>
                <a:lnTo>
                  <a:pt x="647700" y="1297939"/>
                </a:lnTo>
                <a:lnTo>
                  <a:pt x="599355" y="1296159"/>
                </a:lnTo>
                <a:lnTo>
                  <a:pt x="551977" y="1290902"/>
                </a:lnTo>
                <a:lnTo>
                  <a:pt x="505690" y="1282295"/>
                </a:lnTo>
                <a:lnTo>
                  <a:pt x="460619" y="1270461"/>
                </a:lnTo>
                <a:lnTo>
                  <a:pt x="416889" y="1255527"/>
                </a:lnTo>
                <a:lnTo>
                  <a:pt x="374626" y="1237619"/>
                </a:lnTo>
                <a:lnTo>
                  <a:pt x="333955" y="1216862"/>
                </a:lnTo>
                <a:lnTo>
                  <a:pt x="295001" y="1193381"/>
                </a:lnTo>
                <a:lnTo>
                  <a:pt x="257888" y="1167302"/>
                </a:lnTo>
                <a:lnTo>
                  <a:pt x="222743" y="1138751"/>
                </a:lnTo>
                <a:lnTo>
                  <a:pt x="189690" y="1107852"/>
                </a:lnTo>
                <a:lnTo>
                  <a:pt x="158854" y="1074732"/>
                </a:lnTo>
                <a:lnTo>
                  <a:pt x="130362" y="1039517"/>
                </a:lnTo>
                <a:lnTo>
                  <a:pt x="104337" y="1002331"/>
                </a:lnTo>
                <a:lnTo>
                  <a:pt x="80905" y="963300"/>
                </a:lnTo>
                <a:lnTo>
                  <a:pt x="60191" y="922549"/>
                </a:lnTo>
                <a:lnTo>
                  <a:pt x="42321" y="880205"/>
                </a:lnTo>
                <a:lnTo>
                  <a:pt x="27419" y="836392"/>
                </a:lnTo>
                <a:lnTo>
                  <a:pt x="15611" y="791237"/>
                </a:lnTo>
                <a:lnTo>
                  <a:pt x="7021" y="744865"/>
                </a:lnTo>
                <a:lnTo>
                  <a:pt x="1776" y="697400"/>
                </a:lnTo>
                <a:lnTo>
                  <a:pt x="0" y="648969"/>
                </a:lnTo>
                <a:close/>
              </a:path>
            </a:pathLst>
          </a:custGeom>
          <a:ln w="12700">
            <a:solidFill>
              <a:srgbClr val="3C67B0"/>
            </a:solidFill>
          </a:ln>
        </p:spPr>
        <p:txBody>
          <a:bodyPr wrap="square" lIns="0" tIns="0" rIns="0" bIns="0" rtlCol="0"/>
          <a:lstStyle/>
          <a:p>
            <a:endParaRPr sz="1050"/>
          </a:p>
        </p:txBody>
      </p:sp>
      <p:sp>
        <p:nvSpPr>
          <p:cNvPr id="13" name="object 13"/>
          <p:cNvSpPr txBox="1"/>
          <p:nvPr/>
        </p:nvSpPr>
        <p:spPr>
          <a:xfrm>
            <a:off x="5407057" y="1048226"/>
            <a:ext cx="676751" cy="333746"/>
          </a:xfrm>
          <a:prstGeom prst="rect">
            <a:avLst/>
          </a:prstGeom>
        </p:spPr>
        <p:txBody>
          <a:bodyPr vert="horz" wrap="square" lIns="0" tIns="25718" rIns="0" bIns="0" rtlCol="0">
            <a:spAutoFit/>
          </a:bodyPr>
          <a:lstStyle/>
          <a:p>
            <a:pPr marL="106680" marR="3810" indent="-97631">
              <a:lnSpc>
                <a:spcPts val="1245"/>
              </a:lnSpc>
              <a:spcBef>
                <a:spcPts val="203"/>
              </a:spcBef>
            </a:pPr>
            <a:r>
              <a:rPr sz="1125" spc="-8" dirty="0">
                <a:latin typeface="Calibri Light"/>
                <a:cs typeface="Calibri Light"/>
              </a:rPr>
              <a:t>I</a:t>
            </a:r>
            <a:r>
              <a:rPr sz="1125" spc="-15" dirty="0">
                <a:latin typeface="Calibri Light"/>
                <a:cs typeface="Calibri Light"/>
              </a:rPr>
              <a:t>n</a:t>
            </a:r>
            <a:r>
              <a:rPr sz="1125" spc="-11" dirty="0">
                <a:latin typeface="Calibri Light"/>
                <a:cs typeface="Calibri Light"/>
              </a:rPr>
              <a:t>t</a:t>
            </a:r>
            <a:r>
              <a:rPr sz="1125" spc="-4" dirty="0">
                <a:latin typeface="Calibri Light"/>
                <a:cs typeface="Calibri Light"/>
              </a:rPr>
              <a:t>e</a:t>
            </a:r>
            <a:r>
              <a:rPr sz="1125" spc="4" dirty="0">
                <a:latin typeface="Calibri Light"/>
                <a:cs typeface="Calibri Light"/>
              </a:rPr>
              <a:t>li</a:t>
            </a:r>
            <a:r>
              <a:rPr sz="1125" spc="-19" dirty="0">
                <a:latin typeface="Calibri Light"/>
                <a:cs typeface="Calibri Light"/>
              </a:rPr>
              <a:t>g</a:t>
            </a:r>
            <a:r>
              <a:rPr sz="1125" spc="-4" dirty="0">
                <a:latin typeface="Calibri Light"/>
                <a:cs typeface="Calibri Light"/>
              </a:rPr>
              <a:t>enc</a:t>
            </a:r>
            <a:r>
              <a:rPr sz="1125" spc="4" dirty="0">
                <a:latin typeface="Calibri Light"/>
                <a:cs typeface="Calibri Light"/>
              </a:rPr>
              <a:t>i</a:t>
            </a:r>
            <a:r>
              <a:rPr sz="1125" dirty="0">
                <a:latin typeface="Calibri Light"/>
                <a:cs typeface="Calibri Light"/>
              </a:rPr>
              <a:t>a  </a:t>
            </a:r>
            <a:r>
              <a:rPr sz="1125" spc="-4" dirty="0">
                <a:latin typeface="Calibri Light"/>
                <a:cs typeface="Calibri Light"/>
              </a:rPr>
              <a:t>artificial</a:t>
            </a:r>
            <a:endParaRPr sz="1125">
              <a:latin typeface="Calibri Light"/>
              <a:cs typeface="Calibri Light"/>
            </a:endParaRPr>
          </a:p>
        </p:txBody>
      </p:sp>
      <p:sp>
        <p:nvSpPr>
          <p:cNvPr id="14" name="object 14"/>
          <p:cNvSpPr/>
          <p:nvPr/>
        </p:nvSpPr>
        <p:spPr>
          <a:xfrm>
            <a:off x="5581650" y="1832609"/>
            <a:ext cx="327660" cy="259080"/>
          </a:xfrm>
          <a:custGeom>
            <a:avLst/>
            <a:gdLst/>
            <a:ahLst/>
            <a:cxnLst/>
            <a:rect l="l" t="t" r="r" b="b"/>
            <a:pathLst>
              <a:path w="436879" h="345439">
                <a:moveTo>
                  <a:pt x="436879" y="172720"/>
                </a:moveTo>
                <a:lnTo>
                  <a:pt x="0" y="172720"/>
                </a:lnTo>
                <a:lnTo>
                  <a:pt x="218440" y="345440"/>
                </a:lnTo>
                <a:lnTo>
                  <a:pt x="436879" y="172720"/>
                </a:lnTo>
                <a:close/>
              </a:path>
              <a:path w="436879" h="345439">
                <a:moveTo>
                  <a:pt x="349503" y="0"/>
                </a:moveTo>
                <a:lnTo>
                  <a:pt x="87375" y="0"/>
                </a:lnTo>
                <a:lnTo>
                  <a:pt x="87375" y="172720"/>
                </a:lnTo>
                <a:lnTo>
                  <a:pt x="349503" y="172720"/>
                </a:lnTo>
                <a:lnTo>
                  <a:pt x="349503" y="0"/>
                </a:lnTo>
                <a:close/>
              </a:path>
            </a:pathLst>
          </a:custGeom>
          <a:solidFill>
            <a:srgbClr val="AFBBDE"/>
          </a:solidFill>
        </p:spPr>
        <p:txBody>
          <a:bodyPr wrap="square" lIns="0" tIns="0" rIns="0" bIns="0" rtlCol="0"/>
          <a:lstStyle/>
          <a:p>
            <a:endParaRPr sz="1050"/>
          </a:p>
        </p:txBody>
      </p:sp>
      <p:sp>
        <p:nvSpPr>
          <p:cNvPr id="15" name="object 15"/>
          <p:cNvSpPr/>
          <p:nvPr/>
        </p:nvSpPr>
        <p:spPr>
          <a:xfrm>
            <a:off x="5260657" y="2214563"/>
            <a:ext cx="971550" cy="971550"/>
          </a:xfrm>
          <a:custGeom>
            <a:avLst/>
            <a:gdLst/>
            <a:ahLst/>
            <a:cxnLst/>
            <a:rect l="l" t="t" r="r" b="b"/>
            <a:pathLst>
              <a:path w="1295400" h="1295400">
                <a:moveTo>
                  <a:pt x="647700" y="0"/>
                </a:moveTo>
                <a:lnTo>
                  <a:pt x="599355" y="1776"/>
                </a:lnTo>
                <a:lnTo>
                  <a:pt x="551977" y="7021"/>
                </a:lnTo>
                <a:lnTo>
                  <a:pt x="505690" y="15611"/>
                </a:lnTo>
                <a:lnTo>
                  <a:pt x="460619" y="27419"/>
                </a:lnTo>
                <a:lnTo>
                  <a:pt x="416889" y="42321"/>
                </a:lnTo>
                <a:lnTo>
                  <a:pt x="374626" y="60191"/>
                </a:lnTo>
                <a:lnTo>
                  <a:pt x="333955" y="80905"/>
                </a:lnTo>
                <a:lnTo>
                  <a:pt x="295001" y="104337"/>
                </a:lnTo>
                <a:lnTo>
                  <a:pt x="257888" y="130362"/>
                </a:lnTo>
                <a:lnTo>
                  <a:pt x="222743" y="158854"/>
                </a:lnTo>
                <a:lnTo>
                  <a:pt x="189690" y="189690"/>
                </a:lnTo>
                <a:lnTo>
                  <a:pt x="158854" y="222743"/>
                </a:lnTo>
                <a:lnTo>
                  <a:pt x="130362" y="257888"/>
                </a:lnTo>
                <a:lnTo>
                  <a:pt x="104337" y="295001"/>
                </a:lnTo>
                <a:lnTo>
                  <a:pt x="80905" y="333955"/>
                </a:lnTo>
                <a:lnTo>
                  <a:pt x="60191" y="374626"/>
                </a:lnTo>
                <a:lnTo>
                  <a:pt x="42321" y="416889"/>
                </a:lnTo>
                <a:lnTo>
                  <a:pt x="27419" y="460619"/>
                </a:lnTo>
                <a:lnTo>
                  <a:pt x="15611" y="505690"/>
                </a:lnTo>
                <a:lnTo>
                  <a:pt x="7021" y="551977"/>
                </a:lnTo>
                <a:lnTo>
                  <a:pt x="1776" y="599355"/>
                </a:lnTo>
                <a:lnTo>
                  <a:pt x="0" y="647700"/>
                </a:lnTo>
                <a:lnTo>
                  <a:pt x="1776" y="696044"/>
                </a:lnTo>
                <a:lnTo>
                  <a:pt x="7021" y="743422"/>
                </a:lnTo>
                <a:lnTo>
                  <a:pt x="15611" y="789709"/>
                </a:lnTo>
                <a:lnTo>
                  <a:pt x="27419" y="834780"/>
                </a:lnTo>
                <a:lnTo>
                  <a:pt x="42321" y="878510"/>
                </a:lnTo>
                <a:lnTo>
                  <a:pt x="60191" y="920773"/>
                </a:lnTo>
                <a:lnTo>
                  <a:pt x="80905" y="961444"/>
                </a:lnTo>
                <a:lnTo>
                  <a:pt x="104337" y="1000398"/>
                </a:lnTo>
                <a:lnTo>
                  <a:pt x="130362" y="1037511"/>
                </a:lnTo>
                <a:lnTo>
                  <a:pt x="158854" y="1072656"/>
                </a:lnTo>
                <a:lnTo>
                  <a:pt x="189690" y="1105709"/>
                </a:lnTo>
                <a:lnTo>
                  <a:pt x="222743" y="1136545"/>
                </a:lnTo>
                <a:lnTo>
                  <a:pt x="257888" y="1165037"/>
                </a:lnTo>
                <a:lnTo>
                  <a:pt x="295001" y="1191062"/>
                </a:lnTo>
                <a:lnTo>
                  <a:pt x="333955" y="1214494"/>
                </a:lnTo>
                <a:lnTo>
                  <a:pt x="374626" y="1235208"/>
                </a:lnTo>
                <a:lnTo>
                  <a:pt x="416889" y="1253078"/>
                </a:lnTo>
                <a:lnTo>
                  <a:pt x="460619" y="1267980"/>
                </a:lnTo>
                <a:lnTo>
                  <a:pt x="505690" y="1279788"/>
                </a:lnTo>
                <a:lnTo>
                  <a:pt x="551977" y="1288378"/>
                </a:lnTo>
                <a:lnTo>
                  <a:pt x="599355" y="1293623"/>
                </a:lnTo>
                <a:lnTo>
                  <a:pt x="647700" y="1295400"/>
                </a:lnTo>
                <a:lnTo>
                  <a:pt x="696044" y="1293623"/>
                </a:lnTo>
                <a:lnTo>
                  <a:pt x="743422" y="1288378"/>
                </a:lnTo>
                <a:lnTo>
                  <a:pt x="789709" y="1279788"/>
                </a:lnTo>
                <a:lnTo>
                  <a:pt x="834780" y="1267980"/>
                </a:lnTo>
                <a:lnTo>
                  <a:pt x="878510" y="1253078"/>
                </a:lnTo>
                <a:lnTo>
                  <a:pt x="920773" y="1235208"/>
                </a:lnTo>
                <a:lnTo>
                  <a:pt x="961444" y="1214494"/>
                </a:lnTo>
                <a:lnTo>
                  <a:pt x="1000398" y="1191062"/>
                </a:lnTo>
                <a:lnTo>
                  <a:pt x="1037511" y="1165037"/>
                </a:lnTo>
                <a:lnTo>
                  <a:pt x="1072656" y="1136545"/>
                </a:lnTo>
                <a:lnTo>
                  <a:pt x="1105709" y="1105709"/>
                </a:lnTo>
                <a:lnTo>
                  <a:pt x="1136545" y="1072656"/>
                </a:lnTo>
                <a:lnTo>
                  <a:pt x="1165037" y="1037511"/>
                </a:lnTo>
                <a:lnTo>
                  <a:pt x="1191062" y="1000398"/>
                </a:lnTo>
                <a:lnTo>
                  <a:pt x="1214494" y="961444"/>
                </a:lnTo>
                <a:lnTo>
                  <a:pt x="1235208" y="920773"/>
                </a:lnTo>
                <a:lnTo>
                  <a:pt x="1253078" y="878510"/>
                </a:lnTo>
                <a:lnTo>
                  <a:pt x="1267980" y="834780"/>
                </a:lnTo>
                <a:lnTo>
                  <a:pt x="1279788" y="789709"/>
                </a:lnTo>
                <a:lnTo>
                  <a:pt x="1288378" y="743422"/>
                </a:lnTo>
                <a:lnTo>
                  <a:pt x="1293623" y="696044"/>
                </a:lnTo>
                <a:lnTo>
                  <a:pt x="1295400" y="647700"/>
                </a:lnTo>
                <a:lnTo>
                  <a:pt x="1293623" y="599355"/>
                </a:lnTo>
                <a:lnTo>
                  <a:pt x="1288378" y="551977"/>
                </a:lnTo>
                <a:lnTo>
                  <a:pt x="1279788" y="505690"/>
                </a:lnTo>
                <a:lnTo>
                  <a:pt x="1267980" y="460619"/>
                </a:lnTo>
                <a:lnTo>
                  <a:pt x="1253078" y="416889"/>
                </a:lnTo>
                <a:lnTo>
                  <a:pt x="1235208" y="374626"/>
                </a:lnTo>
                <a:lnTo>
                  <a:pt x="1214494" y="333955"/>
                </a:lnTo>
                <a:lnTo>
                  <a:pt x="1191062" y="295001"/>
                </a:lnTo>
                <a:lnTo>
                  <a:pt x="1165037" y="257888"/>
                </a:lnTo>
                <a:lnTo>
                  <a:pt x="1136545" y="222743"/>
                </a:lnTo>
                <a:lnTo>
                  <a:pt x="1105709" y="189690"/>
                </a:lnTo>
                <a:lnTo>
                  <a:pt x="1072656" y="158854"/>
                </a:lnTo>
                <a:lnTo>
                  <a:pt x="1037511" y="130362"/>
                </a:lnTo>
                <a:lnTo>
                  <a:pt x="1000398" y="104337"/>
                </a:lnTo>
                <a:lnTo>
                  <a:pt x="961444" y="80905"/>
                </a:lnTo>
                <a:lnTo>
                  <a:pt x="920773" y="60191"/>
                </a:lnTo>
                <a:lnTo>
                  <a:pt x="878510" y="42321"/>
                </a:lnTo>
                <a:lnTo>
                  <a:pt x="834780" y="27419"/>
                </a:lnTo>
                <a:lnTo>
                  <a:pt x="789709" y="15611"/>
                </a:lnTo>
                <a:lnTo>
                  <a:pt x="743422" y="7021"/>
                </a:lnTo>
                <a:lnTo>
                  <a:pt x="696044" y="1776"/>
                </a:lnTo>
                <a:lnTo>
                  <a:pt x="647700" y="0"/>
                </a:lnTo>
                <a:close/>
              </a:path>
            </a:pathLst>
          </a:custGeom>
          <a:solidFill>
            <a:srgbClr val="FFFFFF"/>
          </a:solidFill>
        </p:spPr>
        <p:txBody>
          <a:bodyPr wrap="square" lIns="0" tIns="0" rIns="0" bIns="0" rtlCol="0"/>
          <a:lstStyle/>
          <a:p>
            <a:endParaRPr sz="1050"/>
          </a:p>
        </p:txBody>
      </p:sp>
      <p:sp>
        <p:nvSpPr>
          <p:cNvPr id="16" name="object 16"/>
          <p:cNvSpPr/>
          <p:nvPr/>
        </p:nvSpPr>
        <p:spPr>
          <a:xfrm>
            <a:off x="5260657" y="2214563"/>
            <a:ext cx="971550" cy="971550"/>
          </a:xfrm>
          <a:custGeom>
            <a:avLst/>
            <a:gdLst/>
            <a:ahLst/>
            <a:cxnLst/>
            <a:rect l="l" t="t" r="r" b="b"/>
            <a:pathLst>
              <a:path w="1295400" h="1295400">
                <a:moveTo>
                  <a:pt x="0" y="647700"/>
                </a:moveTo>
                <a:lnTo>
                  <a:pt x="1776" y="599355"/>
                </a:lnTo>
                <a:lnTo>
                  <a:pt x="7021" y="551977"/>
                </a:lnTo>
                <a:lnTo>
                  <a:pt x="15611" y="505690"/>
                </a:lnTo>
                <a:lnTo>
                  <a:pt x="27419" y="460619"/>
                </a:lnTo>
                <a:lnTo>
                  <a:pt x="42321" y="416889"/>
                </a:lnTo>
                <a:lnTo>
                  <a:pt x="60191" y="374626"/>
                </a:lnTo>
                <a:lnTo>
                  <a:pt x="80905" y="333955"/>
                </a:lnTo>
                <a:lnTo>
                  <a:pt x="104337" y="295001"/>
                </a:lnTo>
                <a:lnTo>
                  <a:pt x="130362" y="257888"/>
                </a:lnTo>
                <a:lnTo>
                  <a:pt x="158854" y="222743"/>
                </a:lnTo>
                <a:lnTo>
                  <a:pt x="189690" y="189690"/>
                </a:lnTo>
                <a:lnTo>
                  <a:pt x="222743" y="158854"/>
                </a:lnTo>
                <a:lnTo>
                  <a:pt x="257888" y="130362"/>
                </a:lnTo>
                <a:lnTo>
                  <a:pt x="295001" y="104337"/>
                </a:lnTo>
                <a:lnTo>
                  <a:pt x="333955" y="80905"/>
                </a:lnTo>
                <a:lnTo>
                  <a:pt x="374626" y="60191"/>
                </a:lnTo>
                <a:lnTo>
                  <a:pt x="416889" y="42321"/>
                </a:lnTo>
                <a:lnTo>
                  <a:pt x="460619" y="27419"/>
                </a:lnTo>
                <a:lnTo>
                  <a:pt x="505690" y="15611"/>
                </a:lnTo>
                <a:lnTo>
                  <a:pt x="551977" y="7021"/>
                </a:lnTo>
                <a:lnTo>
                  <a:pt x="599355" y="1776"/>
                </a:lnTo>
                <a:lnTo>
                  <a:pt x="647700" y="0"/>
                </a:lnTo>
                <a:lnTo>
                  <a:pt x="696044" y="1776"/>
                </a:lnTo>
                <a:lnTo>
                  <a:pt x="743422" y="7021"/>
                </a:lnTo>
                <a:lnTo>
                  <a:pt x="789709" y="15611"/>
                </a:lnTo>
                <a:lnTo>
                  <a:pt x="834780" y="27419"/>
                </a:lnTo>
                <a:lnTo>
                  <a:pt x="878510" y="42321"/>
                </a:lnTo>
                <a:lnTo>
                  <a:pt x="920773" y="60191"/>
                </a:lnTo>
                <a:lnTo>
                  <a:pt x="961444" y="80905"/>
                </a:lnTo>
                <a:lnTo>
                  <a:pt x="1000398" y="104337"/>
                </a:lnTo>
                <a:lnTo>
                  <a:pt x="1037511" y="130362"/>
                </a:lnTo>
                <a:lnTo>
                  <a:pt x="1072656" y="158854"/>
                </a:lnTo>
                <a:lnTo>
                  <a:pt x="1105709" y="189690"/>
                </a:lnTo>
                <a:lnTo>
                  <a:pt x="1136545" y="222743"/>
                </a:lnTo>
                <a:lnTo>
                  <a:pt x="1165037" y="257888"/>
                </a:lnTo>
                <a:lnTo>
                  <a:pt x="1191062" y="295001"/>
                </a:lnTo>
                <a:lnTo>
                  <a:pt x="1214494" y="333955"/>
                </a:lnTo>
                <a:lnTo>
                  <a:pt x="1235208" y="374626"/>
                </a:lnTo>
                <a:lnTo>
                  <a:pt x="1253078" y="416889"/>
                </a:lnTo>
                <a:lnTo>
                  <a:pt x="1267980" y="460619"/>
                </a:lnTo>
                <a:lnTo>
                  <a:pt x="1279788" y="505690"/>
                </a:lnTo>
                <a:lnTo>
                  <a:pt x="1288378" y="551977"/>
                </a:lnTo>
                <a:lnTo>
                  <a:pt x="1293623" y="599355"/>
                </a:lnTo>
                <a:lnTo>
                  <a:pt x="1295400" y="647700"/>
                </a:lnTo>
                <a:lnTo>
                  <a:pt x="1293623" y="696044"/>
                </a:lnTo>
                <a:lnTo>
                  <a:pt x="1288378" y="743422"/>
                </a:lnTo>
                <a:lnTo>
                  <a:pt x="1279788" y="789709"/>
                </a:lnTo>
                <a:lnTo>
                  <a:pt x="1267980" y="834780"/>
                </a:lnTo>
                <a:lnTo>
                  <a:pt x="1253078" y="878510"/>
                </a:lnTo>
                <a:lnTo>
                  <a:pt x="1235208" y="920773"/>
                </a:lnTo>
                <a:lnTo>
                  <a:pt x="1214494" y="961444"/>
                </a:lnTo>
                <a:lnTo>
                  <a:pt x="1191062" y="1000398"/>
                </a:lnTo>
                <a:lnTo>
                  <a:pt x="1165037" y="1037511"/>
                </a:lnTo>
                <a:lnTo>
                  <a:pt x="1136545" y="1072656"/>
                </a:lnTo>
                <a:lnTo>
                  <a:pt x="1105709" y="1105709"/>
                </a:lnTo>
                <a:lnTo>
                  <a:pt x="1072656" y="1136545"/>
                </a:lnTo>
                <a:lnTo>
                  <a:pt x="1037511" y="1165037"/>
                </a:lnTo>
                <a:lnTo>
                  <a:pt x="1000398" y="1191062"/>
                </a:lnTo>
                <a:lnTo>
                  <a:pt x="961444" y="1214494"/>
                </a:lnTo>
                <a:lnTo>
                  <a:pt x="920773" y="1235208"/>
                </a:lnTo>
                <a:lnTo>
                  <a:pt x="878510" y="1253078"/>
                </a:lnTo>
                <a:lnTo>
                  <a:pt x="834780" y="1267980"/>
                </a:lnTo>
                <a:lnTo>
                  <a:pt x="789709" y="1279788"/>
                </a:lnTo>
                <a:lnTo>
                  <a:pt x="743422" y="1288378"/>
                </a:lnTo>
                <a:lnTo>
                  <a:pt x="696044" y="1293623"/>
                </a:lnTo>
                <a:lnTo>
                  <a:pt x="647700" y="1295400"/>
                </a:lnTo>
                <a:lnTo>
                  <a:pt x="599355" y="1293623"/>
                </a:lnTo>
                <a:lnTo>
                  <a:pt x="551977" y="1288378"/>
                </a:lnTo>
                <a:lnTo>
                  <a:pt x="505690" y="1279788"/>
                </a:lnTo>
                <a:lnTo>
                  <a:pt x="460619" y="1267980"/>
                </a:lnTo>
                <a:lnTo>
                  <a:pt x="416889" y="1253078"/>
                </a:lnTo>
                <a:lnTo>
                  <a:pt x="374626" y="1235208"/>
                </a:lnTo>
                <a:lnTo>
                  <a:pt x="333955" y="1214494"/>
                </a:lnTo>
                <a:lnTo>
                  <a:pt x="295001" y="1191062"/>
                </a:lnTo>
                <a:lnTo>
                  <a:pt x="257888" y="1165037"/>
                </a:lnTo>
                <a:lnTo>
                  <a:pt x="222743" y="1136545"/>
                </a:lnTo>
                <a:lnTo>
                  <a:pt x="189690" y="1105709"/>
                </a:lnTo>
                <a:lnTo>
                  <a:pt x="158854" y="1072656"/>
                </a:lnTo>
                <a:lnTo>
                  <a:pt x="130362" y="1037511"/>
                </a:lnTo>
                <a:lnTo>
                  <a:pt x="104337" y="1000398"/>
                </a:lnTo>
                <a:lnTo>
                  <a:pt x="80905" y="961444"/>
                </a:lnTo>
                <a:lnTo>
                  <a:pt x="60191" y="920773"/>
                </a:lnTo>
                <a:lnTo>
                  <a:pt x="42321" y="878510"/>
                </a:lnTo>
                <a:lnTo>
                  <a:pt x="27419" y="834780"/>
                </a:lnTo>
                <a:lnTo>
                  <a:pt x="15611" y="789709"/>
                </a:lnTo>
                <a:lnTo>
                  <a:pt x="7021" y="743422"/>
                </a:lnTo>
                <a:lnTo>
                  <a:pt x="1776" y="696044"/>
                </a:lnTo>
                <a:lnTo>
                  <a:pt x="0" y="647700"/>
                </a:lnTo>
                <a:close/>
              </a:path>
            </a:pathLst>
          </a:custGeom>
          <a:ln w="12700">
            <a:solidFill>
              <a:srgbClr val="3C67B0"/>
            </a:solidFill>
          </a:ln>
        </p:spPr>
        <p:txBody>
          <a:bodyPr wrap="square" lIns="0" tIns="0" rIns="0" bIns="0" rtlCol="0"/>
          <a:lstStyle/>
          <a:p>
            <a:endParaRPr sz="1050"/>
          </a:p>
        </p:txBody>
      </p:sp>
      <p:sp>
        <p:nvSpPr>
          <p:cNvPr id="17" name="object 17"/>
          <p:cNvSpPr txBox="1"/>
          <p:nvPr/>
        </p:nvSpPr>
        <p:spPr>
          <a:xfrm>
            <a:off x="5441442" y="2509647"/>
            <a:ext cx="607695" cy="343043"/>
          </a:xfrm>
          <a:prstGeom prst="rect">
            <a:avLst/>
          </a:prstGeom>
        </p:spPr>
        <p:txBody>
          <a:bodyPr vert="horz" wrap="square" lIns="0" tIns="9525" rIns="0" bIns="0" rtlCol="0">
            <a:spAutoFit/>
          </a:bodyPr>
          <a:lstStyle/>
          <a:p>
            <a:pPr algn="ctr">
              <a:lnSpc>
                <a:spcPts val="1298"/>
              </a:lnSpc>
              <a:spcBef>
                <a:spcPts val="75"/>
              </a:spcBef>
            </a:pPr>
            <a:r>
              <a:rPr sz="1125" spc="-4" dirty="0">
                <a:latin typeface="Calibri Light"/>
                <a:cs typeface="Calibri Light"/>
              </a:rPr>
              <a:t>Ciencia</a:t>
            </a:r>
            <a:r>
              <a:rPr sz="1125" spc="-68" dirty="0">
                <a:latin typeface="Calibri Light"/>
                <a:cs typeface="Calibri Light"/>
              </a:rPr>
              <a:t> </a:t>
            </a:r>
            <a:r>
              <a:rPr sz="1125" dirty="0">
                <a:latin typeface="Calibri Light"/>
                <a:cs typeface="Calibri Light"/>
              </a:rPr>
              <a:t>de</a:t>
            </a:r>
            <a:endParaRPr sz="1125">
              <a:latin typeface="Calibri Light"/>
              <a:cs typeface="Calibri Light"/>
            </a:endParaRPr>
          </a:p>
          <a:p>
            <a:pPr algn="ctr">
              <a:lnSpc>
                <a:spcPts val="1298"/>
              </a:lnSpc>
            </a:pPr>
            <a:r>
              <a:rPr sz="1125" spc="-8" dirty="0">
                <a:latin typeface="Calibri Light"/>
                <a:cs typeface="Calibri Light"/>
              </a:rPr>
              <a:t>datos</a:t>
            </a:r>
            <a:endParaRPr sz="1125">
              <a:latin typeface="Calibri Light"/>
              <a:cs typeface="Calibri Light"/>
            </a:endParaRPr>
          </a:p>
        </p:txBody>
      </p:sp>
      <p:sp>
        <p:nvSpPr>
          <p:cNvPr id="18" name="object 18"/>
          <p:cNvSpPr/>
          <p:nvPr/>
        </p:nvSpPr>
        <p:spPr>
          <a:xfrm>
            <a:off x="5006435" y="2911507"/>
            <a:ext cx="273844" cy="292418"/>
          </a:xfrm>
          <a:custGeom>
            <a:avLst/>
            <a:gdLst/>
            <a:ahLst/>
            <a:cxnLst/>
            <a:rect l="l" t="t" r="r" b="b"/>
            <a:pathLst>
              <a:path w="365125" h="389889">
                <a:moveTo>
                  <a:pt x="40258" y="10668"/>
                </a:moveTo>
                <a:lnTo>
                  <a:pt x="0" y="286385"/>
                </a:lnTo>
                <a:lnTo>
                  <a:pt x="258952" y="389509"/>
                </a:lnTo>
                <a:lnTo>
                  <a:pt x="215264" y="313690"/>
                </a:lnTo>
                <a:lnTo>
                  <a:pt x="364871" y="227330"/>
                </a:lnTo>
                <a:lnTo>
                  <a:pt x="283439" y="86360"/>
                </a:lnTo>
                <a:lnTo>
                  <a:pt x="83947" y="86360"/>
                </a:lnTo>
                <a:lnTo>
                  <a:pt x="40258" y="10668"/>
                </a:lnTo>
                <a:close/>
              </a:path>
              <a:path w="365125" h="389889">
                <a:moveTo>
                  <a:pt x="233552" y="0"/>
                </a:moveTo>
                <a:lnTo>
                  <a:pt x="83947" y="86360"/>
                </a:lnTo>
                <a:lnTo>
                  <a:pt x="283439" y="86360"/>
                </a:lnTo>
                <a:lnTo>
                  <a:pt x="233552" y="0"/>
                </a:lnTo>
                <a:close/>
              </a:path>
            </a:pathLst>
          </a:custGeom>
          <a:solidFill>
            <a:srgbClr val="AFBBDE"/>
          </a:solidFill>
        </p:spPr>
        <p:txBody>
          <a:bodyPr wrap="square" lIns="0" tIns="0" rIns="0" bIns="0" rtlCol="0"/>
          <a:lstStyle/>
          <a:p>
            <a:endParaRPr sz="1050"/>
          </a:p>
        </p:txBody>
      </p:sp>
      <p:sp>
        <p:nvSpPr>
          <p:cNvPr id="19" name="object 19"/>
          <p:cNvSpPr/>
          <p:nvPr/>
        </p:nvSpPr>
        <p:spPr>
          <a:xfrm>
            <a:off x="3993832" y="2946082"/>
            <a:ext cx="973455" cy="971550"/>
          </a:xfrm>
          <a:custGeom>
            <a:avLst/>
            <a:gdLst/>
            <a:ahLst/>
            <a:cxnLst/>
            <a:rect l="l" t="t" r="r" b="b"/>
            <a:pathLst>
              <a:path w="1297940" h="1295400">
                <a:moveTo>
                  <a:pt x="648969" y="0"/>
                </a:moveTo>
                <a:lnTo>
                  <a:pt x="600539" y="1776"/>
                </a:lnTo>
                <a:lnTo>
                  <a:pt x="553074" y="7021"/>
                </a:lnTo>
                <a:lnTo>
                  <a:pt x="506702" y="15611"/>
                </a:lnTo>
                <a:lnTo>
                  <a:pt x="461547" y="27419"/>
                </a:lnTo>
                <a:lnTo>
                  <a:pt x="417734" y="42321"/>
                </a:lnTo>
                <a:lnTo>
                  <a:pt x="375390" y="60191"/>
                </a:lnTo>
                <a:lnTo>
                  <a:pt x="334639" y="80905"/>
                </a:lnTo>
                <a:lnTo>
                  <a:pt x="295608" y="104337"/>
                </a:lnTo>
                <a:lnTo>
                  <a:pt x="258422" y="130362"/>
                </a:lnTo>
                <a:lnTo>
                  <a:pt x="223207" y="158854"/>
                </a:lnTo>
                <a:lnTo>
                  <a:pt x="190087" y="189690"/>
                </a:lnTo>
                <a:lnTo>
                  <a:pt x="159188" y="222743"/>
                </a:lnTo>
                <a:lnTo>
                  <a:pt x="130637" y="257888"/>
                </a:lnTo>
                <a:lnTo>
                  <a:pt x="104558" y="295001"/>
                </a:lnTo>
                <a:lnTo>
                  <a:pt x="81077" y="333955"/>
                </a:lnTo>
                <a:lnTo>
                  <a:pt x="60320" y="374626"/>
                </a:lnTo>
                <a:lnTo>
                  <a:pt x="42412" y="416889"/>
                </a:lnTo>
                <a:lnTo>
                  <a:pt x="27478" y="460619"/>
                </a:lnTo>
                <a:lnTo>
                  <a:pt x="15644" y="505690"/>
                </a:lnTo>
                <a:lnTo>
                  <a:pt x="7037" y="551977"/>
                </a:lnTo>
                <a:lnTo>
                  <a:pt x="1780" y="599355"/>
                </a:lnTo>
                <a:lnTo>
                  <a:pt x="0" y="647700"/>
                </a:lnTo>
                <a:lnTo>
                  <a:pt x="1780" y="696044"/>
                </a:lnTo>
                <a:lnTo>
                  <a:pt x="7037" y="743422"/>
                </a:lnTo>
                <a:lnTo>
                  <a:pt x="15644" y="789709"/>
                </a:lnTo>
                <a:lnTo>
                  <a:pt x="27478" y="834780"/>
                </a:lnTo>
                <a:lnTo>
                  <a:pt x="42412" y="878510"/>
                </a:lnTo>
                <a:lnTo>
                  <a:pt x="60320" y="920773"/>
                </a:lnTo>
                <a:lnTo>
                  <a:pt x="81077" y="961444"/>
                </a:lnTo>
                <a:lnTo>
                  <a:pt x="104558" y="1000398"/>
                </a:lnTo>
                <a:lnTo>
                  <a:pt x="130637" y="1037511"/>
                </a:lnTo>
                <a:lnTo>
                  <a:pt x="159188" y="1072656"/>
                </a:lnTo>
                <a:lnTo>
                  <a:pt x="190087" y="1105709"/>
                </a:lnTo>
                <a:lnTo>
                  <a:pt x="223207" y="1136545"/>
                </a:lnTo>
                <a:lnTo>
                  <a:pt x="258422" y="1165037"/>
                </a:lnTo>
                <a:lnTo>
                  <a:pt x="295608" y="1191062"/>
                </a:lnTo>
                <a:lnTo>
                  <a:pt x="334639" y="1214494"/>
                </a:lnTo>
                <a:lnTo>
                  <a:pt x="375390" y="1235208"/>
                </a:lnTo>
                <a:lnTo>
                  <a:pt x="417734" y="1253078"/>
                </a:lnTo>
                <a:lnTo>
                  <a:pt x="461547" y="1267980"/>
                </a:lnTo>
                <a:lnTo>
                  <a:pt x="506702" y="1279788"/>
                </a:lnTo>
                <a:lnTo>
                  <a:pt x="553074" y="1288378"/>
                </a:lnTo>
                <a:lnTo>
                  <a:pt x="600539" y="1293623"/>
                </a:lnTo>
                <a:lnTo>
                  <a:pt x="648969" y="1295400"/>
                </a:lnTo>
                <a:lnTo>
                  <a:pt x="697400" y="1293623"/>
                </a:lnTo>
                <a:lnTo>
                  <a:pt x="744865" y="1288378"/>
                </a:lnTo>
                <a:lnTo>
                  <a:pt x="791237" y="1279788"/>
                </a:lnTo>
                <a:lnTo>
                  <a:pt x="836392" y="1267980"/>
                </a:lnTo>
                <a:lnTo>
                  <a:pt x="880205" y="1253078"/>
                </a:lnTo>
                <a:lnTo>
                  <a:pt x="922549" y="1235208"/>
                </a:lnTo>
                <a:lnTo>
                  <a:pt x="963300" y="1214494"/>
                </a:lnTo>
                <a:lnTo>
                  <a:pt x="1002331" y="1191062"/>
                </a:lnTo>
                <a:lnTo>
                  <a:pt x="1039517" y="1165037"/>
                </a:lnTo>
                <a:lnTo>
                  <a:pt x="1074732" y="1136545"/>
                </a:lnTo>
                <a:lnTo>
                  <a:pt x="1107852" y="1105709"/>
                </a:lnTo>
                <a:lnTo>
                  <a:pt x="1138751" y="1072656"/>
                </a:lnTo>
                <a:lnTo>
                  <a:pt x="1167302" y="1037511"/>
                </a:lnTo>
                <a:lnTo>
                  <a:pt x="1193381" y="1000398"/>
                </a:lnTo>
                <a:lnTo>
                  <a:pt x="1216862" y="961444"/>
                </a:lnTo>
                <a:lnTo>
                  <a:pt x="1237619" y="920773"/>
                </a:lnTo>
                <a:lnTo>
                  <a:pt x="1255527" y="878510"/>
                </a:lnTo>
                <a:lnTo>
                  <a:pt x="1270461" y="834780"/>
                </a:lnTo>
                <a:lnTo>
                  <a:pt x="1282295" y="789709"/>
                </a:lnTo>
                <a:lnTo>
                  <a:pt x="1290902" y="743422"/>
                </a:lnTo>
                <a:lnTo>
                  <a:pt x="1296159" y="696044"/>
                </a:lnTo>
                <a:lnTo>
                  <a:pt x="1297939" y="647700"/>
                </a:lnTo>
                <a:lnTo>
                  <a:pt x="1296159" y="599355"/>
                </a:lnTo>
                <a:lnTo>
                  <a:pt x="1290902" y="551977"/>
                </a:lnTo>
                <a:lnTo>
                  <a:pt x="1282295" y="505690"/>
                </a:lnTo>
                <a:lnTo>
                  <a:pt x="1270461" y="460619"/>
                </a:lnTo>
                <a:lnTo>
                  <a:pt x="1255527" y="416889"/>
                </a:lnTo>
                <a:lnTo>
                  <a:pt x="1237619" y="374626"/>
                </a:lnTo>
                <a:lnTo>
                  <a:pt x="1216862" y="333955"/>
                </a:lnTo>
                <a:lnTo>
                  <a:pt x="1193381" y="295001"/>
                </a:lnTo>
                <a:lnTo>
                  <a:pt x="1167302" y="257888"/>
                </a:lnTo>
                <a:lnTo>
                  <a:pt x="1138751" y="222743"/>
                </a:lnTo>
                <a:lnTo>
                  <a:pt x="1107852" y="189690"/>
                </a:lnTo>
                <a:lnTo>
                  <a:pt x="1074732" y="158854"/>
                </a:lnTo>
                <a:lnTo>
                  <a:pt x="1039517" y="130362"/>
                </a:lnTo>
                <a:lnTo>
                  <a:pt x="1002331" y="104337"/>
                </a:lnTo>
                <a:lnTo>
                  <a:pt x="963300" y="80905"/>
                </a:lnTo>
                <a:lnTo>
                  <a:pt x="922549" y="60191"/>
                </a:lnTo>
                <a:lnTo>
                  <a:pt x="880205" y="42321"/>
                </a:lnTo>
                <a:lnTo>
                  <a:pt x="836392" y="27419"/>
                </a:lnTo>
                <a:lnTo>
                  <a:pt x="791237" y="15611"/>
                </a:lnTo>
                <a:lnTo>
                  <a:pt x="744865" y="7021"/>
                </a:lnTo>
                <a:lnTo>
                  <a:pt x="697400" y="1776"/>
                </a:lnTo>
                <a:lnTo>
                  <a:pt x="648969" y="0"/>
                </a:lnTo>
                <a:close/>
              </a:path>
            </a:pathLst>
          </a:custGeom>
          <a:solidFill>
            <a:srgbClr val="FFFFFF"/>
          </a:solidFill>
        </p:spPr>
        <p:txBody>
          <a:bodyPr wrap="square" lIns="0" tIns="0" rIns="0" bIns="0" rtlCol="0"/>
          <a:lstStyle/>
          <a:p>
            <a:endParaRPr sz="1050"/>
          </a:p>
        </p:txBody>
      </p:sp>
      <p:sp>
        <p:nvSpPr>
          <p:cNvPr id="20" name="object 20"/>
          <p:cNvSpPr/>
          <p:nvPr/>
        </p:nvSpPr>
        <p:spPr>
          <a:xfrm>
            <a:off x="3993832" y="2946082"/>
            <a:ext cx="973455" cy="971550"/>
          </a:xfrm>
          <a:custGeom>
            <a:avLst/>
            <a:gdLst/>
            <a:ahLst/>
            <a:cxnLst/>
            <a:rect l="l" t="t" r="r" b="b"/>
            <a:pathLst>
              <a:path w="1297940" h="1295400">
                <a:moveTo>
                  <a:pt x="0" y="647700"/>
                </a:moveTo>
                <a:lnTo>
                  <a:pt x="1780" y="599355"/>
                </a:lnTo>
                <a:lnTo>
                  <a:pt x="7037" y="551977"/>
                </a:lnTo>
                <a:lnTo>
                  <a:pt x="15644" y="505690"/>
                </a:lnTo>
                <a:lnTo>
                  <a:pt x="27478" y="460619"/>
                </a:lnTo>
                <a:lnTo>
                  <a:pt x="42412" y="416889"/>
                </a:lnTo>
                <a:lnTo>
                  <a:pt x="60320" y="374626"/>
                </a:lnTo>
                <a:lnTo>
                  <a:pt x="81077" y="333955"/>
                </a:lnTo>
                <a:lnTo>
                  <a:pt x="104558" y="295001"/>
                </a:lnTo>
                <a:lnTo>
                  <a:pt x="130637" y="257888"/>
                </a:lnTo>
                <a:lnTo>
                  <a:pt x="159188" y="222743"/>
                </a:lnTo>
                <a:lnTo>
                  <a:pt x="190087" y="189690"/>
                </a:lnTo>
                <a:lnTo>
                  <a:pt x="223207" y="158854"/>
                </a:lnTo>
                <a:lnTo>
                  <a:pt x="258422" y="130362"/>
                </a:lnTo>
                <a:lnTo>
                  <a:pt x="295608" y="104337"/>
                </a:lnTo>
                <a:lnTo>
                  <a:pt x="334639" y="80905"/>
                </a:lnTo>
                <a:lnTo>
                  <a:pt x="375390" y="60191"/>
                </a:lnTo>
                <a:lnTo>
                  <a:pt x="417734" y="42321"/>
                </a:lnTo>
                <a:lnTo>
                  <a:pt x="461547" y="27419"/>
                </a:lnTo>
                <a:lnTo>
                  <a:pt x="506702" y="15611"/>
                </a:lnTo>
                <a:lnTo>
                  <a:pt x="553074" y="7021"/>
                </a:lnTo>
                <a:lnTo>
                  <a:pt x="600539" y="1776"/>
                </a:lnTo>
                <a:lnTo>
                  <a:pt x="648969" y="0"/>
                </a:lnTo>
                <a:lnTo>
                  <a:pt x="697400" y="1776"/>
                </a:lnTo>
                <a:lnTo>
                  <a:pt x="744865" y="7021"/>
                </a:lnTo>
                <a:lnTo>
                  <a:pt x="791237" y="15611"/>
                </a:lnTo>
                <a:lnTo>
                  <a:pt x="836392" y="27419"/>
                </a:lnTo>
                <a:lnTo>
                  <a:pt x="880205" y="42321"/>
                </a:lnTo>
                <a:lnTo>
                  <a:pt x="922549" y="60191"/>
                </a:lnTo>
                <a:lnTo>
                  <a:pt x="963300" y="80905"/>
                </a:lnTo>
                <a:lnTo>
                  <a:pt x="1002331" y="104337"/>
                </a:lnTo>
                <a:lnTo>
                  <a:pt x="1039517" y="130362"/>
                </a:lnTo>
                <a:lnTo>
                  <a:pt x="1074732" y="158854"/>
                </a:lnTo>
                <a:lnTo>
                  <a:pt x="1107852" y="189690"/>
                </a:lnTo>
                <a:lnTo>
                  <a:pt x="1138751" y="222743"/>
                </a:lnTo>
                <a:lnTo>
                  <a:pt x="1167302" y="257888"/>
                </a:lnTo>
                <a:lnTo>
                  <a:pt x="1193381" y="295001"/>
                </a:lnTo>
                <a:lnTo>
                  <a:pt x="1216862" y="333955"/>
                </a:lnTo>
                <a:lnTo>
                  <a:pt x="1237619" y="374626"/>
                </a:lnTo>
                <a:lnTo>
                  <a:pt x="1255527" y="416889"/>
                </a:lnTo>
                <a:lnTo>
                  <a:pt x="1270461" y="460619"/>
                </a:lnTo>
                <a:lnTo>
                  <a:pt x="1282295" y="505690"/>
                </a:lnTo>
                <a:lnTo>
                  <a:pt x="1290902" y="551977"/>
                </a:lnTo>
                <a:lnTo>
                  <a:pt x="1296159" y="599355"/>
                </a:lnTo>
                <a:lnTo>
                  <a:pt x="1297939" y="647700"/>
                </a:lnTo>
                <a:lnTo>
                  <a:pt x="1296159" y="696044"/>
                </a:lnTo>
                <a:lnTo>
                  <a:pt x="1290902" y="743422"/>
                </a:lnTo>
                <a:lnTo>
                  <a:pt x="1282295" y="789709"/>
                </a:lnTo>
                <a:lnTo>
                  <a:pt x="1270461" y="834780"/>
                </a:lnTo>
                <a:lnTo>
                  <a:pt x="1255527" y="878510"/>
                </a:lnTo>
                <a:lnTo>
                  <a:pt x="1237619" y="920773"/>
                </a:lnTo>
                <a:lnTo>
                  <a:pt x="1216862" y="961444"/>
                </a:lnTo>
                <a:lnTo>
                  <a:pt x="1193381" y="1000398"/>
                </a:lnTo>
                <a:lnTo>
                  <a:pt x="1167302" y="1037511"/>
                </a:lnTo>
                <a:lnTo>
                  <a:pt x="1138751" y="1072656"/>
                </a:lnTo>
                <a:lnTo>
                  <a:pt x="1107852" y="1105709"/>
                </a:lnTo>
                <a:lnTo>
                  <a:pt x="1074732" y="1136545"/>
                </a:lnTo>
                <a:lnTo>
                  <a:pt x="1039517" y="1165037"/>
                </a:lnTo>
                <a:lnTo>
                  <a:pt x="1002331" y="1191062"/>
                </a:lnTo>
                <a:lnTo>
                  <a:pt x="963300" y="1214494"/>
                </a:lnTo>
                <a:lnTo>
                  <a:pt x="922549" y="1235208"/>
                </a:lnTo>
                <a:lnTo>
                  <a:pt x="880205" y="1253078"/>
                </a:lnTo>
                <a:lnTo>
                  <a:pt x="836392" y="1267980"/>
                </a:lnTo>
                <a:lnTo>
                  <a:pt x="791237" y="1279788"/>
                </a:lnTo>
                <a:lnTo>
                  <a:pt x="744865" y="1288378"/>
                </a:lnTo>
                <a:lnTo>
                  <a:pt x="697400" y="1293623"/>
                </a:lnTo>
                <a:lnTo>
                  <a:pt x="648969" y="1295400"/>
                </a:lnTo>
                <a:lnTo>
                  <a:pt x="600539" y="1293623"/>
                </a:lnTo>
                <a:lnTo>
                  <a:pt x="553074" y="1288378"/>
                </a:lnTo>
                <a:lnTo>
                  <a:pt x="506702" y="1279788"/>
                </a:lnTo>
                <a:lnTo>
                  <a:pt x="461547" y="1267980"/>
                </a:lnTo>
                <a:lnTo>
                  <a:pt x="417734" y="1253078"/>
                </a:lnTo>
                <a:lnTo>
                  <a:pt x="375390" y="1235208"/>
                </a:lnTo>
                <a:lnTo>
                  <a:pt x="334639" y="1214494"/>
                </a:lnTo>
                <a:lnTo>
                  <a:pt x="295608" y="1191062"/>
                </a:lnTo>
                <a:lnTo>
                  <a:pt x="258422" y="1165037"/>
                </a:lnTo>
                <a:lnTo>
                  <a:pt x="223207" y="1136545"/>
                </a:lnTo>
                <a:lnTo>
                  <a:pt x="190087" y="1105709"/>
                </a:lnTo>
                <a:lnTo>
                  <a:pt x="159188" y="1072656"/>
                </a:lnTo>
                <a:lnTo>
                  <a:pt x="130637" y="1037511"/>
                </a:lnTo>
                <a:lnTo>
                  <a:pt x="104558" y="1000398"/>
                </a:lnTo>
                <a:lnTo>
                  <a:pt x="81077" y="961444"/>
                </a:lnTo>
                <a:lnTo>
                  <a:pt x="60320" y="920773"/>
                </a:lnTo>
                <a:lnTo>
                  <a:pt x="42412" y="878510"/>
                </a:lnTo>
                <a:lnTo>
                  <a:pt x="27478" y="834780"/>
                </a:lnTo>
                <a:lnTo>
                  <a:pt x="15644" y="789709"/>
                </a:lnTo>
                <a:lnTo>
                  <a:pt x="7037" y="743422"/>
                </a:lnTo>
                <a:lnTo>
                  <a:pt x="1780" y="696044"/>
                </a:lnTo>
                <a:lnTo>
                  <a:pt x="0" y="647700"/>
                </a:lnTo>
                <a:close/>
              </a:path>
            </a:pathLst>
          </a:custGeom>
          <a:ln w="12700">
            <a:solidFill>
              <a:srgbClr val="3C67B0"/>
            </a:solidFill>
          </a:ln>
        </p:spPr>
        <p:txBody>
          <a:bodyPr wrap="square" lIns="0" tIns="0" rIns="0" bIns="0" rtlCol="0"/>
          <a:lstStyle/>
          <a:p>
            <a:endParaRPr sz="1050"/>
          </a:p>
        </p:txBody>
      </p:sp>
      <p:sp>
        <p:nvSpPr>
          <p:cNvPr id="21" name="object 21"/>
          <p:cNvSpPr txBox="1"/>
          <p:nvPr/>
        </p:nvSpPr>
        <p:spPr>
          <a:xfrm>
            <a:off x="4177040" y="3152325"/>
            <a:ext cx="671512" cy="487634"/>
          </a:xfrm>
          <a:prstGeom prst="rect">
            <a:avLst/>
          </a:prstGeom>
        </p:spPr>
        <p:txBody>
          <a:bodyPr vert="horz" wrap="square" lIns="0" tIns="25718" rIns="0" bIns="0" rtlCol="0">
            <a:spAutoFit/>
          </a:bodyPr>
          <a:lstStyle/>
          <a:p>
            <a:pPr marL="9525" marR="3810" indent="43339" algn="ctr">
              <a:lnSpc>
                <a:spcPts val="1245"/>
              </a:lnSpc>
              <a:spcBef>
                <a:spcPts val="203"/>
              </a:spcBef>
            </a:pPr>
            <a:r>
              <a:rPr lang="es-US" sz="1125" spc="-4" dirty="0">
                <a:latin typeface="Calibri Light"/>
                <a:cs typeface="Calibri Light"/>
              </a:rPr>
              <a:t>Redes neurales artificial</a:t>
            </a:r>
            <a:endParaRPr sz="1125" dirty="0">
              <a:latin typeface="Calibri Light"/>
              <a:cs typeface="Calibri Light"/>
            </a:endParaRPr>
          </a:p>
        </p:txBody>
      </p:sp>
      <p:sp>
        <p:nvSpPr>
          <p:cNvPr id="22" name="object 22"/>
          <p:cNvSpPr/>
          <p:nvPr/>
        </p:nvSpPr>
        <p:spPr>
          <a:xfrm>
            <a:off x="3741229" y="2926841"/>
            <a:ext cx="273844" cy="292418"/>
          </a:xfrm>
          <a:custGeom>
            <a:avLst/>
            <a:gdLst/>
            <a:ahLst/>
            <a:cxnLst/>
            <a:rect l="l" t="t" r="r" b="b"/>
            <a:pathLst>
              <a:path w="365125" h="389889">
                <a:moveTo>
                  <a:pt x="283390" y="303022"/>
                </a:moveTo>
                <a:lnTo>
                  <a:pt x="83947" y="303022"/>
                </a:lnTo>
                <a:lnTo>
                  <a:pt x="233553" y="389382"/>
                </a:lnTo>
                <a:lnTo>
                  <a:pt x="283390" y="303022"/>
                </a:lnTo>
                <a:close/>
              </a:path>
              <a:path w="365125" h="389889">
                <a:moveTo>
                  <a:pt x="258953" y="0"/>
                </a:moveTo>
                <a:lnTo>
                  <a:pt x="0" y="102997"/>
                </a:lnTo>
                <a:lnTo>
                  <a:pt x="40259" y="378841"/>
                </a:lnTo>
                <a:lnTo>
                  <a:pt x="83947" y="303022"/>
                </a:lnTo>
                <a:lnTo>
                  <a:pt x="283390" y="303022"/>
                </a:lnTo>
                <a:lnTo>
                  <a:pt x="364744" y="162052"/>
                </a:lnTo>
                <a:lnTo>
                  <a:pt x="215138" y="75692"/>
                </a:lnTo>
                <a:lnTo>
                  <a:pt x="258953" y="0"/>
                </a:lnTo>
                <a:close/>
              </a:path>
            </a:pathLst>
          </a:custGeom>
          <a:solidFill>
            <a:srgbClr val="AFBBDE"/>
          </a:solidFill>
        </p:spPr>
        <p:txBody>
          <a:bodyPr wrap="square" lIns="0" tIns="0" rIns="0" bIns="0" rtlCol="0"/>
          <a:lstStyle/>
          <a:p>
            <a:endParaRPr sz="1050"/>
          </a:p>
        </p:txBody>
      </p:sp>
      <p:sp>
        <p:nvSpPr>
          <p:cNvPr id="23" name="object 23"/>
          <p:cNvSpPr/>
          <p:nvPr/>
        </p:nvSpPr>
        <p:spPr>
          <a:xfrm>
            <a:off x="2728913" y="2214563"/>
            <a:ext cx="973455" cy="971550"/>
          </a:xfrm>
          <a:custGeom>
            <a:avLst/>
            <a:gdLst/>
            <a:ahLst/>
            <a:cxnLst/>
            <a:rect l="l" t="t" r="r" b="b"/>
            <a:pathLst>
              <a:path w="1297939" h="1295400">
                <a:moveTo>
                  <a:pt x="648970" y="0"/>
                </a:moveTo>
                <a:lnTo>
                  <a:pt x="600539" y="1776"/>
                </a:lnTo>
                <a:lnTo>
                  <a:pt x="553074" y="7021"/>
                </a:lnTo>
                <a:lnTo>
                  <a:pt x="506702" y="15611"/>
                </a:lnTo>
                <a:lnTo>
                  <a:pt x="461547" y="27419"/>
                </a:lnTo>
                <a:lnTo>
                  <a:pt x="417734" y="42321"/>
                </a:lnTo>
                <a:lnTo>
                  <a:pt x="375390" y="60191"/>
                </a:lnTo>
                <a:lnTo>
                  <a:pt x="334639" y="80905"/>
                </a:lnTo>
                <a:lnTo>
                  <a:pt x="295608" y="104337"/>
                </a:lnTo>
                <a:lnTo>
                  <a:pt x="258422" y="130362"/>
                </a:lnTo>
                <a:lnTo>
                  <a:pt x="223207" y="158854"/>
                </a:lnTo>
                <a:lnTo>
                  <a:pt x="190087" y="189690"/>
                </a:lnTo>
                <a:lnTo>
                  <a:pt x="159188" y="222743"/>
                </a:lnTo>
                <a:lnTo>
                  <a:pt x="130637" y="257888"/>
                </a:lnTo>
                <a:lnTo>
                  <a:pt x="104558" y="295001"/>
                </a:lnTo>
                <a:lnTo>
                  <a:pt x="81077" y="333955"/>
                </a:lnTo>
                <a:lnTo>
                  <a:pt x="60320" y="374626"/>
                </a:lnTo>
                <a:lnTo>
                  <a:pt x="42412" y="416889"/>
                </a:lnTo>
                <a:lnTo>
                  <a:pt x="27478" y="460619"/>
                </a:lnTo>
                <a:lnTo>
                  <a:pt x="15644" y="505690"/>
                </a:lnTo>
                <a:lnTo>
                  <a:pt x="7037" y="551977"/>
                </a:lnTo>
                <a:lnTo>
                  <a:pt x="1780" y="599355"/>
                </a:lnTo>
                <a:lnTo>
                  <a:pt x="0" y="647700"/>
                </a:lnTo>
                <a:lnTo>
                  <a:pt x="1780" y="696044"/>
                </a:lnTo>
                <a:lnTo>
                  <a:pt x="7037" y="743422"/>
                </a:lnTo>
                <a:lnTo>
                  <a:pt x="15644" y="789709"/>
                </a:lnTo>
                <a:lnTo>
                  <a:pt x="27478" y="834780"/>
                </a:lnTo>
                <a:lnTo>
                  <a:pt x="42412" y="878510"/>
                </a:lnTo>
                <a:lnTo>
                  <a:pt x="60320" y="920773"/>
                </a:lnTo>
                <a:lnTo>
                  <a:pt x="81077" y="961444"/>
                </a:lnTo>
                <a:lnTo>
                  <a:pt x="104558" y="1000398"/>
                </a:lnTo>
                <a:lnTo>
                  <a:pt x="130637" y="1037511"/>
                </a:lnTo>
                <a:lnTo>
                  <a:pt x="159188" y="1072656"/>
                </a:lnTo>
                <a:lnTo>
                  <a:pt x="190087" y="1105709"/>
                </a:lnTo>
                <a:lnTo>
                  <a:pt x="223207" y="1136545"/>
                </a:lnTo>
                <a:lnTo>
                  <a:pt x="258422" y="1165037"/>
                </a:lnTo>
                <a:lnTo>
                  <a:pt x="295608" y="1191062"/>
                </a:lnTo>
                <a:lnTo>
                  <a:pt x="334639" y="1214494"/>
                </a:lnTo>
                <a:lnTo>
                  <a:pt x="375390" y="1235208"/>
                </a:lnTo>
                <a:lnTo>
                  <a:pt x="417734" y="1253078"/>
                </a:lnTo>
                <a:lnTo>
                  <a:pt x="461547" y="1267980"/>
                </a:lnTo>
                <a:lnTo>
                  <a:pt x="506702" y="1279788"/>
                </a:lnTo>
                <a:lnTo>
                  <a:pt x="553074" y="1288378"/>
                </a:lnTo>
                <a:lnTo>
                  <a:pt x="600539" y="1293623"/>
                </a:lnTo>
                <a:lnTo>
                  <a:pt x="648970" y="1295400"/>
                </a:lnTo>
                <a:lnTo>
                  <a:pt x="697400" y="1293623"/>
                </a:lnTo>
                <a:lnTo>
                  <a:pt x="744865" y="1288378"/>
                </a:lnTo>
                <a:lnTo>
                  <a:pt x="791237" y="1279788"/>
                </a:lnTo>
                <a:lnTo>
                  <a:pt x="836392" y="1267980"/>
                </a:lnTo>
                <a:lnTo>
                  <a:pt x="880205" y="1253078"/>
                </a:lnTo>
                <a:lnTo>
                  <a:pt x="922549" y="1235208"/>
                </a:lnTo>
                <a:lnTo>
                  <a:pt x="963300" y="1214494"/>
                </a:lnTo>
                <a:lnTo>
                  <a:pt x="1002331" y="1191062"/>
                </a:lnTo>
                <a:lnTo>
                  <a:pt x="1039517" y="1165037"/>
                </a:lnTo>
                <a:lnTo>
                  <a:pt x="1074732" y="1136545"/>
                </a:lnTo>
                <a:lnTo>
                  <a:pt x="1107852" y="1105709"/>
                </a:lnTo>
                <a:lnTo>
                  <a:pt x="1138751" y="1072656"/>
                </a:lnTo>
                <a:lnTo>
                  <a:pt x="1167302" y="1037511"/>
                </a:lnTo>
                <a:lnTo>
                  <a:pt x="1193381" y="1000398"/>
                </a:lnTo>
                <a:lnTo>
                  <a:pt x="1216862" y="961444"/>
                </a:lnTo>
                <a:lnTo>
                  <a:pt x="1237619" y="920773"/>
                </a:lnTo>
                <a:lnTo>
                  <a:pt x="1255527" y="878510"/>
                </a:lnTo>
                <a:lnTo>
                  <a:pt x="1270461" y="834780"/>
                </a:lnTo>
                <a:lnTo>
                  <a:pt x="1282295" y="789709"/>
                </a:lnTo>
                <a:lnTo>
                  <a:pt x="1290902" y="743422"/>
                </a:lnTo>
                <a:lnTo>
                  <a:pt x="1296159" y="696044"/>
                </a:lnTo>
                <a:lnTo>
                  <a:pt x="1297939" y="647700"/>
                </a:lnTo>
                <a:lnTo>
                  <a:pt x="1296159" y="599355"/>
                </a:lnTo>
                <a:lnTo>
                  <a:pt x="1290902" y="551977"/>
                </a:lnTo>
                <a:lnTo>
                  <a:pt x="1282295" y="505690"/>
                </a:lnTo>
                <a:lnTo>
                  <a:pt x="1270461" y="460619"/>
                </a:lnTo>
                <a:lnTo>
                  <a:pt x="1255527" y="416889"/>
                </a:lnTo>
                <a:lnTo>
                  <a:pt x="1237619" y="374626"/>
                </a:lnTo>
                <a:lnTo>
                  <a:pt x="1216862" y="333955"/>
                </a:lnTo>
                <a:lnTo>
                  <a:pt x="1193381" y="295001"/>
                </a:lnTo>
                <a:lnTo>
                  <a:pt x="1167302" y="257888"/>
                </a:lnTo>
                <a:lnTo>
                  <a:pt x="1138751" y="222743"/>
                </a:lnTo>
                <a:lnTo>
                  <a:pt x="1107852" y="189690"/>
                </a:lnTo>
                <a:lnTo>
                  <a:pt x="1074732" y="158854"/>
                </a:lnTo>
                <a:lnTo>
                  <a:pt x="1039517" y="130362"/>
                </a:lnTo>
                <a:lnTo>
                  <a:pt x="1002331" y="104337"/>
                </a:lnTo>
                <a:lnTo>
                  <a:pt x="963300" y="80905"/>
                </a:lnTo>
                <a:lnTo>
                  <a:pt x="922549" y="60191"/>
                </a:lnTo>
                <a:lnTo>
                  <a:pt x="880205" y="42321"/>
                </a:lnTo>
                <a:lnTo>
                  <a:pt x="836392" y="27419"/>
                </a:lnTo>
                <a:lnTo>
                  <a:pt x="791237" y="15611"/>
                </a:lnTo>
                <a:lnTo>
                  <a:pt x="744865" y="7021"/>
                </a:lnTo>
                <a:lnTo>
                  <a:pt x="697400" y="1776"/>
                </a:lnTo>
                <a:lnTo>
                  <a:pt x="648970" y="0"/>
                </a:lnTo>
                <a:close/>
              </a:path>
            </a:pathLst>
          </a:custGeom>
          <a:solidFill>
            <a:srgbClr val="FFFFFF"/>
          </a:solidFill>
        </p:spPr>
        <p:txBody>
          <a:bodyPr wrap="square" lIns="0" tIns="0" rIns="0" bIns="0" rtlCol="0"/>
          <a:lstStyle/>
          <a:p>
            <a:endParaRPr sz="1050"/>
          </a:p>
        </p:txBody>
      </p:sp>
      <p:sp>
        <p:nvSpPr>
          <p:cNvPr id="24" name="object 24"/>
          <p:cNvSpPr/>
          <p:nvPr/>
        </p:nvSpPr>
        <p:spPr>
          <a:xfrm>
            <a:off x="2728913" y="2214563"/>
            <a:ext cx="973455" cy="971550"/>
          </a:xfrm>
          <a:custGeom>
            <a:avLst/>
            <a:gdLst/>
            <a:ahLst/>
            <a:cxnLst/>
            <a:rect l="l" t="t" r="r" b="b"/>
            <a:pathLst>
              <a:path w="1297939" h="1295400">
                <a:moveTo>
                  <a:pt x="0" y="647700"/>
                </a:moveTo>
                <a:lnTo>
                  <a:pt x="1780" y="599355"/>
                </a:lnTo>
                <a:lnTo>
                  <a:pt x="7037" y="551977"/>
                </a:lnTo>
                <a:lnTo>
                  <a:pt x="15644" y="505690"/>
                </a:lnTo>
                <a:lnTo>
                  <a:pt x="27478" y="460619"/>
                </a:lnTo>
                <a:lnTo>
                  <a:pt x="42412" y="416889"/>
                </a:lnTo>
                <a:lnTo>
                  <a:pt x="60320" y="374626"/>
                </a:lnTo>
                <a:lnTo>
                  <a:pt x="81077" y="333955"/>
                </a:lnTo>
                <a:lnTo>
                  <a:pt x="104558" y="295001"/>
                </a:lnTo>
                <a:lnTo>
                  <a:pt x="130637" y="257888"/>
                </a:lnTo>
                <a:lnTo>
                  <a:pt x="159188" y="222743"/>
                </a:lnTo>
                <a:lnTo>
                  <a:pt x="190087" y="189690"/>
                </a:lnTo>
                <a:lnTo>
                  <a:pt x="223207" y="158854"/>
                </a:lnTo>
                <a:lnTo>
                  <a:pt x="258422" y="130362"/>
                </a:lnTo>
                <a:lnTo>
                  <a:pt x="295608" y="104337"/>
                </a:lnTo>
                <a:lnTo>
                  <a:pt x="334639" y="80905"/>
                </a:lnTo>
                <a:lnTo>
                  <a:pt x="375390" y="60191"/>
                </a:lnTo>
                <a:lnTo>
                  <a:pt x="417734" y="42321"/>
                </a:lnTo>
                <a:lnTo>
                  <a:pt x="461547" y="27419"/>
                </a:lnTo>
                <a:lnTo>
                  <a:pt x="506702" y="15611"/>
                </a:lnTo>
                <a:lnTo>
                  <a:pt x="553074" y="7021"/>
                </a:lnTo>
                <a:lnTo>
                  <a:pt x="600539" y="1776"/>
                </a:lnTo>
                <a:lnTo>
                  <a:pt x="648970" y="0"/>
                </a:lnTo>
                <a:lnTo>
                  <a:pt x="697400" y="1776"/>
                </a:lnTo>
                <a:lnTo>
                  <a:pt x="744865" y="7021"/>
                </a:lnTo>
                <a:lnTo>
                  <a:pt x="791237" y="15611"/>
                </a:lnTo>
                <a:lnTo>
                  <a:pt x="836392" y="27419"/>
                </a:lnTo>
                <a:lnTo>
                  <a:pt x="880205" y="42321"/>
                </a:lnTo>
                <a:lnTo>
                  <a:pt x="922549" y="60191"/>
                </a:lnTo>
                <a:lnTo>
                  <a:pt x="963300" y="80905"/>
                </a:lnTo>
                <a:lnTo>
                  <a:pt x="1002331" y="104337"/>
                </a:lnTo>
                <a:lnTo>
                  <a:pt x="1039517" y="130362"/>
                </a:lnTo>
                <a:lnTo>
                  <a:pt x="1074732" y="158854"/>
                </a:lnTo>
                <a:lnTo>
                  <a:pt x="1107852" y="189690"/>
                </a:lnTo>
                <a:lnTo>
                  <a:pt x="1138751" y="222743"/>
                </a:lnTo>
                <a:lnTo>
                  <a:pt x="1167302" y="257888"/>
                </a:lnTo>
                <a:lnTo>
                  <a:pt x="1193381" y="295001"/>
                </a:lnTo>
                <a:lnTo>
                  <a:pt x="1216862" y="333955"/>
                </a:lnTo>
                <a:lnTo>
                  <a:pt x="1237619" y="374626"/>
                </a:lnTo>
                <a:lnTo>
                  <a:pt x="1255527" y="416889"/>
                </a:lnTo>
                <a:lnTo>
                  <a:pt x="1270461" y="460619"/>
                </a:lnTo>
                <a:lnTo>
                  <a:pt x="1282295" y="505690"/>
                </a:lnTo>
                <a:lnTo>
                  <a:pt x="1290902" y="551977"/>
                </a:lnTo>
                <a:lnTo>
                  <a:pt x="1296159" y="599355"/>
                </a:lnTo>
                <a:lnTo>
                  <a:pt x="1297939" y="647700"/>
                </a:lnTo>
                <a:lnTo>
                  <a:pt x="1296159" y="696044"/>
                </a:lnTo>
                <a:lnTo>
                  <a:pt x="1290902" y="743422"/>
                </a:lnTo>
                <a:lnTo>
                  <a:pt x="1282295" y="789709"/>
                </a:lnTo>
                <a:lnTo>
                  <a:pt x="1270461" y="834780"/>
                </a:lnTo>
                <a:lnTo>
                  <a:pt x="1255527" y="878510"/>
                </a:lnTo>
                <a:lnTo>
                  <a:pt x="1237619" y="920773"/>
                </a:lnTo>
                <a:lnTo>
                  <a:pt x="1216862" y="961444"/>
                </a:lnTo>
                <a:lnTo>
                  <a:pt x="1193381" y="1000398"/>
                </a:lnTo>
                <a:lnTo>
                  <a:pt x="1167302" y="1037511"/>
                </a:lnTo>
                <a:lnTo>
                  <a:pt x="1138751" y="1072656"/>
                </a:lnTo>
                <a:lnTo>
                  <a:pt x="1107852" y="1105709"/>
                </a:lnTo>
                <a:lnTo>
                  <a:pt x="1074732" y="1136545"/>
                </a:lnTo>
                <a:lnTo>
                  <a:pt x="1039517" y="1165037"/>
                </a:lnTo>
                <a:lnTo>
                  <a:pt x="1002331" y="1191062"/>
                </a:lnTo>
                <a:lnTo>
                  <a:pt x="963300" y="1214494"/>
                </a:lnTo>
                <a:lnTo>
                  <a:pt x="922549" y="1235208"/>
                </a:lnTo>
                <a:lnTo>
                  <a:pt x="880205" y="1253078"/>
                </a:lnTo>
                <a:lnTo>
                  <a:pt x="836392" y="1267980"/>
                </a:lnTo>
                <a:lnTo>
                  <a:pt x="791237" y="1279788"/>
                </a:lnTo>
                <a:lnTo>
                  <a:pt x="744865" y="1288378"/>
                </a:lnTo>
                <a:lnTo>
                  <a:pt x="697400" y="1293623"/>
                </a:lnTo>
                <a:lnTo>
                  <a:pt x="648970" y="1295400"/>
                </a:lnTo>
                <a:lnTo>
                  <a:pt x="600539" y="1293623"/>
                </a:lnTo>
                <a:lnTo>
                  <a:pt x="553074" y="1288378"/>
                </a:lnTo>
                <a:lnTo>
                  <a:pt x="506702" y="1279788"/>
                </a:lnTo>
                <a:lnTo>
                  <a:pt x="461547" y="1267980"/>
                </a:lnTo>
                <a:lnTo>
                  <a:pt x="417734" y="1253078"/>
                </a:lnTo>
                <a:lnTo>
                  <a:pt x="375390" y="1235208"/>
                </a:lnTo>
                <a:lnTo>
                  <a:pt x="334639" y="1214494"/>
                </a:lnTo>
                <a:lnTo>
                  <a:pt x="295608" y="1191062"/>
                </a:lnTo>
                <a:lnTo>
                  <a:pt x="258422" y="1165037"/>
                </a:lnTo>
                <a:lnTo>
                  <a:pt x="223207" y="1136545"/>
                </a:lnTo>
                <a:lnTo>
                  <a:pt x="190087" y="1105709"/>
                </a:lnTo>
                <a:lnTo>
                  <a:pt x="159188" y="1072656"/>
                </a:lnTo>
                <a:lnTo>
                  <a:pt x="130637" y="1037511"/>
                </a:lnTo>
                <a:lnTo>
                  <a:pt x="104558" y="1000398"/>
                </a:lnTo>
                <a:lnTo>
                  <a:pt x="81077" y="961444"/>
                </a:lnTo>
                <a:lnTo>
                  <a:pt x="60320" y="920773"/>
                </a:lnTo>
                <a:lnTo>
                  <a:pt x="42412" y="878510"/>
                </a:lnTo>
                <a:lnTo>
                  <a:pt x="27478" y="834780"/>
                </a:lnTo>
                <a:lnTo>
                  <a:pt x="15644" y="789709"/>
                </a:lnTo>
                <a:lnTo>
                  <a:pt x="7037" y="743422"/>
                </a:lnTo>
                <a:lnTo>
                  <a:pt x="1780" y="696044"/>
                </a:lnTo>
                <a:lnTo>
                  <a:pt x="0" y="647700"/>
                </a:lnTo>
                <a:close/>
              </a:path>
            </a:pathLst>
          </a:custGeom>
          <a:ln w="12700">
            <a:solidFill>
              <a:srgbClr val="3C67B0"/>
            </a:solidFill>
          </a:ln>
        </p:spPr>
        <p:txBody>
          <a:bodyPr wrap="square" lIns="0" tIns="0" rIns="0" bIns="0" rtlCol="0"/>
          <a:lstStyle/>
          <a:p>
            <a:endParaRPr sz="1050"/>
          </a:p>
        </p:txBody>
      </p:sp>
      <p:sp>
        <p:nvSpPr>
          <p:cNvPr id="25" name="object 25"/>
          <p:cNvSpPr txBox="1"/>
          <p:nvPr/>
        </p:nvSpPr>
        <p:spPr>
          <a:xfrm>
            <a:off x="2956084" y="2509647"/>
            <a:ext cx="518160" cy="343043"/>
          </a:xfrm>
          <a:prstGeom prst="rect">
            <a:avLst/>
          </a:prstGeom>
        </p:spPr>
        <p:txBody>
          <a:bodyPr vert="horz" wrap="square" lIns="0" tIns="9525" rIns="0" bIns="0" rtlCol="0">
            <a:spAutoFit/>
          </a:bodyPr>
          <a:lstStyle/>
          <a:p>
            <a:pPr marL="9525">
              <a:lnSpc>
                <a:spcPts val="1298"/>
              </a:lnSpc>
              <a:spcBef>
                <a:spcPts val="75"/>
              </a:spcBef>
            </a:pPr>
            <a:r>
              <a:rPr sz="1125" spc="-8" dirty="0">
                <a:latin typeface="Calibri Light"/>
                <a:cs typeface="Calibri Light"/>
              </a:rPr>
              <a:t>Ma</a:t>
            </a:r>
            <a:r>
              <a:rPr sz="1125" spc="-4" dirty="0">
                <a:latin typeface="Calibri Light"/>
                <a:cs typeface="Calibri Light"/>
              </a:rPr>
              <a:t>ch</a:t>
            </a:r>
            <a:r>
              <a:rPr sz="1125" spc="4" dirty="0">
                <a:latin typeface="Calibri Light"/>
                <a:cs typeface="Calibri Light"/>
              </a:rPr>
              <a:t>i</a:t>
            </a:r>
            <a:r>
              <a:rPr sz="1125" dirty="0">
                <a:latin typeface="Calibri Light"/>
                <a:cs typeface="Calibri Light"/>
              </a:rPr>
              <a:t>ne</a:t>
            </a:r>
          </a:p>
          <a:p>
            <a:pPr marL="9525">
              <a:lnSpc>
                <a:spcPts val="1298"/>
              </a:lnSpc>
            </a:pPr>
            <a:r>
              <a:rPr sz="1125" spc="-4" dirty="0">
                <a:latin typeface="Calibri Light"/>
                <a:cs typeface="Calibri Light"/>
              </a:rPr>
              <a:t>learning</a:t>
            </a:r>
            <a:endParaRPr sz="1125" dirty="0">
              <a:latin typeface="Calibri Light"/>
              <a:cs typeface="Calibri Light"/>
            </a:endParaRPr>
          </a:p>
        </p:txBody>
      </p:sp>
      <p:sp>
        <p:nvSpPr>
          <p:cNvPr id="26" name="object 26"/>
          <p:cNvSpPr/>
          <p:nvPr/>
        </p:nvSpPr>
        <p:spPr>
          <a:xfrm>
            <a:off x="3049905" y="1847850"/>
            <a:ext cx="327660" cy="259080"/>
          </a:xfrm>
          <a:custGeom>
            <a:avLst/>
            <a:gdLst/>
            <a:ahLst/>
            <a:cxnLst/>
            <a:rect l="l" t="t" r="r" b="b"/>
            <a:pathLst>
              <a:path w="436879" h="345439">
                <a:moveTo>
                  <a:pt x="349504" y="172720"/>
                </a:moveTo>
                <a:lnTo>
                  <a:pt x="87375" y="172720"/>
                </a:lnTo>
                <a:lnTo>
                  <a:pt x="87375" y="345439"/>
                </a:lnTo>
                <a:lnTo>
                  <a:pt x="349504" y="345439"/>
                </a:lnTo>
                <a:lnTo>
                  <a:pt x="349504" y="172720"/>
                </a:lnTo>
                <a:close/>
              </a:path>
              <a:path w="436879" h="345439">
                <a:moveTo>
                  <a:pt x="218439" y="0"/>
                </a:moveTo>
                <a:lnTo>
                  <a:pt x="0" y="172720"/>
                </a:lnTo>
                <a:lnTo>
                  <a:pt x="436880" y="172720"/>
                </a:lnTo>
                <a:lnTo>
                  <a:pt x="218439" y="0"/>
                </a:lnTo>
                <a:close/>
              </a:path>
            </a:pathLst>
          </a:custGeom>
          <a:solidFill>
            <a:srgbClr val="AFBBDE"/>
          </a:solidFill>
        </p:spPr>
        <p:txBody>
          <a:bodyPr wrap="square" lIns="0" tIns="0" rIns="0" bIns="0" rtlCol="0"/>
          <a:lstStyle/>
          <a:p>
            <a:endParaRPr sz="1050"/>
          </a:p>
        </p:txBody>
      </p:sp>
      <p:sp>
        <p:nvSpPr>
          <p:cNvPr id="27" name="object 27"/>
          <p:cNvSpPr/>
          <p:nvPr/>
        </p:nvSpPr>
        <p:spPr>
          <a:xfrm>
            <a:off x="2728913" y="753427"/>
            <a:ext cx="973455" cy="973455"/>
          </a:xfrm>
          <a:custGeom>
            <a:avLst/>
            <a:gdLst/>
            <a:ahLst/>
            <a:cxnLst/>
            <a:rect l="l" t="t" r="r" b="b"/>
            <a:pathLst>
              <a:path w="1297939" h="1297939">
                <a:moveTo>
                  <a:pt x="648970" y="0"/>
                </a:moveTo>
                <a:lnTo>
                  <a:pt x="600539" y="1780"/>
                </a:lnTo>
                <a:lnTo>
                  <a:pt x="553074" y="7037"/>
                </a:lnTo>
                <a:lnTo>
                  <a:pt x="506702" y="15644"/>
                </a:lnTo>
                <a:lnTo>
                  <a:pt x="461547" y="27478"/>
                </a:lnTo>
                <a:lnTo>
                  <a:pt x="417734" y="42412"/>
                </a:lnTo>
                <a:lnTo>
                  <a:pt x="375390" y="60320"/>
                </a:lnTo>
                <a:lnTo>
                  <a:pt x="334639" y="81077"/>
                </a:lnTo>
                <a:lnTo>
                  <a:pt x="295608" y="104558"/>
                </a:lnTo>
                <a:lnTo>
                  <a:pt x="258422" y="130637"/>
                </a:lnTo>
                <a:lnTo>
                  <a:pt x="223207" y="159188"/>
                </a:lnTo>
                <a:lnTo>
                  <a:pt x="190087" y="190087"/>
                </a:lnTo>
                <a:lnTo>
                  <a:pt x="159188" y="223207"/>
                </a:lnTo>
                <a:lnTo>
                  <a:pt x="130637" y="258422"/>
                </a:lnTo>
                <a:lnTo>
                  <a:pt x="104558" y="295608"/>
                </a:lnTo>
                <a:lnTo>
                  <a:pt x="81077" y="334639"/>
                </a:lnTo>
                <a:lnTo>
                  <a:pt x="60320" y="375390"/>
                </a:lnTo>
                <a:lnTo>
                  <a:pt x="42412" y="417734"/>
                </a:lnTo>
                <a:lnTo>
                  <a:pt x="27478" y="461547"/>
                </a:lnTo>
                <a:lnTo>
                  <a:pt x="15644" y="506702"/>
                </a:lnTo>
                <a:lnTo>
                  <a:pt x="7037" y="553074"/>
                </a:lnTo>
                <a:lnTo>
                  <a:pt x="1780" y="600539"/>
                </a:lnTo>
                <a:lnTo>
                  <a:pt x="0" y="648969"/>
                </a:lnTo>
                <a:lnTo>
                  <a:pt x="1780" y="697400"/>
                </a:lnTo>
                <a:lnTo>
                  <a:pt x="7037" y="744865"/>
                </a:lnTo>
                <a:lnTo>
                  <a:pt x="15644" y="791237"/>
                </a:lnTo>
                <a:lnTo>
                  <a:pt x="27478" y="836392"/>
                </a:lnTo>
                <a:lnTo>
                  <a:pt x="42412" y="880205"/>
                </a:lnTo>
                <a:lnTo>
                  <a:pt x="60320" y="922549"/>
                </a:lnTo>
                <a:lnTo>
                  <a:pt x="81077" y="963300"/>
                </a:lnTo>
                <a:lnTo>
                  <a:pt x="104558" y="1002331"/>
                </a:lnTo>
                <a:lnTo>
                  <a:pt x="130637" y="1039517"/>
                </a:lnTo>
                <a:lnTo>
                  <a:pt x="159188" y="1074732"/>
                </a:lnTo>
                <a:lnTo>
                  <a:pt x="190087" y="1107852"/>
                </a:lnTo>
                <a:lnTo>
                  <a:pt x="223207" y="1138751"/>
                </a:lnTo>
                <a:lnTo>
                  <a:pt x="258422" y="1167302"/>
                </a:lnTo>
                <a:lnTo>
                  <a:pt x="295608" y="1193381"/>
                </a:lnTo>
                <a:lnTo>
                  <a:pt x="334639" y="1216862"/>
                </a:lnTo>
                <a:lnTo>
                  <a:pt x="375390" y="1237619"/>
                </a:lnTo>
                <a:lnTo>
                  <a:pt x="417734" y="1255527"/>
                </a:lnTo>
                <a:lnTo>
                  <a:pt x="461547" y="1270461"/>
                </a:lnTo>
                <a:lnTo>
                  <a:pt x="506702" y="1282295"/>
                </a:lnTo>
                <a:lnTo>
                  <a:pt x="553074" y="1290902"/>
                </a:lnTo>
                <a:lnTo>
                  <a:pt x="600539" y="1296159"/>
                </a:lnTo>
                <a:lnTo>
                  <a:pt x="648970" y="1297939"/>
                </a:lnTo>
                <a:lnTo>
                  <a:pt x="697400" y="1296159"/>
                </a:lnTo>
                <a:lnTo>
                  <a:pt x="744865" y="1290902"/>
                </a:lnTo>
                <a:lnTo>
                  <a:pt x="791237" y="1282295"/>
                </a:lnTo>
                <a:lnTo>
                  <a:pt x="836392" y="1270461"/>
                </a:lnTo>
                <a:lnTo>
                  <a:pt x="880205" y="1255527"/>
                </a:lnTo>
                <a:lnTo>
                  <a:pt x="922549" y="1237619"/>
                </a:lnTo>
                <a:lnTo>
                  <a:pt x="963300" y="1216862"/>
                </a:lnTo>
                <a:lnTo>
                  <a:pt x="1002331" y="1193381"/>
                </a:lnTo>
                <a:lnTo>
                  <a:pt x="1039517" y="1167302"/>
                </a:lnTo>
                <a:lnTo>
                  <a:pt x="1074732" y="1138751"/>
                </a:lnTo>
                <a:lnTo>
                  <a:pt x="1107852" y="1107852"/>
                </a:lnTo>
                <a:lnTo>
                  <a:pt x="1138751" y="1074732"/>
                </a:lnTo>
                <a:lnTo>
                  <a:pt x="1167302" y="1039517"/>
                </a:lnTo>
                <a:lnTo>
                  <a:pt x="1193381" y="1002331"/>
                </a:lnTo>
                <a:lnTo>
                  <a:pt x="1216862" y="963300"/>
                </a:lnTo>
                <a:lnTo>
                  <a:pt x="1237619" y="922549"/>
                </a:lnTo>
                <a:lnTo>
                  <a:pt x="1255527" y="880205"/>
                </a:lnTo>
                <a:lnTo>
                  <a:pt x="1270461" y="836392"/>
                </a:lnTo>
                <a:lnTo>
                  <a:pt x="1282295" y="791237"/>
                </a:lnTo>
                <a:lnTo>
                  <a:pt x="1290902" y="744865"/>
                </a:lnTo>
                <a:lnTo>
                  <a:pt x="1296159" y="697400"/>
                </a:lnTo>
                <a:lnTo>
                  <a:pt x="1297939" y="648969"/>
                </a:lnTo>
                <a:lnTo>
                  <a:pt x="1296159" y="600539"/>
                </a:lnTo>
                <a:lnTo>
                  <a:pt x="1290902" y="553074"/>
                </a:lnTo>
                <a:lnTo>
                  <a:pt x="1282295" y="506702"/>
                </a:lnTo>
                <a:lnTo>
                  <a:pt x="1270461" y="461547"/>
                </a:lnTo>
                <a:lnTo>
                  <a:pt x="1255527" y="417734"/>
                </a:lnTo>
                <a:lnTo>
                  <a:pt x="1237619" y="375390"/>
                </a:lnTo>
                <a:lnTo>
                  <a:pt x="1216862" y="334639"/>
                </a:lnTo>
                <a:lnTo>
                  <a:pt x="1193381" y="295608"/>
                </a:lnTo>
                <a:lnTo>
                  <a:pt x="1167302" y="258422"/>
                </a:lnTo>
                <a:lnTo>
                  <a:pt x="1138751" y="223207"/>
                </a:lnTo>
                <a:lnTo>
                  <a:pt x="1107852" y="190087"/>
                </a:lnTo>
                <a:lnTo>
                  <a:pt x="1074732" y="159188"/>
                </a:lnTo>
                <a:lnTo>
                  <a:pt x="1039517" y="130637"/>
                </a:lnTo>
                <a:lnTo>
                  <a:pt x="1002331" y="104558"/>
                </a:lnTo>
                <a:lnTo>
                  <a:pt x="963300" y="81077"/>
                </a:lnTo>
                <a:lnTo>
                  <a:pt x="922549" y="60320"/>
                </a:lnTo>
                <a:lnTo>
                  <a:pt x="880205" y="42412"/>
                </a:lnTo>
                <a:lnTo>
                  <a:pt x="836392" y="27478"/>
                </a:lnTo>
                <a:lnTo>
                  <a:pt x="791237" y="15644"/>
                </a:lnTo>
                <a:lnTo>
                  <a:pt x="744865" y="7037"/>
                </a:lnTo>
                <a:lnTo>
                  <a:pt x="697400" y="1780"/>
                </a:lnTo>
                <a:lnTo>
                  <a:pt x="648970" y="0"/>
                </a:lnTo>
                <a:close/>
              </a:path>
            </a:pathLst>
          </a:custGeom>
          <a:solidFill>
            <a:srgbClr val="FFFFFF"/>
          </a:solidFill>
        </p:spPr>
        <p:txBody>
          <a:bodyPr wrap="square" lIns="0" tIns="0" rIns="0" bIns="0" rtlCol="0"/>
          <a:lstStyle/>
          <a:p>
            <a:endParaRPr sz="1050"/>
          </a:p>
        </p:txBody>
      </p:sp>
      <p:sp>
        <p:nvSpPr>
          <p:cNvPr id="28" name="object 28"/>
          <p:cNvSpPr/>
          <p:nvPr/>
        </p:nvSpPr>
        <p:spPr>
          <a:xfrm>
            <a:off x="2728913" y="753427"/>
            <a:ext cx="973455" cy="973455"/>
          </a:xfrm>
          <a:custGeom>
            <a:avLst/>
            <a:gdLst/>
            <a:ahLst/>
            <a:cxnLst/>
            <a:rect l="l" t="t" r="r" b="b"/>
            <a:pathLst>
              <a:path w="1297939" h="1297939">
                <a:moveTo>
                  <a:pt x="0" y="648969"/>
                </a:moveTo>
                <a:lnTo>
                  <a:pt x="1780" y="600539"/>
                </a:lnTo>
                <a:lnTo>
                  <a:pt x="7037" y="553074"/>
                </a:lnTo>
                <a:lnTo>
                  <a:pt x="15644" y="506702"/>
                </a:lnTo>
                <a:lnTo>
                  <a:pt x="27478" y="461547"/>
                </a:lnTo>
                <a:lnTo>
                  <a:pt x="42412" y="417734"/>
                </a:lnTo>
                <a:lnTo>
                  <a:pt x="60320" y="375390"/>
                </a:lnTo>
                <a:lnTo>
                  <a:pt x="81077" y="334639"/>
                </a:lnTo>
                <a:lnTo>
                  <a:pt x="104558" y="295608"/>
                </a:lnTo>
                <a:lnTo>
                  <a:pt x="130637" y="258422"/>
                </a:lnTo>
                <a:lnTo>
                  <a:pt x="159188" y="223207"/>
                </a:lnTo>
                <a:lnTo>
                  <a:pt x="190087" y="190087"/>
                </a:lnTo>
                <a:lnTo>
                  <a:pt x="223207" y="159188"/>
                </a:lnTo>
                <a:lnTo>
                  <a:pt x="258422" y="130637"/>
                </a:lnTo>
                <a:lnTo>
                  <a:pt x="295608" y="104558"/>
                </a:lnTo>
                <a:lnTo>
                  <a:pt x="334639" y="81077"/>
                </a:lnTo>
                <a:lnTo>
                  <a:pt x="375390" y="60320"/>
                </a:lnTo>
                <a:lnTo>
                  <a:pt x="417734" y="42412"/>
                </a:lnTo>
                <a:lnTo>
                  <a:pt x="461547" y="27478"/>
                </a:lnTo>
                <a:lnTo>
                  <a:pt x="506702" y="15644"/>
                </a:lnTo>
                <a:lnTo>
                  <a:pt x="553074" y="7037"/>
                </a:lnTo>
                <a:lnTo>
                  <a:pt x="600539" y="1780"/>
                </a:lnTo>
                <a:lnTo>
                  <a:pt x="648970" y="0"/>
                </a:lnTo>
                <a:lnTo>
                  <a:pt x="697400" y="1780"/>
                </a:lnTo>
                <a:lnTo>
                  <a:pt x="744865" y="7037"/>
                </a:lnTo>
                <a:lnTo>
                  <a:pt x="791237" y="15644"/>
                </a:lnTo>
                <a:lnTo>
                  <a:pt x="836392" y="27478"/>
                </a:lnTo>
                <a:lnTo>
                  <a:pt x="880205" y="42412"/>
                </a:lnTo>
                <a:lnTo>
                  <a:pt x="922549" y="60320"/>
                </a:lnTo>
                <a:lnTo>
                  <a:pt x="963300" y="81077"/>
                </a:lnTo>
                <a:lnTo>
                  <a:pt x="1002331" y="104558"/>
                </a:lnTo>
                <a:lnTo>
                  <a:pt x="1039517" y="130637"/>
                </a:lnTo>
                <a:lnTo>
                  <a:pt x="1074732" y="159188"/>
                </a:lnTo>
                <a:lnTo>
                  <a:pt x="1107852" y="190087"/>
                </a:lnTo>
                <a:lnTo>
                  <a:pt x="1138751" y="223207"/>
                </a:lnTo>
                <a:lnTo>
                  <a:pt x="1167302" y="258422"/>
                </a:lnTo>
                <a:lnTo>
                  <a:pt x="1193381" y="295608"/>
                </a:lnTo>
                <a:lnTo>
                  <a:pt x="1216862" y="334639"/>
                </a:lnTo>
                <a:lnTo>
                  <a:pt x="1237619" y="375390"/>
                </a:lnTo>
                <a:lnTo>
                  <a:pt x="1255527" y="417734"/>
                </a:lnTo>
                <a:lnTo>
                  <a:pt x="1270461" y="461547"/>
                </a:lnTo>
                <a:lnTo>
                  <a:pt x="1282295" y="506702"/>
                </a:lnTo>
                <a:lnTo>
                  <a:pt x="1290902" y="553074"/>
                </a:lnTo>
                <a:lnTo>
                  <a:pt x="1296159" y="600539"/>
                </a:lnTo>
                <a:lnTo>
                  <a:pt x="1297939" y="648969"/>
                </a:lnTo>
                <a:lnTo>
                  <a:pt x="1296159" y="697400"/>
                </a:lnTo>
                <a:lnTo>
                  <a:pt x="1290902" y="744865"/>
                </a:lnTo>
                <a:lnTo>
                  <a:pt x="1282295" y="791237"/>
                </a:lnTo>
                <a:lnTo>
                  <a:pt x="1270461" y="836392"/>
                </a:lnTo>
                <a:lnTo>
                  <a:pt x="1255527" y="880205"/>
                </a:lnTo>
                <a:lnTo>
                  <a:pt x="1237619" y="922549"/>
                </a:lnTo>
                <a:lnTo>
                  <a:pt x="1216862" y="963300"/>
                </a:lnTo>
                <a:lnTo>
                  <a:pt x="1193381" y="1002331"/>
                </a:lnTo>
                <a:lnTo>
                  <a:pt x="1167302" y="1039517"/>
                </a:lnTo>
                <a:lnTo>
                  <a:pt x="1138751" y="1074732"/>
                </a:lnTo>
                <a:lnTo>
                  <a:pt x="1107852" y="1107852"/>
                </a:lnTo>
                <a:lnTo>
                  <a:pt x="1074732" y="1138751"/>
                </a:lnTo>
                <a:lnTo>
                  <a:pt x="1039517" y="1167302"/>
                </a:lnTo>
                <a:lnTo>
                  <a:pt x="1002331" y="1193381"/>
                </a:lnTo>
                <a:lnTo>
                  <a:pt x="963300" y="1216862"/>
                </a:lnTo>
                <a:lnTo>
                  <a:pt x="922549" y="1237619"/>
                </a:lnTo>
                <a:lnTo>
                  <a:pt x="880205" y="1255527"/>
                </a:lnTo>
                <a:lnTo>
                  <a:pt x="836392" y="1270461"/>
                </a:lnTo>
                <a:lnTo>
                  <a:pt x="791237" y="1282295"/>
                </a:lnTo>
                <a:lnTo>
                  <a:pt x="744865" y="1290902"/>
                </a:lnTo>
                <a:lnTo>
                  <a:pt x="697400" y="1296159"/>
                </a:lnTo>
                <a:lnTo>
                  <a:pt x="648970" y="1297939"/>
                </a:lnTo>
                <a:lnTo>
                  <a:pt x="600539" y="1296159"/>
                </a:lnTo>
                <a:lnTo>
                  <a:pt x="553074" y="1290902"/>
                </a:lnTo>
                <a:lnTo>
                  <a:pt x="506702" y="1282295"/>
                </a:lnTo>
                <a:lnTo>
                  <a:pt x="461547" y="1270461"/>
                </a:lnTo>
                <a:lnTo>
                  <a:pt x="417734" y="1255527"/>
                </a:lnTo>
                <a:lnTo>
                  <a:pt x="375390" y="1237619"/>
                </a:lnTo>
                <a:lnTo>
                  <a:pt x="334639" y="1216862"/>
                </a:lnTo>
                <a:lnTo>
                  <a:pt x="295608" y="1193381"/>
                </a:lnTo>
                <a:lnTo>
                  <a:pt x="258422" y="1167302"/>
                </a:lnTo>
                <a:lnTo>
                  <a:pt x="223207" y="1138751"/>
                </a:lnTo>
                <a:lnTo>
                  <a:pt x="190087" y="1107852"/>
                </a:lnTo>
                <a:lnTo>
                  <a:pt x="159188" y="1074732"/>
                </a:lnTo>
                <a:lnTo>
                  <a:pt x="130637" y="1039517"/>
                </a:lnTo>
                <a:lnTo>
                  <a:pt x="104558" y="1002331"/>
                </a:lnTo>
                <a:lnTo>
                  <a:pt x="81077" y="963300"/>
                </a:lnTo>
                <a:lnTo>
                  <a:pt x="60320" y="922549"/>
                </a:lnTo>
                <a:lnTo>
                  <a:pt x="42412" y="880205"/>
                </a:lnTo>
                <a:lnTo>
                  <a:pt x="27478" y="836392"/>
                </a:lnTo>
                <a:lnTo>
                  <a:pt x="15644" y="791237"/>
                </a:lnTo>
                <a:lnTo>
                  <a:pt x="7037" y="744865"/>
                </a:lnTo>
                <a:lnTo>
                  <a:pt x="1780" y="697400"/>
                </a:lnTo>
                <a:lnTo>
                  <a:pt x="0" y="648969"/>
                </a:lnTo>
                <a:close/>
              </a:path>
            </a:pathLst>
          </a:custGeom>
          <a:ln w="12700">
            <a:solidFill>
              <a:srgbClr val="3C67B0"/>
            </a:solidFill>
          </a:ln>
        </p:spPr>
        <p:txBody>
          <a:bodyPr wrap="square" lIns="0" tIns="0" rIns="0" bIns="0" rtlCol="0"/>
          <a:lstStyle/>
          <a:p>
            <a:endParaRPr sz="1050"/>
          </a:p>
        </p:txBody>
      </p:sp>
      <p:sp>
        <p:nvSpPr>
          <p:cNvPr id="29" name="object 29"/>
          <p:cNvSpPr txBox="1"/>
          <p:nvPr/>
        </p:nvSpPr>
        <p:spPr>
          <a:xfrm>
            <a:off x="2959894" y="1048226"/>
            <a:ext cx="511016" cy="333746"/>
          </a:xfrm>
          <a:prstGeom prst="rect">
            <a:avLst/>
          </a:prstGeom>
        </p:spPr>
        <p:txBody>
          <a:bodyPr vert="horz" wrap="square" lIns="0" tIns="25718" rIns="0" bIns="0" rtlCol="0">
            <a:spAutoFit/>
          </a:bodyPr>
          <a:lstStyle/>
          <a:p>
            <a:pPr marL="9525" marR="3810">
              <a:lnSpc>
                <a:spcPts val="1245"/>
              </a:lnSpc>
              <a:spcBef>
                <a:spcPts val="203"/>
              </a:spcBef>
            </a:pPr>
            <a:r>
              <a:rPr sz="1125" spc="-8" dirty="0">
                <a:latin typeface="Calibri Light"/>
                <a:cs typeface="Calibri Light"/>
              </a:rPr>
              <a:t>A</a:t>
            </a:r>
            <a:r>
              <a:rPr sz="1125" dirty="0">
                <a:latin typeface="Calibri Light"/>
                <a:cs typeface="Calibri Light"/>
              </a:rPr>
              <a:t>n</a:t>
            </a:r>
            <a:r>
              <a:rPr sz="1125" spc="-8" dirty="0">
                <a:latin typeface="Calibri Light"/>
                <a:cs typeface="Calibri Light"/>
              </a:rPr>
              <a:t>a</a:t>
            </a:r>
            <a:r>
              <a:rPr sz="1125" spc="4" dirty="0">
                <a:latin typeface="Calibri Light"/>
                <a:cs typeface="Calibri Light"/>
              </a:rPr>
              <a:t>líti</a:t>
            </a:r>
            <a:r>
              <a:rPr sz="1125" spc="-15" dirty="0">
                <a:latin typeface="Calibri Light"/>
                <a:cs typeface="Calibri Light"/>
              </a:rPr>
              <a:t>c</a:t>
            </a:r>
            <a:r>
              <a:rPr sz="1125" dirty="0">
                <a:latin typeface="Calibri Light"/>
                <a:cs typeface="Calibri Light"/>
              </a:rPr>
              <a:t>a  de</a:t>
            </a:r>
            <a:r>
              <a:rPr sz="1125" spc="-56" dirty="0">
                <a:latin typeface="Calibri Light"/>
                <a:cs typeface="Calibri Light"/>
              </a:rPr>
              <a:t> </a:t>
            </a:r>
            <a:r>
              <a:rPr sz="1125" spc="-11" dirty="0">
                <a:latin typeface="Calibri Light"/>
                <a:cs typeface="Calibri Light"/>
              </a:rPr>
              <a:t>datos</a:t>
            </a:r>
            <a:endParaRPr sz="1125" dirty="0">
              <a:latin typeface="Calibri Light"/>
              <a:cs typeface="Calibri Light"/>
            </a:endParaRPr>
          </a:p>
        </p:txBody>
      </p:sp>
      <p:sp>
        <p:nvSpPr>
          <p:cNvPr id="30" name="object 30"/>
          <p:cNvSpPr/>
          <p:nvPr/>
        </p:nvSpPr>
        <p:spPr>
          <a:xfrm>
            <a:off x="3679317" y="735329"/>
            <a:ext cx="273844" cy="292418"/>
          </a:xfrm>
          <a:custGeom>
            <a:avLst/>
            <a:gdLst/>
            <a:ahLst/>
            <a:cxnLst/>
            <a:rect l="l" t="t" r="r" b="b"/>
            <a:pathLst>
              <a:path w="365125" h="389890">
                <a:moveTo>
                  <a:pt x="105791" y="0"/>
                </a:moveTo>
                <a:lnTo>
                  <a:pt x="149606" y="75819"/>
                </a:lnTo>
                <a:lnTo>
                  <a:pt x="0" y="162179"/>
                </a:lnTo>
                <a:lnTo>
                  <a:pt x="131191" y="389509"/>
                </a:lnTo>
                <a:lnTo>
                  <a:pt x="280797" y="303149"/>
                </a:lnTo>
                <a:lnTo>
                  <a:pt x="335629" y="303149"/>
                </a:lnTo>
                <a:lnTo>
                  <a:pt x="364744" y="103124"/>
                </a:lnTo>
                <a:lnTo>
                  <a:pt x="105791" y="0"/>
                </a:lnTo>
                <a:close/>
              </a:path>
              <a:path w="365125" h="389890">
                <a:moveTo>
                  <a:pt x="335629" y="303149"/>
                </a:moveTo>
                <a:lnTo>
                  <a:pt x="280797" y="303149"/>
                </a:lnTo>
                <a:lnTo>
                  <a:pt x="324612" y="378840"/>
                </a:lnTo>
                <a:lnTo>
                  <a:pt x="335629" y="303149"/>
                </a:lnTo>
                <a:close/>
              </a:path>
            </a:pathLst>
          </a:custGeom>
          <a:solidFill>
            <a:srgbClr val="AFBBDE"/>
          </a:solidFill>
        </p:spPr>
        <p:txBody>
          <a:bodyPr wrap="square" lIns="0" tIns="0" rIns="0" bIns="0" rtlCol="0"/>
          <a:lstStyle/>
          <a:p>
            <a:endParaRPr sz="1050"/>
          </a:p>
        </p:txBody>
      </p:sp>
    </p:spTree>
    <p:extLst>
      <p:ext uri="{BB962C8B-B14F-4D97-AF65-F5344CB8AC3E}">
        <p14:creationId xmlns:p14="http://schemas.microsoft.com/office/powerpoint/2010/main" val="489528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4339550" y="735950"/>
            <a:ext cx="47265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 b="1" dirty="0"/>
              <a:t>Programación en Python</a:t>
            </a:r>
            <a:endParaRPr b="1" dirty="0"/>
          </a:p>
        </p:txBody>
      </p:sp>
      <p:sp>
        <p:nvSpPr>
          <p:cNvPr id="55" name="Google Shape;55;p13"/>
          <p:cNvSpPr txBox="1">
            <a:spLocks noGrp="1"/>
          </p:cNvSpPr>
          <p:nvPr>
            <p:ph type="subTitle" idx="1"/>
          </p:nvPr>
        </p:nvSpPr>
        <p:spPr>
          <a:xfrm>
            <a:off x="4510050" y="3257725"/>
            <a:ext cx="4296300" cy="792600"/>
          </a:xfrm>
          <a:prstGeom prst="rect">
            <a:avLst/>
          </a:prstGeom>
        </p:spPr>
        <p:txBody>
          <a:bodyPr spcFirstLastPara="1" wrap="square" lIns="91425" tIns="91425" rIns="91425" bIns="91425" anchor="t" anchorCtr="0">
            <a:normAutofit fontScale="92500"/>
          </a:bodyPr>
          <a:lstStyle/>
          <a:p>
            <a:pPr marL="0" lvl="0" indent="0" algn="ctr" rtl="0">
              <a:spcBef>
                <a:spcPts val="0"/>
              </a:spcBef>
              <a:spcAft>
                <a:spcPts val="0"/>
              </a:spcAft>
              <a:buNone/>
            </a:pPr>
            <a:r>
              <a:rPr lang="es" b="1" i="1" dirty="0"/>
              <a:t>Oscar Ivan Vargas Pineda</a:t>
            </a:r>
            <a:endParaRPr b="1" i="1" dirty="0"/>
          </a:p>
        </p:txBody>
      </p:sp>
      <p:pic>
        <p:nvPicPr>
          <p:cNvPr id="56" name="Google Shape;56;p13"/>
          <p:cNvPicPr preferRelativeResize="0"/>
          <p:nvPr/>
        </p:nvPicPr>
        <p:blipFill>
          <a:blip r:embed="rId3">
            <a:alphaModFix/>
          </a:blip>
          <a:stretch>
            <a:fillRect/>
          </a:stretch>
        </p:blipFill>
        <p:spPr>
          <a:xfrm>
            <a:off x="0" y="0"/>
            <a:ext cx="4296325" cy="51435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224CD-AE2B-5037-4D99-FB9B1256170D}"/>
              </a:ext>
            </a:extLst>
          </p:cNvPr>
          <p:cNvSpPr>
            <a:spLocks noGrp="1"/>
          </p:cNvSpPr>
          <p:nvPr>
            <p:ph type="title"/>
          </p:nvPr>
        </p:nvSpPr>
        <p:spPr>
          <a:xfrm>
            <a:off x="384529" y="265406"/>
            <a:ext cx="8520600" cy="841800"/>
          </a:xfrm>
        </p:spPr>
        <p:txBody>
          <a:bodyPr/>
          <a:lstStyle/>
          <a:p>
            <a:r>
              <a:rPr lang="es-MX" b="1" dirty="0">
                <a:solidFill>
                  <a:srgbClr val="C00000"/>
                </a:solidFill>
                <a:latin typeface="Amasis MT Pro Black" panose="02040A04050005020304" pitchFamily="18" charset="0"/>
              </a:rPr>
              <a:t>Lenguajes de Programación</a:t>
            </a:r>
            <a:endParaRPr lang="es-CO" b="1" dirty="0">
              <a:solidFill>
                <a:srgbClr val="002060"/>
              </a:solidFill>
              <a:latin typeface="Amasis MT Pro Black" panose="02040A04050005020304" pitchFamily="18" charset="0"/>
            </a:endParaRPr>
          </a:p>
        </p:txBody>
      </p:sp>
      <p:sp>
        <p:nvSpPr>
          <p:cNvPr id="5" name="CuadroTexto 4">
            <a:extLst>
              <a:ext uri="{FF2B5EF4-FFF2-40B4-BE49-F238E27FC236}">
                <a16:creationId xmlns:a16="http://schemas.microsoft.com/office/drawing/2014/main" id="{279E7E7F-97DB-959E-62B9-5A066741C131}"/>
              </a:ext>
            </a:extLst>
          </p:cNvPr>
          <p:cNvSpPr txBox="1"/>
          <p:nvPr/>
        </p:nvSpPr>
        <p:spPr>
          <a:xfrm>
            <a:off x="384529" y="1221897"/>
            <a:ext cx="2925113" cy="400110"/>
          </a:xfrm>
          <a:prstGeom prst="rect">
            <a:avLst/>
          </a:prstGeom>
          <a:noFill/>
        </p:spPr>
        <p:txBody>
          <a:bodyPr wrap="square" rtlCol="0">
            <a:spAutoFit/>
          </a:bodyPr>
          <a:lstStyle/>
          <a:p>
            <a:r>
              <a:rPr lang="es-MX" sz="2000" b="1" dirty="0"/>
              <a:t>Vamos a definirla. . .</a:t>
            </a:r>
            <a:endParaRPr lang="es-CO" sz="2000" b="1" dirty="0"/>
          </a:p>
        </p:txBody>
      </p:sp>
      <p:pic>
        <p:nvPicPr>
          <p:cNvPr id="2050" name="Picture 2" descr="El arte y la ciencia detrás de los GIF">
            <a:extLst>
              <a:ext uri="{FF2B5EF4-FFF2-40B4-BE49-F238E27FC236}">
                <a16:creationId xmlns:a16="http://schemas.microsoft.com/office/drawing/2014/main" id="{F58EE2F0-C515-FADA-88DB-41626E2B1D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9629" y="1221897"/>
            <a:ext cx="59055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9397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a:spLocks noGrp="1"/>
          </p:cNvSpPr>
          <p:nvPr>
            <p:ph type="ctrTitle"/>
          </p:nvPr>
        </p:nvSpPr>
        <p:spPr>
          <a:xfrm>
            <a:off x="311700" y="88778"/>
            <a:ext cx="8520600" cy="2797174"/>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CO" sz="6600" b="1" dirty="0">
                <a:latin typeface="Impact"/>
                <a:ea typeface="Impact"/>
                <a:cs typeface="Impact"/>
                <a:sym typeface="Impact"/>
              </a:rPr>
              <a:t>Lenguaje de </a:t>
            </a:r>
            <a:br>
              <a:rPr lang="es-CO" sz="6600" b="1" dirty="0">
                <a:latin typeface="Impact"/>
                <a:ea typeface="Impact"/>
                <a:cs typeface="Impact"/>
                <a:sym typeface="Impact"/>
              </a:rPr>
            </a:br>
            <a:r>
              <a:rPr lang="es-CO" sz="6600" b="1" dirty="0">
                <a:latin typeface="Impact"/>
                <a:ea typeface="Impact"/>
                <a:cs typeface="Impact"/>
                <a:sym typeface="Impact"/>
              </a:rPr>
              <a:t>programación</a:t>
            </a:r>
            <a:endParaRPr sz="6600" b="1" dirty="0">
              <a:latin typeface="Impact"/>
              <a:ea typeface="Impact"/>
              <a:cs typeface="Impact"/>
              <a:sym typeface="Impact"/>
            </a:endParaRPr>
          </a:p>
        </p:txBody>
      </p:sp>
      <p:pic>
        <p:nvPicPr>
          <p:cNvPr id="78" name="Google Shape;78;p16"/>
          <p:cNvPicPr preferRelativeResize="0"/>
          <p:nvPr/>
        </p:nvPicPr>
        <p:blipFill>
          <a:blip r:embed="rId3">
            <a:alphaModFix/>
          </a:blip>
          <a:stretch>
            <a:fillRect/>
          </a:stretch>
        </p:blipFill>
        <p:spPr>
          <a:xfrm>
            <a:off x="4025575" y="3044401"/>
            <a:ext cx="4706585" cy="2041525"/>
          </a:xfrm>
          <a:prstGeom prst="rect">
            <a:avLst/>
          </a:prstGeom>
          <a:noFill/>
          <a:ln>
            <a:noFill/>
          </a:ln>
        </p:spPr>
      </p:pic>
      <p:pic>
        <p:nvPicPr>
          <p:cNvPr id="6146" name="Picture 2" descr="La programación como lenguaje de comunicación entre el humano y la máquina  | by Enter | Medium">
            <a:extLst>
              <a:ext uri="{FF2B5EF4-FFF2-40B4-BE49-F238E27FC236}">
                <a16:creationId xmlns:a16="http://schemas.microsoft.com/office/drawing/2014/main" id="{6769E4F2-FDCC-CBE7-B139-B8F769E362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973" y="2885952"/>
            <a:ext cx="3728359" cy="20836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9029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a:spLocks noGrp="1"/>
          </p:cNvSpPr>
          <p:nvPr>
            <p:ph type="title"/>
          </p:nvPr>
        </p:nvSpPr>
        <p:spPr>
          <a:xfrm>
            <a:off x="311700" y="174350"/>
            <a:ext cx="8520600" cy="1116065"/>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s" sz="3200" b="1" dirty="0">
                <a:solidFill>
                  <a:srgbClr val="C00000"/>
                </a:solidFill>
                <a:latin typeface="Aharoni" panose="02010803020104030203" pitchFamily="2" charset="-79"/>
                <a:cs typeface="Aharoni" panose="02010803020104030203" pitchFamily="2" charset="-79"/>
              </a:rPr>
              <a:t>¿Qué es un lenguaje de programación?</a:t>
            </a:r>
            <a:endParaRPr sz="3200" b="1" dirty="0">
              <a:solidFill>
                <a:srgbClr val="C00000"/>
              </a:solidFill>
              <a:latin typeface="Aharoni" panose="02010803020104030203" pitchFamily="2" charset="-79"/>
              <a:cs typeface="Aharoni" panose="02010803020104030203" pitchFamily="2" charset="-79"/>
            </a:endParaRPr>
          </a:p>
        </p:txBody>
      </p:sp>
      <p:sp>
        <p:nvSpPr>
          <p:cNvPr id="84" name="Google Shape;84;p17"/>
          <p:cNvSpPr txBox="1">
            <a:spLocks noGrp="1"/>
          </p:cNvSpPr>
          <p:nvPr>
            <p:ph type="body" idx="1"/>
          </p:nvPr>
        </p:nvSpPr>
        <p:spPr>
          <a:xfrm>
            <a:off x="4903216" y="1341636"/>
            <a:ext cx="3999900" cy="1674300"/>
          </a:xfrm>
          <a:prstGeom prst="rect">
            <a:avLst/>
          </a:prstGeom>
        </p:spPr>
        <p:txBody>
          <a:bodyPr spcFirstLastPara="1" wrap="square" lIns="91425" tIns="91425" rIns="91425" bIns="91425" anchor="t" anchorCtr="0">
            <a:normAutofit/>
          </a:bodyPr>
          <a:lstStyle/>
          <a:p>
            <a:pPr marL="0" lvl="0" indent="0" algn="just" rtl="0">
              <a:spcBef>
                <a:spcPts val="0"/>
              </a:spcBef>
              <a:spcAft>
                <a:spcPts val="1200"/>
              </a:spcAft>
              <a:buNone/>
            </a:pPr>
            <a:r>
              <a:rPr lang="es" sz="1600" dirty="0">
                <a:solidFill>
                  <a:srgbClr val="202124"/>
                </a:solidFill>
                <a:highlight>
                  <a:srgbClr val="FFFFFF"/>
                </a:highlight>
              </a:rPr>
              <a:t>Un lenguaje como podría ser el inglés. La diferencia es que </a:t>
            </a:r>
            <a:r>
              <a:rPr lang="es" sz="1600" b="1" dirty="0">
                <a:solidFill>
                  <a:srgbClr val="202124"/>
                </a:solidFill>
                <a:highlight>
                  <a:srgbClr val="FFFFFF"/>
                </a:highlight>
              </a:rPr>
              <a:t>sirve únicamente para comunicarse con una máquina y controlar su comportamiento</a:t>
            </a:r>
            <a:endParaRPr sz="1800" dirty="0"/>
          </a:p>
        </p:txBody>
      </p:sp>
      <p:sp>
        <p:nvSpPr>
          <p:cNvPr id="85" name="Google Shape;85;p17"/>
          <p:cNvSpPr txBox="1">
            <a:spLocks noGrp="1"/>
          </p:cNvSpPr>
          <p:nvPr>
            <p:ph type="body" idx="2"/>
          </p:nvPr>
        </p:nvSpPr>
        <p:spPr>
          <a:xfrm>
            <a:off x="311700" y="1588310"/>
            <a:ext cx="3999900" cy="1116065"/>
          </a:xfrm>
          <a:prstGeom prst="rect">
            <a:avLst/>
          </a:prstGeom>
        </p:spPr>
        <p:txBody>
          <a:bodyPr spcFirstLastPara="1" wrap="square" lIns="91425" tIns="91425" rIns="91425" bIns="91425" anchor="t" anchorCtr="0">
            <a:normAutofit lnSpcReduction="10000"/>
          </a:bodyPr>
          <a:lstStyle/>
          <a:p>
            <a:pPr marL="0" lvl="0" indent="0" algn="just" rtl="0">
              <a:spcBef>
                <a:spcPts val="0"/>
              </a:spcBef>
              <a:spcAft>
                <a:spcPts val="1200"/>
              </a:spcAft>
              <a:buNone/>
            </a:pPr>
            <a:r>
              <a:rPr lang="es" sz="1600" b="1" dirty="0">
                <a:solidFill>
                  <a:srgbClr val="202124"/>
                </a:solidFill>
                <a:highlight>
                  <a:srgbClr val="FFFFFF"/>
                </a:highlight>
              </a:rPr>
              <a:t>Programas informáticos </a:t>
            </a:r>
            <a:r>
              <a:rPr lang="es" sz="1600" dirty="0">
                <a:solidFill>
                  <a:srgbClr val="202124"/>
                </a:solidFill>
                <a:highlight>
                  <a:srgbClr val="FFFFFF"/>
                </a:highlight>
              </a:rPr>
              <a:t>que hacen posible la </a:t>
            </a:r>
            <a:r>
              <a:rPr lang="es" sz="1600" b="1" dirty="0">
                <a:solidFill>
                  <a:srgbClr val="202124"/>
                </a:solidFill>
                <a:highlight>
                  <a:srgbClr val="FFFFFF"/>
                </a:highlight>
              </a:rPr>
              <a:t>ejecución de tareas específicas </a:t>
            </a:r>
            <a:r>
              <a:rPr lang="es" sz="1600" dirty="0">
                <a:solidFill>
                  <a:srgbClr val="202124"/>
                </a:solidFill>
                <a:highlight>
                  <a:srgbClr val="FFFFFF"/>
                </a:highlight>
              </a:rPr>
              <a:t>dentro de un computador</a:t>
            </a:r>
            <a:endParaRPr sz="1800" dirty="0"/>
          </a:p>
        </p:txBody>
      </p:sp>
      <p:pic>
        <p:nvPicPr>
          <p:cNvPr id="87" name="Google Shape;87;p17"/>
          <p:cNvPicPr preferRelativeResize="0"/>
          <p:nvPr/>
        </p:nvPicPr>
        <p:blipFill>
          <a:blip r:embed="rId3">
            <a:alphaModFix/>
          </a:blip>
          <a:stretch>
            <a:fillRect/>
          </a:stretch>
        </p:blipFill>
        <p:spPr>
          <a:xfrm>
            <a:off x="823376" y="3015936"/>
            <a:ext cx="2976548" cy="1674300"/>
          </a:xfrm>
          <a:prstGeom prst="rect">
            <a:avLst/>
          </a:prstGeom>
          <a:noFill/>
          <a:ln>
            <a:noFill/>
          </a:ln>
        </p:spPr>
      </p:pic>
      <p:pic>
        <p:nvPicPr>
          <p:cNvPr id="2" name="Imagen 1">
            <a:extLst>
              <a:ext uri="{FF2B5EF4-FFF2-40B4-BE49-F238E27FC236}">
                <a16:creationId xmlns:a16="http://schemas.microsoft.com/office/drawing/2014/main" id="{217B1C77-1BAE-C929-2322-B2C9380DE575}"/>
              </a:ext>
            </a:extLst>
          </p:cNvPr>
          <p:cNvPicPr>
            <a:picLocks noChangeAspect="1"/>
          </p:cNvPicPr>
          <p:nvPr/>
        </p:nvPicPr>
        <p:blipFill>
          <a:blip r:embed="rId4"/>
          <a:stretch>
            <a:fillRect/>
          </a:stretch>
        </p:blipFill>
        <p:spPr>
          <a:xfrm>
            <a:off x="4777100" y="2821582"/>
            <a:ext cx="4126016" cy="2063008"/>
          </a:xfrm>
          <a:prstGeom prst="rect">
            <a:avLst/>
          </a:prstGeom>
        </p:spPr>
      </p:pic>
      <p:sp>
        <p:nvSpPr>
          <p:cNvPr id="3" name="Rectángulo 2">
            <a:extLst>
              <a:ext uri="{FF2B5EF4-FFF2-40B4-BE49-F238E27FC236}">
                <a16:creationId xmlns:a16="http://schemas.microsoft.com/office/drawing/2014/main" id="{C6C1FD4C-CA73-3D5C-D985-45E394F87CCC}"/>
              </a:ext>
            </a:extLst>
          </p:cNvPr>
          <p:cNvSpPr/>
          <p:nvPr/>
        </p:nvSpPr>
        <p:spPr>
          <a:xfrm>
            <a:off x="5828232" y="2821582"/>
            <a:ext cx="1034041" cy="554007"/>
          </a:xfrm>
          <a:prstGeom prst="rect">
            <a:avLst/>
          </a:prstGeom>
          <a:noFill/>
          <a:ln>
            <a:solidFill>
              <a:srgbClr val="FF000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CO"/>
          </a:p>
        </p:txBody>
      </p:sp>
    </p:spTree>
    <p:extLst>
      <p:ext uri="{BB962C8B-B14F-4D97-AF65-F5344CB8AC3E}">
        <p14:creationId xmlns:p14="http://schemas.microsoft.com/office/powerpoint/2010/main" val="2817928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4">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build="p"/>
      <p:bldP spid="85" grpId="0" build="p"/>
      <p:bldP spid="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3" name="Google Shape;93;p18"/>
          <p:cNvSpPr txBox="1">
            <a:spLocks noGrp="1"/>
          </p:cNvSpPr>
          <p:nvPr>
            <p:ph type="body" idx="1"/>
          </p:nvPr>
        </p:nvSpPr>
        <p:spPr>
          <a:xfrm>
            <a:off x="4572000" y="1759860"/>
            <a:ext cx="3999900" cy="2803594"/>
          </a:xfrm>
          <a:prstGeom prst="rect">
            <a:avLst/>
          </a:prstGeom>
        </p:spPr>
        <p:txBody>
          <a:bodyPr spcFirstLastPara="1" wrap="square" lIns="91425" tIns="91425" rIns="91425" bIns="91425" anchor="t" anchorCtr="0">
            <a:normAutofit fontScale="92500" lnSpcReduction="10000"/>
          </a:bodyPr>
          <a:lstStyle/>
          <a:p>
            <a:pPr marL="285750" indent="-285750">
              <a:spcAft>
                <a:spcPts val="1200"/>
              </a:spcAft>
            </a:pPr>
            <a:r>
              <a:rPr lang="es" sz="1800" b="1" dirty="0">
                <a:solidFill>
                  <a:srgbClr val="C00000"/>
                </a:solidFill>
                <a:latin typeface="Aharoni" panose="02010803020104030203" pitchFamily="2" charset="-79"/>
                <a:cs typeface="Aharoni" panose="02010803020104030203" pitchFamily="2" charset="-79"/>
              </a:rPr>
              <a:t>Es un lenguaje multiproposito </a:t>
            </a:r>
          </a:p>
          <a:p>
            <a:pPr marL="285750" indent="-285750">
              <a:spcAft>
                <a:spcPts val="1200"/>
              </a:spcAft>
            </a:pPr>
            <a:r>
              <a:rPr lang="es" sz="1800" b="1" dirty="0">
                <a:solidFill>
                  <a:srgbClr val="C00000"/>
                </a:solidFill>
                <a:latin typeface="Aharoni" panose="02010803020104030203" pitchFamily="2" charset="-79"/>
                <a:cs typeface="Aharoni" panose="02010803020104030203" pitchFamily="2" charset="-79"/>
              </a:rPr>
              <a:t>Alto nivel </a:t>
            </a:r>
          </a:p>
          <a:p>
            <a:pPr marL="285750" indent="-285750">
              <a:spcAft>
                <a:spcPts val="1200"/>
              </a:spcAft>
            </a:pPr>
            <a:r>
              <a:rPr lang="es-MX" sz="1800" b="1" dirty="0">
                <a:solidFill>
                  <a:srgbClr val="C00000"/>
                </a:solidFill>
                <a:latin typeface="Aharoni" panose="02010803020104030203" pitchFamily="2" charset="-79"/>
                <a:cs typeface="Aharoni" panose="02010803020104030203" pitchFamily="2" charset="-79"/>
              </a:rPr>
              <a:t>Fácil de aprender</a:t>
            </a:r>
          </a:p>
          <a:p>
            <a:pPr marL="285750" indent="-285750">
              <a:spcAft>
                <a:spcPts val="1200"/>
              </a:spcAft>
            </a:pPr>
            <a:r>
              <a:rPr lang="es-MX" sz="1800" b="1" dirty="0">
                <a:solidFill>
                  <a:srgbClr val="C00000"/>
                </a:solidFill>
                <a:latin typeface="Aharoni" panose="02010803020104030203" pitchFamily="2" charset="-79"/>
                <a:cs typeface="Aharoni" panose="02010803020104030203" pitchFamily="2" charset="-79"/>
              </a:rPr>
              <a:t>Tipado dinámico</a:t>
            </a:r>
          </a:p>
          <a:p>
            <a:pPr marL="285750" indent="-285750">
              <a:spcAft>
                <a:spcPts val="1200"/>
              </a:spcAft>
            </a:pPr>
            <a:r>
              <a:rPr lang="es-MX" sz="1800" b="1" dirty="0">
                <a:solidFill>
                  <a:srgbClr val="C00000"/>
                </a:solidFill>
                <a:latin typeface="Aharoni" panose="02010803020104030203" pitchFamily="2" charset="-79"/>
                <a:cs typeface="Aharoni" panose="02010803020104030203" pitchFamily="2" charset="-79"/>
              </a:rPr>
              <a:t>Orientado a objetos </a:t>
            </a:r>
          </a:p>
          <a:p>
            <a:pPr marL="285750" indent="-285750">
              <a:spcAft>
                <a:spcPts val="1200"/>
              </a:spcAft>
            </a:pPr>
            <a:r>
              <a:rPr lang="es-MX" sz="1800" b="1" dirty="0">
                <a:solidFill>
                  <a:srgbClr val="C00000"/>
                </a:solidFill>
                <a:latin typeface="Aharoni" panose="02010803020104030203" pitchFamily="2" charset="-79"/>
                <a:cs typeface="Aharoni" panose="02010803020104030203" pitchFamily="2" charset="-79"/>
              </a:rPr>
              <a:t>Lenguaje interpretado</a:t>
            </a:r>
            <a:endParaRPr sz="1800" b="1" dirty="0">
              <a:solidFill>
                <a:srgbClr val="C00000"/>
              </a:solidFill>
              <a:latin typeface="Aharoni" panose="02010803020104030203" pitchFamily="2" charset="-79"/>
              <a:cs typeface="Aharoni" panose="02010803020104030203" pitchFamily="2" charset="-79"/>
            </a:endParaRPr>
          </a:p>
        </p:txBody>
      </p:sp>
      <p:pic>
        <p:nvPicPr>
          <p:cNvPr id="96" name="Google Shape;96;p18"/>
          <p:cNvPicPr preferRelativeResize="0"/>
          <p:nvPr/>
        </p:nvPicPr>
        <p:blipFill>
          <a:blip r:embed="rId3">
            <a:alphaModFix/>
          </a:blip>
          <a:stretch>
            <a:fillRect/>
          </a:stretch>
        </p:blipFill>
        <p:spPr>
          <a:xfrm>
            <a:off x="4395282" y="324741"/>
            <a:ext cx="4353336" cy="1521318"/>
          </a:xfrm>
          <a:prstGeom prst="rect">
            <a:avLst/>
          </a:prstGeom>
          <a:noFill/>
          <a:ln>
            <a:noFill/>
          </a:ln>
        </p:spPr>
      </p:pic>
      <p:pic>
        <p:nvPicPr>
          <p:cNvPr id="4" name="Google Shape;56;p13">
            <a:extLst>
              <a:ext uri="{FF2B5EF4-FFF2-40B4-BE49-F238E27FC236}">
                <a16:creationId xmlns:a16="http://schemas.microsoft.com/office/drawing/2014/main" id="{425BE0B6-C4E6-8FB3-4A8F-B9F1D4427FE3}"/>
              </a:ext>
            </a:extLst>
          </p:cNvPr>
          <p:cNvPicPr preferRelativeResize="0"/>
          <p:nvPr/>
        </p:nvPicPr>
        <p:blipFill>
          <a:blip r:embed="rId4">
            <a:alphaModFix/>
          </a:blip>
          <a:stretch>
            <a:fillRect/>
          </a:stretch>
        </p:blipFill>
        <p:spPr>
          <a:xfrm>
            <a:off x="234788" y="789866"/>
            <a:ext cx="3756098" cy="4115420"/>
          </a:xfrm>
          <a:prstGeom prst="rect">
            <a:avLst/>
          </a:prstGeom>
          <a:noFill/>
          <a:ln>
            <a:noFill/>
          </a:ln>
        </p:spPr>
      </p:pic>
    </p:spTree>
    <p:extLst>
      <p:ext uri="{BB962C8B-B14F-4D97-AF65-F5344CB8AC3E}">
        <p14:creationId xmlns:p14="http://schemas.microsoft.com/office/powerpoint/2010/main" val="1779927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EB3F241B-8741-446D-8A05-D667696E6781}"/>
              </a:ext>
            </a:extLst>
          </p:cNvPr>
          <p:cNvPicPr>
            <a:picLocks noChangeAspect="1"/>
          </p:cNvPicPr>
          <p:nvPr/>
        </p:nvPicPr>
        <p:blipFill>
          <a:blip r:embed="rId2"/>
          <a:stretch>
            <a:fillRect/>
          </a:stretch>
        </p:blipFill>
        <p:spPr>
          <a:xfrm>
            <a:off x="4699532" y="2629633"/>
            <a:ext cx="4444468" cy="2529417"/>
          </a:xfrm>
          <a:prstGeom prst="rect">
            <a:avLst/>
          </a:prstGeom>
        </p:spPr>
      </p:pic>
      <p:sp>
        <p:nvSpPr>
          <p:cNvPr id="5" name="CuadroTexto 4">
            <a:extLst>
              <a:ext uri="{FF2B5EF4-FFF2-40B4-BE49-F238E27FC236}">
                <a16:creationId xmlns:a16="http://schemas.microsoft.com/office/drawing/2014/main" id="{2782ED86-0C03-0299-7749-5C0630624041}"/>
              </a:ext>
            </a:extLst>
          </p:cNvPr>
          <p:cNvSpPr txBox="1"/>
          <p:nvPr/>
        </p:nvSpPr>
        <p:spPr>
          <a:xfrm>
            <a:off x="5097005" y="1833086"/>
            <a:ext cx="3893246" cy="738664"/>
          </a:xfrm>
          <a:prstGeom prst="rect">
            <a:avLst/>
          </a:prstGeom>
          <a:noFill/>
        </p:spPr>
        <p:txBody>
          <a:bodyPr wrap="square">
            <a:spAutoFit/>
          </a:bodyPr>
          <a:lstStyle/>
          <a:p>
            <a:r>
              <a:rPr lang="es-MX" dirty="0"/>
              <a:t>¿Qué lenguaje de programación recomendaría a los nuevos científicos de datos aprender primero?</a:t>
            </a:r>
            <a:endParaRPr lang="es-CO" dirty="0"/>
          </a:p>
        </p:txBody>
      </p:sp>
      <p:sp>
        <p:nvSpPr>
          <p:cNvPr id="7" name="CuadroTexto 6">
            <a:extLst>
              <a:ext uri="{FF2B5EF4-FFF2-40B4-BE49-F238E27FC236}">
                <a16:creationId xmlns:a16="http://schemas.microsoft.com/office/drawing/2014/main" id="{D88984BF-B6A1-89FD-C2AC-D9933C30F2A5}"/>
              </a:ext>
            </a:extLst>
          </p:cNvPr>
          <p:cNvSpPr txBox="1"/>
          <p:nvPr/>
        </p:nvSpPr>
        <p:spPr>
          <a:xfrm>
            <a:off x="225600" y="736472"/>
            <a:ext cx="4572000" cy="523220"/>
          </a:xfrm>
          <a:prstGeom prst="rect">
            <a:avLst/>
          </a:prstGeom>
          <a:noFill/>
        </p:spPr>
        <p:txBody>
          <a:bodyPr wrap="square">
            <a:spAutoFit/>
          </a:bodyPr>
          <a:lstStyle/>
          <a:p>
            <a:r>
              <a:rPr lang="es-MX" dirty="0"/>
              <a:t>Cuándo utilizar cada lenguaje de programación en ciencia de datos?</a:t>
            </a:r>
            <a:endParaRPr lang="es-CO" dirty="0"/>
          </a:p>
        </p:txBody>
      </p:sp>
      <p:pic>
        <p:nvPicPr>
          <p:cNvPr id="8" name="Imagen 7">
            <a:extLst>
              <a:ext uri="{FF2B5EF4-FFF2-40B4-BE49-F238E27FC236}">
                <a16:creationId xmlns:a16="http://schemas.microsoft.com/office/drawing/2014/main" id="{72B7EB38-2E2F-C7E4-E34F-EEB2CA11B009}"/>
              </a:ext>
            </a:extLst>
          </p:cNvPr>
          <p:cNvPicPr>
            <a:picLocks noChangeAspect="1"/>
          </p:cNvPicPr>
          <p:nvPr/>
        </p:nvPicPr>
        <p:blipFill>
          <a:blip r:embed="rId3"/>
          <a:stretch>
            <a:fillRect/>
          </a:stretch>
        </p:blipFill>
        <p:spPr>
          <a:xfrm>
            <a:off x="0" y="1259692"/>
            <a:ext cx="4797600" cy="2191446"/>
          </a:xfrm>
          <a:prstGeom prst="rect">
            <a:avLst/>
          </a:prstGeom>
        </p:spPr>
      </p:pic>
      <p:sp>
        <p:nvSpPr>
          <p:cNvPr id="9" name="Título 1">
            <a:extLst>
              <a:ext uri="{FF2B5EF4-FFF2-40B4-BE49-F238E27FC236}">
                <a16:creationId xmlns:a16="http://schemas.microsoft.com/office/drawing/2014/main" id="{65D4D199-0600-705C-1E93-C80D9266080E}"/>
              </a:ext>
            </a:extLst>
          </p:cNvPr>
          <p:cNvSpPr>
            <a:spLocks noGrp="1"/>
          </p:cNvSpPr>
          <p:nvPr>
            <p:ph type="title"/>
          </p:nvPr>
        </p:nvSpPr>
        <p:spPr>
          <a:xfrm>
            <a:off x="225600" y="3974358"/>
            <a:ext cx="4473932" cy="841800"/>
          </a:xfrm>
        </p:spPr>
        <p:txBody>
          <a:bodyPr/>
          <a:lstStyle/>
          <a:p>
            <a:r>
              <a:rPr lang="es-MX" b="1" dirty="0">
                <a:solidFill>
                  <a:srgbClr val="C00000"/>
                </a:solidFill>
                <a:latin typeface="Amasis MT Pro Black" panose="02040A04050005020304" pitchFamily="18" charset="0"/>
              </a:rPr>
              <a:t>Herramientas</a:t>
            </a:r>
            <a:endParaRPr lang="es-CO" b="1" dirty="0">
              <a:solidFill>
                <a:srgbClr val="002060"/>
              </a:solidFill>
              <a:latin typeface="Amasis MT Pro Black" panose="02040A04050005020304" pitchFamily="18" charset="0"/>
            </a:endParaRPr>
          </a:p>
        </p:txBody>
      </p:sp>
    </p:spTree>
    <p:extLst>
      <p:ext uri="{BB962C8B-B14F-4D97-AF65-F5344CB8AC3E}">
        <p14:creationId xmlns:p14="http://schemas.microsoft.com/office/powerpoint/2010/main" val="4129695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EE48637-4B2A-D10A-3EA4-FB0B71760F5D}"/>
              </a:ext>
            </a:extLst>
          </p:cNvPr>
          <p:cNvPicPr>
            <a:picLocks noChangeAspect="1"/>
          </p:cNvPicPr>
          <p:nvPr/>
        </p:nvPicPr>
        <p:blipFill>
          <a:blip r:embed="rId2"/>
          <a:stretch>
            <a:fillRect/>
          </a:stretch>
        </p:blipFill>
        <p:spPr>
          <a:xfrm>
            <a:off x="192941" y="1794616"/>
            <a:ext cx="3967649" cy="2110812"/>
          </a:xfrm>
          <a:prstGeom prst="rect">
            <a:avLst/>
          </a:prstGeom>
        </p:spPr>
      </p:pic>
      <p:pic>
        <p:nvPicPr>
          <p:cNvPr id="6" name="Imagen 5">
            <a:extLst>
              <a:ext uri="{FF2B5EF4-FFF2-40B4-BE49-F238E27FC236}">
                <a16:creationId xmlns:a16="http://schemas.microsoft.com/office/drawing/2014/main" id="{667AFB82-1CE1-4E2E-16EB-AE2DAC3EAA87}"/>
              </a:ext>
            </a:extLst>
          </p:cNvPr>
          <p:cNvPicPr>
            <a:picLocks noChangeAspect="1"/>
          </p:cNvPicPr>
          <p:nvPr/>
        </p:nvPicPr>
        <p:blipFill>
          <a:blip r:embed="rId3"/>
          <a:stretch>
            <a:fillRect/>
          </a:stretch>
        </p:blipFill>
        <p:spPr>
          <a:xfrm>
            <a:off x="4617129" y="1700605"/>
            <a:ext cx="4170348" cy="2331118"/>
          </a:xfrm>
          <a:prstGeom prst="rect">
            <a:avLst/>
          </a:prstGeom>
        </p:spPr>
      </p:pic>
      <p:sp>
        <p:nvSpPr>
          <p:cNvPr id="7" name="Google Shape;83;p17">
            <a:extLst>
              <a:ext uri="{FF2B5EF4-FFF2-40B4-BE49-F238E27FC236}">
                <a16:creationId xmlns:a16="http://schemas.microsoft.com/office/drawing/2014/main" id="{AB411CD6-2F60-BE3F-C4F6-446D81468DB6}"/>
              </a:ext>
            </a:extLst>
          </p:cNvPr>
          <p:cNvSpPr txBox="1">
            <a:spLocks noGrp="1"/>
          </p:cNvSpPr>
          <p:nvPr>
            <p:ph type="title"/>
          </p:nvPr>
        </p:nvSpPr>
        <p:spPr>
          <a:xfrm>
            <a:off x="5204388" y="549793"/>
            <a:ext cx="3166439" cy="637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 sz="4000" b="1" dirty="0">
                <a:solidFill>
                  <a:schemeClr val="accent1">
                    <a:lumMod val="50000"/>
                  </a:schemeClr>
                </a:solidFill>
                <a:latin typeface="Aharoni" panose="02010803020104030203" pitchFamily="2" charset="-79"/>
                <a:cs typeface="Aharoni" panose="02010803020104030203" pitchFamily="2" charset="-79"/>
              </a:rPr>
              <a:t>PYTHON</a:t>
            </a:r>
            <a:endParaRPr sz="4000" b="1" dirty="0">
              <a:solidFill>
                <a:schemeClr val="accent1">
                  <a:lumMod val="50000"/>
                </a:schemeClr>
              </a:solidFill>
              <a:latin typeface="Aharoni" panose="02010803020104030203" pitchFamily="2" charset="-79"/>
              <a:cs typeface="Aharoni" panose="02010803020104030203" pitchFamily="2" charset="-79"/>
            </a:endParaRPr>
          </a:p>
        </p:txBody>
      </p:sp>
      <p:sp>
        <p:nvSpPr>
          <p:cNvPr id="8" name="Google Shape;83;p17">
            <a:extLst>
              <a:ext uri="{FF2B5EF4-FFF2-40B4-BE49-F238E27FC236}">
                <a16:creationId xmlns:a16="http://schemas.microsoft.com/office/drawing/2014/main" id="{44F9F726-009A-CE4D-B335-176F6E498CDC}"/>
              </a:ext>
            </a:extLst>
          </p:cNvPr>
          <p:cNvSpPr txBox="1">
            <a:spLocks/>
          </p:cNvSpPr>
          <p:nvPr/>
        </p:nvSpPr>
        <p:spPr>
          <a:xfrm>
            <a:off x="593545" y="804743"/>
            <a:ext cx="3166439" cy="637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r>
              <a:rPr lang="es-CO" sz="4000" b="1" dirty="0">
                <a:solidFill>
                  <a:schemeClr val="tx1"/>
                </a:solidFill>
                <a:latin typeface="Aharoni" panose="02010803020104030203" pitchFamily="2" charset="-79"/>
                <a:cs typeface="Aharoni" panose="02010803020104030203" pitchFamily="2" charset="-79"/>
              </a:rPr>
              <a:t>CMD</a:t>
            </a:r>
          </a:p>
        </p:txBody>
      </p:sp>
    </p:spTree>
    <p:extLst>
      <p:ext uri="{BB962C8B-B14F-4D97-AF65-F5344CB8AC3E}">
        <p14:creationId xmlns:p14="http://schemas.microsoft.com/office/powerpoint/2010/main" val="4274899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65406B7-D113-8254-B98E-D52DCCB1EDA9}"/>
              </a:ext>
            </a:extLst>
          </p:cNvPr>
          <p:cNvSpPr>
            <a:spLocks noGrp="1"/>
          </p:cNvSpPr>
          <p:nvPr>
            <p:ph type="title"/>
          </p:nvPr>
        </p:nvSpPr>
        <p:spPr>
          <a:xfrm>
            <a:off x="380066" y="245138"/>
            <a:ext cx="8520600" cy="841800"/>
          </a:xfrm>
        </p:spPr>
        <p:txBody>
          <a:bodyPr>
            <a:normAutofit fontScale="90000"/>
          </a:bodyPr>
          <a:lstStyle/>
          <a:p>
            <a:r>
              <a:rPr lang="es-MX" dirty="0">
                <a:latin typeface="Amasis MT Pro Black" panose="02040A04050005020304" pitchFamily="18" charset="0"/>
              </a:rPr>
              <a:t>Entorno de Desarrollo Integrado (IDE)</a:t>
            </a:r>
            <a:endParaRPr lang="es-CO" dirty="0">
              <a:latin typeface="Amasis MT Pro Black" panose="02040A04050005020304" pitchFamily="18" charset="0"/>
            </a:endParaRPr>
          </a:p>
        </p:txBody>
      </p:sp>
      <p:pic>
        <p:nvPicPr>
          <p:cNvPr id="4" name="Imagen 3">
            <a:extLst>
              <a:ext uri="{FF2B5EF4-FFF2-40B4-BE49-F238E27FC236}">
                <a16:creationId xmlns:a16="http://schemas.microsoft.com/office/drawing/2014/main" id="{1F8AB8E0-3883-59ED-48AE-8F90702D50F6}"/>
              </a:ext>
            </a:extLst>
          </p:cNvPr>
          <p:cNvPicPr>
            <a:picLocks noChangeAspect="1"/>
          </p:cNvPicPr>
          <p:nvPr/>
        </p:nvPicPr>
        <p:blipFill rotWithShape="1">
          <a:blip r:embed="rId2"/>
          <a:srcRect t="16367" b="35815"/>
          <a:stretch/>
        </p:blipFill>
        <p:spPr>
          <a:xfrm>
            <a:off x="380066" y="1810640"/>
            <a:ext cx="5143500" cy="2459567"/>
          </a:xfrm>
          <a:prstGeom prst="rect">
            <a:avLst/>
          </a:prstGeom>
        </p:spPr>
      </p:pic>
      <p:pic>
        <p:nvPicPr>
          <p:cNvPr id="6" name="Imagen 5">
            <a:extLst>
              <a:ext uri="{FF2B5EF4-FFF2-40B4-BE49-F238E27FC236}">
                <a16:creationId xmlns:a16="http://schemas.microsoft.com/office/drawing/2014/main" id="{C4EAC81E-18CC-359E-8AE9-57A1DF64D232}"/>
              </a:ext>
            </a:extLst>
          </p:cNvPr>
          <p:cNvPicPr>
            <a:picLocks noChangeAspect="1"/>
          </p:cNvPicPr>
          <p:nvPr/>
        </p:nvPicPr>
        <p:blipFill rotWithShape="1">
          <a:blip r:embed="rId2"/>
          <a:srcRect l="33070" t="66207" r="33368"/>
          <a:stretch/>
        </p:blipFill>
        <p:spPr>
          <a:xfrm>
            <a:off x="5375304" y="1594701"/>
            <a:ext cx="1726251" cy="1738159"/>
          </a:xfrm>
          <a:prstGeom prst="rect">
            <a:avLst/>
          </a:prstGeom>
        </p:spPr>
      </p:pic>
      <p:pic>
        <p:nvPicPr>
          <p:cNvPr id="7" name="Imagen 6">
            <a:extLst>
              <a:ext uri="{FF2B5EF4-FFF2-40B4-BE49-F238E27FC236}">
                <a16:creationId xmlns:a16="http://schemas.microsoft.com/office/drawing/2014/main" id="{A3D6FB45-B287-4693-11C8-D302D8C5FDDB}"/>
              </a:ext>
            </a:extLst>
          </p:cNvPr>
          <p:cNvPicPr>
            <a:picLocks noChangeAspect="1"/>
          </p:cNvPicPr>
          <p:nvPr/>
        </p:nvPicPr>
        <p:blipFill rotWithShape="1">
          <a:blip r:embed="rId2"/>
          <a:srcRect t="66207" r="68795"/>
          <a:stretch/>
        </p:blipFill>
        <p:spPr>
          <a:xfrm>
            <a:off x="7410806" y="1533712"/>
            <a:ext cx="1605007" cy="1738159"/>
          </a:xfrm>
          <a:prstGeom prst="rect">
            <a:avLst/>
          </a:prstGeom>
        </p:spPr>
      </p:pic>
      <p:pic>
        <p:nvPicPr>
          <p:cNvPr id="8" name="Google Shape;95;p18">
            <a:extLst>
              <a:ext uri="{FF2B5EF4-FFF2-40B4-BE49-F238E27FC236}">
                <a16:creationId xmlns:a16="http://schemas.microsoft.com/office/drawing/2014/main" id="{7A5230F3-D75E-1B83-DFE7-B915CF8D6302}"/>
              </a:ext>
            </a:extLst>
          </p:cNvPr>
          <p:cNvPicPr preferRelativeResize="0"/>
          <p:nvPr/>
        </p:nvPicPr>
        <p:blipFill>
          <a:blip r:embed="rId3">
            <a:alphaModFix/>
          </a:blip>
          <a:stretch>
            <a:fillRect/>
          </a:stretch>
        </p:blipFill>
        <p:spPr>
          <a:xfrm>
            <a:off x="5832817" y="3271871"/>
            <a:ext cx="2838738" cy="1207289"/>
          </a:xfrm>
          <a:prstGeom prst="rect">
            <a:avLst/>
          </a:prstGeom>
          <a:noFill/>
          <a:ln>
            <a:noFill/>
          </a:ln>
        </p:spPr>
      </p:pic>
      <p:sp>
        <p:nvSpPr>
          <p:cNvPr id="3" name="Rectángulo 2">
            <a:extLst>
              <a:ext uri="{FF2B5EF4-FFF2-40B4-BE49-F238E27FC236}">
                <a16:creationId xmlns:a16="http://schemas.microsoft.com/office/drawing/2014/main" id="{89FEC2F8-2F24-C096-02DE-4C1558F411F8}"/>
              </a:ext>
            </a:extLst>
          </p:cNvPr>
          <p:cNvSpPr/>
          <p:nvPr/>
        </p:nvSpPr>
        <p:spPr>
          <a:xfrm>
            <a:off x="2153540" y="1666430"/>
            <a:ext cx="1529697" cy="151260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a:extLst>
              <a:ext uri="{FF2B5EF4-FFF2-40B4-BE49-F238E27FC236}">
                <a16:creationId xmlns:a16="http://schemas.microsoft.com/office/drawing/2014/main" id="{3B1AF863-085E-158E-6CC1-8697A3176320}"/>
              </a:ext>
            </a:extLst>
          </p:cNvPr>
          <p:cNvSpPr/>
          <p:nvPr/>
        </p:nvSpPr>
        <p:spPr>
          <a:xfrm>
            <a:off x="6134456" y="3179036"/>
            <a:ext cx="2214785" cy="151260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347077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820CE982-3AAB-3A63-8E36-4F1D6CCD4C17}"/>
              </a:ext>
            </a:extLst>
          </p:cNvPr>
          <p:cNvPicPr>
            <a:picLocks noChangeAspect="1"/>
          </p:cNvPicPr>
          <p:nvPr/>
        </p:nvPicPr>
        <p:blipFill>
          <a:blip r:embed="rId2"/>
          <a:stretch>
            <a:fillRect/>
          </a:stretch>
        </p:blipFill>
        <p:spPr>
          <a:xfrm>
            <a:off x="987208" y="791025"/>
            <a:ext cx="7169584" cy="4289793"/>
          </a:xfrm>
          <a:prstGeom prst="rect">
            <a:avLst/>
          </a:prstGeom>
          <a:ln>
            <a:solidFill>
              <a:schemeClr val="tx1"/>
            </a:solidFill>
          </a:ln>
        </p:spPr>
      </p:pic>
      <p:sp>
        <p:nvSpPr>
          <p:cNvPr id="7" name="Google Shape;83;p17">
            <a:extLst>
              <a:ext uri="{FF2B5EF4-FFF2-40B4-BE49-F238E27FC236}">
                <a16:creationId xmlns:a16="http://schemas.microsoft.com/office/drawing/2014/main" id="{3001143F-98D3-8041-45D2-32F7F71F7855}"/>
              </a:ext>
            </a:extLst>
          </p:cNvPr>
          <p:cNvSpPr txBox="1">
            <a:spLocks noGrp="1"/>
          </p:cNvSpPr>
          <p:nvPr>
            <p:ph type="title"/>
          </p:nvPr>
        </p:nvSpPr>
        <p:spPr>
          <a:xfrm>
            <a:off x="217697" y="62682"/>
            <a:ext cx="8520600" cy="637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 sz="4000" b="1" dirty="0">
                <a:solidFill>
                  <a:schemeClr val="accent1">
                    <a:lumMod val="50000"/>
                  </a:schemeClr>
                </a:solidFill>
                <a:latin typeface="Aharoni" panose="02010803020104030203" pitchFamily="2" charset="-79"/>
                <a:cs typeface="Aharoni" panose="02010803020104030203" pitchFamily="2" charset="-79"/>
              </a:rPr>
              <a:t>PYTHON</a:t>
            </a:r>
            <a:endParaRPr sz="4000" b="1" dirty="0">
              <a:solidFill>
                <a:schemeClr val="accent1">
                  <a:lumMod val="50000"/>
                </a:schemeClr>
              </a:solidFill>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1688504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 sz="3200" b="1" dirty="0">
                <a:solidFill>
                  <a:srgbClr val="C00000"/>
                </a:solidFill>
              </a:rPr>
              <a:t>Lenguaje de programación en Google Colaboratory</a:t>
            </a:r>
            <a:endParaRPr sz="3200" b="1" dirty="0">
              <a:solidFill>
                <a:srgbClr val="C00000"/>
              </a:solidFill>
            </a:endParaRPr>
          </a:p>
        </p:txBody>
      </p:sp>
      <p:sp>
        <p:nvSpPr>
          <p:cNvPr id="93" name="Google Shape;93;p18"/>
          <p:cNvSpPr txBox="1">
            <a:spLocks noGrp="1"/>
          </p:cNvSpPr>
          <p:nvPr>
            <p:ph type="body" idx="1"/>
          </p:nvPr>
        </p:nvSpPr>
        <p:spPr>
          <a:xfrm>
            <a:off x="458212" y="1668377"/>
            <a:ext cx="3999900" cy="736146"/>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1200"/>
              </a:spcAft>
              <a:buNone/>
            </a:pPr>
            <a:r>
              <a:rPr lang="es" dirty="0"/>
              <a:t>Python es un lenguaje de programación de propósito general y alto nivel.</a:t>
            </a:r>
            <a:endParaRPr dirty="0"/>
          </a:p>
        </p:txBody>
      </p:sp>
      <p:sp>
        <p:nvSpPr>
          <p:cNvPr id="94" name="Google Shape;94;p18"/>
          <p:cNvSpPr txBox="1">
            <a:spLocks noGrp="1"/>
          </p:cNvSpPr>
          <p:nvPr>
            <p:ph type="body" idx="2"/>
          </p:nvPr>
        </p:nvSpPr>
        <p:spPr>
          <a:xfrm>
            <a:off x="4832400" y="2093719"/>
            <a:ext cx="3999900" cy="2475155"/>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s" sz="1200" dirty="0">
                <a:solidFill>
                  <a:srgbClr val="202124"/>
                </a:solidFill>
                <a:highlight>
                  <a:srgbClr val="FFFFFF"/>
                </a:highlight>
              </a:rPr>
              <a:t>es un producto </a:t>
            </a:r>
            <a:r>
              <a:rPr lang="es" sz="1200" b="1" dirty="0">
                <a:solidFill>
                  <a:srgbClr val="202124"/>
                </a:solidFill>
                <a:highlight>
                  <a:srgbClr val="FFFFFF"/>
                </a:highlight>
              </a:rPr>
              <a:t>de Google</a:t>
            </a:r>
            <a:r>
              <a:rPr lang="es" sz="1200" dirty="0">
                <a:solidFill>
                  <a:srgbClr val="202124"/>
                </a:solidFill>
                <a:highlight>
                  <a:srgbClr val="FFFFFF"/>
                </a:highlight>
              </a:rPr>
              <a:t> Research. Permite a cualquier usuario escribir y ejecutar código arbitrario </a:t>
            </a:r>
            <a:r>
              <a:rPr lang="es" sz="1200" b="1" dirty="0">
                <a:solidFill>
                  <a:srgbClr val="202124"/>
                </a:solidFill>
                <a:highlight>
                  <a:srgbClr val="FFFFFF"/>
                </a:highlight>
              </a:rPr>
              <a:t>de</a:t>
            </a:r>
            <a:r>
              <a:rPr lang="es" sz="1200" dirty="0">
                <a:solidFill>
                  <a:srgbClr val="202124"/>
                </a:solidFill>
                <a:highlight>
                  <a:srgbClr val="FFFFFF"/>
                </a:highlight>
              </a:rPr>
              <a:t> Python en el navegador. Es especialmente adecuado </a:t>
            </a:r>
            <a:r>
              <a:rPr lang="es" sz="1200" b="1" dirty="0">
                <a:solidFill>
                  <a:srgbClr val="202124"/>
                </a:solidFill>
                <a:highlight>
                  <a:srgbClr val="FFFFFF"/>
                </a:highlight>
              </a:rPr>
              <a:t>para</a:t>
            </a:r>
            <a:r>
              <a:rPr lang="es" sz="1200" dirty="0">
                <a:solidFill>
                  <a:srgbClr val="202124"/>
                </a:solidFill>
                <a:highlight>
                  <a:srgbClr val="FFFFFF"/>
                </a:highlight>
              </a:rPr>
              <a:t> tareas </a:t>
            </a:r>
            <a:r>
              <a:rPr lang="es" sz="1200" b="1" dirty="0">
                <a:solidFill>
                  <a:srgbClr val="202124"/>
                </a:solidFill>
                <a:highlight>
                  <a:srgbClr val="FFFFFF"/>
                </a:highlight>
              </a:rPr>
              <a:t>de</a:t>
            </a:r>
            <a:r>
              <a:rPr lang="es" sz="1200" dirty="0">
                <a:solidFill>
                  <a:srgbClr val="202124"/>
                </a:solidFill>
                <a:highlight>
                  <a:srgbClr val="FFFFFF"/>
                </a:highlight>
              </a:rPr>
              <a:t> aprendizaje automático, análisis </a:t>
            </a:r>
            <a:r>
              <a:rPr lang="es" sz="1200" b="1" dirty="0">
                <a:solidFill>
                  <a:srgbClr val="202124"/>
                </a:solidFill>
                <a:highlight>
                  <a:srgbClr val="FFFFFF"/>
                </a:highlight>
              </a:rPr>
              <a:t>de</a:t>
            </a:r>
            <a:r>
              <a:rPr lang="es" sz="1200" dirty="0">
                <a:solidFill>
                  <a:srgbClr val="202124"/>
                </a:solidFill>
                <a:highlight>
                  <a:srgbClr val="FFFFFF"/>
                </a:highlight>
              </a:rPr>
              <a:t> datos y educación</a:t>
            </a:r>
            <a:endParaRPr dirty="0"/>
          </a:p>
        </p:txBody>
      </p:sp>
      <p:pic>
        <p:nvPicPr>
          <p:cNvPr id="95" name="Google Shape;95;p18"/>
          <p:cNvPicPr preferRelativeResize="0"/>
          <p:nvPr/>
        </p:nvPicPr>
        <p:blipFill>
          <a:blip r:embed="rId3">
            <a:alphaModFix/>
          </a:blip>
          <a:stretch>
            <a:fillRect/>
          </a:stretch>
        </p:blipFill>
        <p:spPr>
          <a:xfrm>
            <a:off x="5631076" y="3210032"/>
            <a:ext cx="3429000" cy="1466850"/>
          </a:xfrm>
          <a:prstGeom prst="rect">
            <a:avLst/>
          </a:prstGeom>
          <a:noFill/>
          <a:ln>
            <a:noFill/>
          </a:ln>
        </p:spPr>
      </p:pic>
      <p:pic>
        <p:nvPicPr>
          <p:cNvPr id="96" name="Google Shape;96;p18"/>
          <p:cNvPicPr preferRelativeResize="0"/>
          <p:nvPr/>
        </p:nvPicPr>
        <p:blipFill>
          <a:blip r:embed="rId4">
            <a:alphaModFix/>
          </a:blip>
          <a:stretch>
            <a:fillRect/>
          </a:stretch>
        </p:blipFill>
        <p:spPr>
          <a:xfrm>
            <a:off x="165188" y="3103263"/>
            <a:ext cx="4292924" cy="1862100"/>
          </a:xfrm>
          <a:prstGeom prst="rect">
            <a:avLst/>
          </a:prstGeom>
          <a:noFill/>
          <a:ln>
            <a:noFill/>
          </a:ln>
        </p:spPr>
      </p:pic>
    </p:spTree>
    <p:extLst>
      <p:ext uri="{BB962C8B-B14F-4D97-AF65-F5344CB8AC3E}">
        <p14:creationId xmlns:p14="http://schemas.microsoft.com/office/powerpoint/2010/main" val="3602591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oogle Colaboratory Colab - Guía Completa Español - Marketing Branding">
            <a:extLst>
              <a:ext uri="{FF2B5EF4-FFF2-40B4-BE49-F238E27FC236}">
                <a16:creationId xmlns:a16="http://schemas.microsoft.com/office/drawing/2014/main" id="{64299E5A-1C77-DE42-B19E-AD39127032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2785" y="1336616"/>
            <a:ext cx="5953882" cy="3969255"/>
          </a:xfrm>
          <a:prstGeom prst="rect">
            <a:avLst/>
          </a:prstGeom>
          <a:noFill/>
          <a:extLst>
            <a:ext uri="{909E8E84-426E-40DD-AFC4-6F175D3DCCD1}">
              <a14:hiddenFill xmlns:a14="http://schemas.microsoft.com/office/drawing/2010/main">
                <a:solidFill>
                  <a:srgbClr val="FFFFFF"/>
                </a:solidFill>
              </a14:hiddenFill>
            </a:ext>
          </a:extLst>
        </p:spPr>
      </p:pic>
      <p:pic>
        <p:nvPicPr>
          <p:cNvPr id="5" name="Google Shape;96;p18">
            <a:extLst>
              <a:ext uri="{FF2B5EF4-FFF2-40B4-BE49-F238E27FC236}">
                <a16:creationId xmlns:a16="http://schemas.microsoft.com/office/drawing/2014/main" id="{806E7632-3CCE-FECE-5DC3-367A82F092E0}"/>
              </a:ext>
            </a:extLst>
          </p:cNvPr>
          <p:cNvPicPr preferRelativeResize="0"/>
          <p:nvPr/>
        </p:nvPicPr>
        <p:blipFill>
          <a:blip r:embed="rId3">
            <a:alphaModFix/>
          </a:blip>
          <a:stretch>
            <a:fillRect/>
          </a:stretch>
        </p:blipFill>
        <p:spPr>
          <a:xfrm>
            <a:off x="1891439" y="129327"/>
            <a:ext cx="4292924" cy="1862100"/>
          </a:xfrm>
          <a:prstGeom prst="rect">
            <a:avLst/>
          </a:prstGeom>
          <a:noFill/>
          <a:ln>
            <a:noFill/>
          </a:ln>
        </p:spPr>
      </p:pic>
    </p:spTree>
    <p:extLst>
      <p:ext uri="{BB962C8B-B14F-4D97-AF65-F5344CB8AC3E}">
        <p14:creationId xmlns:p14="http://schemas.microsoft.com/office/powerpoint/2010/main" val="2597465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224CD-AE2B-5037-4D99-FB9B1256170D}"/>
              </a:ext>
            </a:extLst>
          </p:cNvPr>
          <p:cNvSpPr>
            <a:spLocks noGrp="1"/>
          </p:cNvSpPr>
          <p:nvPr>
            <p:ph type="title"/>
          </p:nvPr>
        </p:nvSpPr>
        <p:spPr>
          <a:xfrm>
            <a:off x="384529" y="265406"/>
            <a:ext cx="8520600" cy="841800"/>
          </a:xfrm>
        </p:spPr>
        <p:txBody>
          <a:bodyPr/>
          <a:lstStyle/>
          <a:p>
            <a:r>
              <a:rPr lang="es-MX" b="1" dirty="0">
                <a:solidFill>
                  <a:srgbClr val="C00000"/>
                </a:solidFill>
                <a:latin typeface="Amasis MT Pro Black" panose="02040A04050005020304" pitchFamily="18" charset="0"/>
              </a:rPr>
              <a:t>Ciencia</a:t>
            </a:r>
            <a:r>
              <a:rPr lang="es-MX" b="1" dirty="0">
                <a:latin typeface="Amasis MT Pro Black" panose="02040A04050005020304" pitchFamily="18" charset="0"/>
              </a:rPr>
              <a:t> de </a:t>
            </a:r>
            <a:r>
              <a:rPr lang="es-MX" b="1" dirty="0">
                <a:solidFill>
                  <a:srgbClr val="002060"/>
                </a:solidFill>
                <a:latin typeface="Amasis MT Pro Black" panose="02040A04050005020304" pitchFamily="18" charset="0"/>
              </a:rPr>
              <a:t>Datos</a:t>
            </a:r>
            <a:endParaRPr lang="es-CO" b="1" dirty="0">
              <a:solidFill>
                <a:srgbClr val="002060"/>
              </a:solidFill>
              <a:latin typeface="Amasis MT Pro Black" panose="02040A04050005020304" pitchFamily="18" charset="0"/>
            </a:endParaRPr>
          </a:p>
        </p:txBody>
      </p:sp>
      <p:sp>
        <p:nvSpPr>
          <p:cNvPr id="5" name="CuadroTexto 4">
            <a:extLst>
              <a:ext uri="{FF2B5EF4-FFF2-40B4-BE49-F238E27FC236}">
                <a16:creationId xmlns:a16="http://schemas.microsoft.com/office/drawing/2014/main" id="{279E7E7F-97DB-959E-62B9-5A066741C131}"/>
              </a:ext>
            </a:extLst>
          </p:cNvPr>
          <p:cNvSpPr txBox="1"/>
          <p:nvPr/>
        </p:nvSpPr>
        <p:spPr>
          <a:xfrm>
            <a:off x="384529" y="1221897"/>
            <a:ext cx="2925113" cy="400110"/>
          </a:xfrm>
          <a:prstGeom prst="rect">
            <a:avLst/>
          </a:prstGeom>
          <a:noFill/>
        </p:spPr>
        <p:txBody>
          <a:bodyPr wrap="square" rtlCol="0">
            <a:spAutoFit/>
          </a:bodyPr>
          <a:lstStyle/>
          <a:p>
            <a:r>
              <a:rPr lang="es-MX" sz="2000" b="1" dirty="0"/>
              <a:t>Vamos a definirla. . .</a:t>
            </a:r>
            <a:endParaRPr lang="es-CO" sz="2000" b="1" dirty="0"/>
          </a:p>
        </p:txBody>
      </p:sp>
      <p:pic>
        <p:nvPicPr>
          <p:cNvPr id="6" name="Imagen 5">
            <a:extLst>
              <a:ext uri="{FF2B5EF4-FFF2-40B4-BE49-F238E27FC236}">
                <a16:creationId xmlns:a16="http://schemas.microsoft.com/office/drawing/2014/main" id="{F8A747F6-A9C6-D49A-FC75-A60BD55EB786}"/>
              </a:ext>
            </a:extLst>
          </p:cNvPr>
          <p:cNvPicPr>
            <a:picLocks noChangeAspect="1"/>
          </p:cNvPicPr>
          <p:nvPr/>
        </p:nvPicPr>
        <p:blipFill>
          <a:blip r:embed="rId2"/>
          <a:stretch>
            <a:fillRect/>
          </a:stretch>
        </p:blipFill>
        <p:spPr>
          <a:xfrm>
            <a:off x="705524" y="2416012"/>
            <a:ext cx="810384" cy="810384"/>
          </a:xfrm>
          <a:prstGeom prst="rect">
            <a:avLst/>
          </a:prstGeom>
        </p:spPr>
      </p:pic>
      <p:pic>
        <p:nvPicPr>
          <p:cNvPr id="7" name="Imagen 6">
            <a:extLst>
              <a:ext uri="{FF2B5EF4-FFF2-40B4-BE49-F238E27FC236}">
                <a16:creationId xmlns:a16="http://schemas.microsoft.com/office/drawing/2014/main" id="{CA420C84-096E-C68E-EFBE-13AAC23BED8A}"/>
              </a:ext>
            </a:extLst>
          </p:cNvPr>
          <p:cNvPicPr>
            <a:picLocks noChangeAspect="1"/>
          </p:cNvPicPr>
          <p:nvPr/>
        </p:nvPicPr>
        <p:blipFill>
          <a:blip r:embed="rId3"/>
          <a:stretch>
            <a:fillRect/>
          </a:stretch>
        </p:blipFill>
        <p:spPr>
          <a:xfrm>
            <a:off x="552956" y="3741197"/>
            <a:ext cx="824849" cy="786144"/>
          </a:xfrm>
          <a:prstGeom prst="rect">
            <a:avLst/>
          </a:prstGeom>
        </p:spPr>
      </p:pic>
      <p:pic>
        <p:nvPicPr>
          <p:cNvPr id="8" name="Imagen 7">
            <a:extLst>
              <a:ext uri="{FF2B5EF4-FFF2-40B4-BE49-F238E27FC236}">
                <a16:creationId xmlns:a16="http://schemas.microsoft.com/office/drawing/2014/main" id="{8E8F8F1E-BE3D-61B3-EC21-26142D816D6C}"/>
              </a:ext>
            </a:extLst>
          </p:cNvPr>
          <p:cNvPicPr>
            <a:picLocks noChangeAspect="1"/>
          </p:cNvPicPr>
          <p:nvPr/>
        </p:nvPicPr>
        <p:blipFill>
          <a:blip r:embed="rId4"/>
          <a:stretch>
            <a:fillRect/>
          </a:stretch>
        </p:blipFill>
        <p:spPr>
          <a:xfrm>
            <a:off x="1847085" y="1938958"/>
            <a:ext cx="1432305" cy="954107"/>
          </a:xfrm>
          <a:prstGeom prst="rect">
            <a:avLst/>
          </a:prstGeom>
        </p:spPr>
      </p:pic>
      <p:pic>
        <p:nvPicPr>
          <p:cNvPr id="9" name="Imagen 8">
            <a:extLst>
              <a:ext uri="{FF2B5EF4-FFF2-40B4-BE49-F238E27FC236}">
                <a16:creationId xmlns:a16="http://schemas.microsoft.com/office/drawing/2014/main" id="{6A119A5C-BCB6-092C-D5B2-3609E0F1F614}"/>
              </a:ext>
            </a:extLst>
          </p:cNvPr>
          <p:cNvPicPr>
            <a:picLocks noChangeAspect="1"/>
          </p:cNvPicPr>
          <p:nvPr/>
        </p:nvPicPr>
        <p:blipFill rotWithShape="1">
          <a:blip r:embed="rId5"/>
          <a:srcRect l="11770" t="10310" r="9483" b="18599"/>
          <a:stretch/>
        </p:blipFill>
        <p:spPr>
          <a:xfrm>
            <a:off x="1942253" y="3425493"/>
            <a:ext cx="865866" cy="841800"/>
          </a:xfrm>
          <a:prstGeom prst="rect">
            <a:avLst/>
          </a:prstGeom>
        </p:spPr>
      </p:pic>
      <p:sp>
        <p:nvSpPr>
          <p:cNvPr id="10" name="Flecha: a la derecha 9">
            <a:extLst>
              <a:ext uri="{FF2B5EF4-FFF2-40B4-BE49-F238E27FC236}">
                <a16:creationId xmlns:a16="http://schemas.microsoft.com/office/drawing/2014/main" id="{0F30FED3-9BA5-AA5D-B9C5-6BBA909EBF91}"/>
              </a:ext>
            </a:extLst>
          </p:cNvPr>
          <p:cNvSpPr/>
          <p:nvPr/>
        </p:nvSpPr>
        <p:spPr>
          <a:xfrm>
            <a:off x="3509830" y="2731830"/>
            <a:ext cx="1790453" cy="841800"/>
          </a:xfrm>
          <a:prstGeom prst="rightArrow">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dirty="0"/>
              <a:t>Empresa</a:t>
            </a:r>
            <a:endParaRPr lang="es-CO" dirty="0"/>
          </a:p>
        </p:txBody>
      </p:sp>
      <p:sp>
        <p:nvSpPr>
          <p:cNvPr id="11" name="CuadroTexto 10">
            <a:extLst>
              <a:ext uri="{FF2B5EF4-FFF2-40B4-BE49-F238E27FC236}">
                <a16:creationId xmlns:a16="http://schemas.microsoft.com/office/drawing/2014/main" id="{E8D9EE65-9029-D276-D55C-0498917894E9}"/>
              </a:ext>
            </a:extLst>
          </p:cNvPr>
          <p:cNvSpPr txBox="1"/>
          <p:nvPr/>
        </p:nvSpPr>
        <p:spPr>
          <a:xfrm>
            <a:off x="5505574" y="2528815"/>
            <a:ext cx="1936110" cy="1600438"/>
          </a:xfrm>
          <a:prstGeom prst="rect">
            <a:avLst/>
          </a:prstGeom>
          <a:noFill/>
        </p:spPr>
        <p:txBody>
          <a:bodyPr wrap="square" rtlCol="0">
            <a:spAutoFit/>
          </a:bodyPr>
          <a:lstStyle/>
          <a:p>
            <a:r>
              <a:rPr lang="es-MX" dirty="0"/>
              <a:t>Conocer mi empresa</a:t>
            </a:r>
          </a:p>
          <a:p>
            <a:endParaRPr lang="es-MX" dirty="0"/>
          </a:p>
          <a:p>
            <a:r>
              <a:rPr lang="es-MX" dirty="0"/>
              <a:t>Identificar patrones</a:t>
            </a:r>
          </a:p>
          <a:p>
            <a:endParaRPr lang="es-MX" dirty="0"/>
          </a:p>
          <a:p>
            <a:r>
              <a:rPr lang="es-MX" dirty="0"/>
              <a:t>Relacionar variables</a:t>
            </a:r>
          </a:p>
          <a:p>
            <a:endParaRPr lang="es-MX" dirty="0"/>
          </a:p>
          <a:p>
            <a:r>
              <a:rPr lang="es-MX" dirty="0"/>
              <a:t>Predecir variables</a:t>
            </a:r>
            <a:endParaRPr lang="es-CO" dirty="0"/>
          </a:p>
        </p:txBody>
      </p:sp>
      <p:sp>
        <p:nvSpPr>
          <p:cNvPr id="13" name="CuadroTexto 12">
            <a:extLst>
              <a:ext uri="{FF2B5EF4-FFF2-40B4-BE49-F238E27FC236}">
                <a16:creationId xmlns:a16="http://schemas.microsoft.com/office/drawing/2014/main" id="{359C1E0A-DDC6-75B8-08B1-95DC8DEEE2F9}"/>
              </a:ext>
            </a:extLst>
          </p:cNvPr>
          <p:cNvSpPr txBox="1"/>
          <p:nvPr/>
        </p:nvSpPr>
        <p:spPr>
          <a:xfrm>
            <a:off x="7614626" y="2496412"/>
            <a:ext cx="1335185" cy="1077218"/>
          </a:xfrm>
          <a:prstGeom prst="rect">
            <a:avLst/>
          </a:prstGeom>
          <a:noFill/>
        </p:spPr>
        <p:txBody>
          <a:bodyPr wrap="square" rtlCol="0">
            <a:spAutoFit/>
          </a:bodyPr>
          <a:lstStyle/>
          <a:p>
            <a:pPr algn="ctr"/>
            <a:r>
              <a:rPr lang="es-MX" sz="1600" b="1" dirty="0">
                <a:solidFill>
                  <a:schemeClr val="accent5">
                    <a:lumMod val="50000"/>
                  </a:schemeClr>
                </a:solidFill>
              </a:rPr>
              <a:t>Tomar decisiones para mejorar</a:t>
            </a:r>
            <a:endParaRPr lang="es-CO" sz="1600" b="1" dirty="0">
              <a:solidFill>
                <a:schemeClr val="accent5">
                  <a:lumMod val="50000"/>
                </a:schemeClr>
              </a:solidFill>
            </a:endParaRPr>
          </a:p>
        </p:txBody>
      </p:sp>
    </p:spTree>
    <p:extLst>
      <p:ext uri="{BB962C8B-B14F-4D97-AF65-F5344CB8AC3E}">
        <p14:creationId xmlns:p14="http://schemas.microsoft.com/office/powerpoint/2010/main" val="3879256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224CD-AE2B-5037-4D99-FB9B1256170D}"/>
              </a:ext>
            </a:extLst>
          </p:cNvPr>
          <p:cNvSpPr>
            <a:spLocks noGrp="1"/>
          </p:cNvSpPr>
          <p:nvPr>
            <p:ph type="title"/>
          </p:nvPr>
        </p:nvSpPr>
        <p:spPr>
          <a:xfrm>
            <a:off x="384529" y="265406"/>
            <a:ext cx="8520600" cy="841800"/>
          </a:xfrm>
        </p:spPr>
        <p:txBody>
          <a:bodyPr/>
          <a:lstStyle/>
          <a:p>
            <a:r>
              <a:rPr lang="es-MX" b="1" dirty="0">
                <a:solidFill>
                  <a:srgbClr val="C00000"/>
                </a:solidFill>
                <a:latin typeface="Amasis MT Pro Black" panose="02040A04050005020304" pitchFamily="18" charset="0"/>
              </a:rPr>
              <a:t>Ciencia</a:t>
            </a:r>
            <a:r>
              <a:rPr lang="es-MX" b="1" dirty="0">
                <a:latin typeface="Amasis MT Pro Black" panose="02040A04050005020304" pitchFamily="18" charset="0"/>
              </a:rPr>
              <a:t> de </a:t>
            </a:r>
            <a:r>
              <a:rPr lang="es-MX" b="1" dirty="0">
                <a:solidFill>
                  <a:srgbClr val="002060"/>
                </a:solidFill>
                <a:latin typeface="Amasis MT Pro Black" panose="02040A04050005020304" pitchFamily="18" charset="0"/>
              </a:rPr>
              <a:t>Datos</a:t>
            </a:r>
            <a:endParaRPr lang="es-CO" b="1" dirty="0">
              <a:solidFill>
                <a:srgbClr val="002060"/>
              </a:solidFill>
              <a:latin typeface="Amasis MT Pro Black" panose="02040A04050005020304" pitchFamily="18" charset="0"/>
            </a:endParaRPr>
          </a:p>
        </p:txBody>
      </p:sp>
      <p:sp>
        <p:nvSpPr>
          <p:cNvPr id="5" name="CuadroTexto 4">
            <a:extLst>
              <a:ext uri="{FF2B5EF4-FFF2-40B4-BE49-F238E27FC236}">
                <a16:creationId xmlns:a16="http://schemas.microsoft.com/office/drawing/2014/main" id="{279E7E7F-97DB-959E-62B9-5A066741C131}"/>
              </a:ext>
            </a:extLst>
          </p:cNvPr>
          <p:cNvSpPr txBox="1"/>
          <p:nvPr/>
        </p:nvSpPr>
        <p:spPr>
          <a:xfrm>
            <a:off x="384529" y="1221897"/>
            <a:ext cx="2925113" cy="400110"/>
          </a:xfrm>
          <a:prstGeom prst="rect">
            <a:avLst/>
          </a:prstGeom>
          <a:noFill/>
        </p:spPr>
        <p:txBody>
          <a:bodyPr wrap="square" rtlCol="0">
            <a:spAutoFit/>
          </a:bodyPr>
          <a:lstStyle/>
          <a:p>
            <a:r>
              <a:rPr lang="es-MX" sz="2000" b="1" dirty="0"/>
              <a:t>Vamos a definirla. . .</a:t>
            </a:r>
            <a:endParaRPr lang="es-CO" sz="2000" b="1" dirty="0"/>
          </a:p>
        </p:txBody>
      </p:sp>
      <p:sp>
        <p:nvSpPr>
          <p:cNvPr id="10" name="Flecha: a la derecha 9">
            <a:extLst>
              <a:ext uri="{FF2B5EF4-FFF2-40B4-BE49-F238E27FC236}">
                <a16:creationId xmlns:a16="http://schemas.microsoft.com/office/drawing/2014/main" id="{0F30FED3-9BA5-AA5D-B9C5-6BBA909EBF91}"/>
              </a:ext>
            </a:extLst>
          </p:cNvPr>
          <p:cNvSpPr/>
          <p:nvPr/>
        </p:nvSpPr>
        <p:spPr>
          <a:xfrm>
            <a:off x="3509830" y="2731830"/>
            <a:ext cx="2251699" cy="841800"/>
          </a:xfrm>
          <a:prstGeom prst="rightArrow">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pic>
        <p:nvPicPr>
          <p:cNvPr id="3" name="Imagen 2">
            <a:extLst>
              <a:ext uri="{FF2B5EF4-FFF2-40B4-BE49-F238E27FC236}">
                <a16:creationId xmlns:a16="http://schemas.microsoft.com/office/drawing/2014/main" id="{FF8468F7-652F-9DED-1CF7-D9CA23C579BB}"/>
              </a:ext>
            </a:extLst>
          </p:cNvPr>
          <p:cNvPicPr>
            <a:picLocks noChangeAspect="1"/>
          </p:cNvPicPr>
          <p:nvPr/>
        </p:nvPicPr>
        <p:blipFill>
          <a:blip r:embed="rId2"/>
          <a:stretch>
            <a:fillRect/>
          </a:stretch>
        </p:blipFill>
        <p:spPr>
          <a:xfrm>
            <a:off x="572121" y="3633324"/>
            <a:ext cx="1130195" cy="903273"/>
          </a:xfrm>
          <a:prstGeom prst="rect">
            <a:avLst/>
          </a:prstGeom>
        </p:spPr>
      </p:pic>
      <p:pic>
        <p:nvPicPr>
          <p:cNvPr id="4" name="Imagen 3">
            <a:extLst>
              <a:ext uri="{FF2B5EF4-FFF2-40B4-BE49-F238E27FC236}">
                <a16:creationId xmlns:a16="http://schemas.microsoft.com/office/drawing/2014/main" id="{B06EBAB5-0EA5-0BBD-33A6-2C0DC554EC72}"/>
              </a:ext>
            </a:extLst>
          </p:cNvPr>
          <p:cNvPicPr>
            <a:picLocks noChangeAspect="1"/>
          </p:cNvPicPr>
          <p:nvPr/>
        </p:nvPicPr>
        <p:blipFill>
          <a:blip r:embed="rId3"/>
          <a:stretch>
            <a:fillRect/>
          </a:stretch>
        </p:blipFill>
        <p:spPr>
          <a:xfrm>
            <a:off x="253842" y="2576807"/>
            <a:ext cx="1448474" cy="759914"/>
          </a:xfrm>
          <a:prstGeom prst="rect">
            <a:avLst/>
          </a:prstGeom>
        </p:spPr>
      </p:pic>
      <p:pic>
        <p:nvPicPr>
          <p:cNvPr id="13" name="Imagen 12">
            <a:extLst>
              <a:ext uri="{FF2B5EF4-FFF2-40B4-BE49-F238E27FC236}">
                <a16:creationId xmlns:a16="http://schemas.microsoft.com/office/drawing/2014/main" id="{73D5B5A0-FE24-D1FB-A32F-DCAB3694A828}"/>
              </a:ext>
            </a:extLst>
          </p:cNvPr>
          <p:cNvPicPr>
            <a:picLocks noChangeAspect="1"/>
          </p:cNvPicPr>
          <p:nvPr/>
        </p:nvPicPr>
        <p:blipFill>
          <a:blip r:embed="rId4"/>
          <a:stretch>
            <a:fillRect/>
          </a:stretch>
        </p:blipFill>
        <p:spPr>
          <a:xfrm>
            <a:off x="2003694" y="1972570"/>
            <a:ext cx="845864" cy="984194"/>
          </a:xfrm>
          <a:prstGeom prst="rect">
            <a:avLst/>
          </a:prstGeom>
        </p:spPr>
      </p:pic>
      <p:pic>
        <p:nvPicPr>
          <p:cNvPr id="14" name="Imagen 13">
            <a:extLst>
              <a:ext uri="{FF2B5EF4-FFF2-40B4-BE49-F238E27FC236}">
                <a16:creationId xmlns:a16="http://schemas.microsoft.com/office/drawing/2014/main" id="{6C8DFAB2-DCF3-915E-F374-15C94119A003}"/>
              </a:ext>
            </a:extLst>
          </p:cNvPr>
          <p:cNvPicPr>
            <a:picLocks noChangeAspect="1"/>
          </p:cNvPicPr>
          <p:nvPr/>
        </p:nvPicPr>
        <p:blipFill>
          <a:blip r:embed="rId5"/>
          <a:stretch>
            <a:fillRect/>
          </a:stretch>
        </p:blipFill>
        <p:spPr>
          <a:xfrm>
            <a:off x="2003694" y="3434932"/>
            <a:ext cx="1546679" cy="973341"/>
          </a:xfrm>
          <a:prstGeom prst="rect">
            <a:avLst/>
          </a:prstGeom>
        </p:spPr>
      </p:pic>
      <p:pic>
        <p:nvPicPr>
          <p:cNvPr id="15" name="Imagen 14">
            <a:extLst>
              <a:ext uri="{FF2B5EF4-FFF2-40B4-BE49-F238E27FC236}">
                <a16:creationId xmlns:a16="http://schemas.microsoft.com/office/drawing/2014/main" id="{0193A356-2126-28CB-C37F-88866B8C3F8D}"/>
              </a:ext>
            </a:extLst>
          </p:cNvPr>
          <p:cNvPicPr>
            <a:picLocks noChangeAspect="1"/>
          </p:cNvPicPr>
          <p:nvPr/>
        </p:nvPicPr>
        <p:blipFill>
          <a:blip r:embed="rId6"/>
          <a:stretch>
            <a:fillRect/>
          </a:stretch>
        </p:blipFill>
        <p:spPr>
          <a:xfrm>
            <a:off x="6294444" y="1855225"/>
            <a:ext cx="1457726" cy="1104683"/>
          </a:xfrm>
          <a:prstGeom prst="rect">
            <a:avLst/>
          </a:prstGeom>
        </p:spPr>
      </p:pic>
      <p:sp>
        <p:nvSpPr>
          <p:cNvPr id="16" name="CuadroTexto 15">
            <a:extLst>
              <a:ext uri="{FF2B5EF4-FFF2-40B4-BE49-F238E27FC236}">
                <a16:creationId xmlns:a16="http://schemas.microsoft.com/office/drawing/2014/main" id="{21DB6DB4-09C8-3699-81CD-A24D845BEE20}"/>
              </a:ext>
            </a:extLst>
          </p:cNvPr>
          <p:cNvSpPr txBox="1"/>
          <p:nvPr/>
        </p:nvSpPr>
        <p:spPr>
          <a:xfrm>
            <a:off x="3649508" y="2998841"/>
            <a:ext cx="1753420" cy="307777"/>
          </a:xfrm>
          <a:prstGeom prst="rect">
            <a:avLst/>
          </a:prstGeom>
          <a:noFill/>
        </p:spPr>
        <p:txBody>
          <a:bodyPr wrap="square" rtlCol="0">
            <a:spAutoFit/>
          </a:bodyPr>
          <a:lstStyle/>
          <a:p>
            <a:pPr algn="ctr"/>
            <a:r>
              <a:rPr lang="es-MX" b="1" dirty="0">
                <a:ln w="9525">
                  <a:solidFill>
                    <a:schemeClr val="bg1"/>
                  </a:solidFill>
                  <a:prstDash val="solid"/>
                </a:ln>
                <a:solidFill>
                  <a:schemeClr val="tx1"/>
                </a:solidFill>
                <a:effectLst>
                  <a:outerShdw blurRad="12700" dist="38100" dir="2700000" algn="tl" rotWithShape="0">
                    <a:schemeClr val="bg1">
                      <a:lumMod val="50000"/>
                    </a:schemeClr>
                  </a:outerShdw>
                </a:effectLst>
              </a:rPr>
              <a:t>Banco</a:t>
            </a:r>
            <a:endParaRPr lang="es-CO" b="1"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pic>
        <p:nvPicPr>
          <p:cNvPr id="17" name="Imagen 16">
            <a:extLst>
              <a:ext uri="{FF2B5EF4-FFF2-40B4-BE49-F238E27FC236}">
                <a16:creationId xmlns:a16="http://schemas.microsoft.com/office/drawing/2014/main" id="{955A5552-3AEA-E3DA-50E7-A609333A276F}"/>
              </a:ext>
            </a:extLst>
          </p:cNvPr>
          <p:cNvPicPr>
            <a:picLocks noChangeAspect="1"/>
          </p:cNvPicPr>
          <p:nvPr/>
        </p:nvPicPr>
        <p:blipFill>
          <a:blip r:embed="rId7"/>
          <a:stretch>
            <a:fillRect/>
          </a:stretch>
        </p:blipFill>
        <p:spPr>
          <a:xfrm>
            <a:off x="6036817" y="3633324"/>
            <a:ext cx="986490" cy="986490"/>
          </a:xfrm>
          <a:prstGeom prst="rect">
            <a:avLst/>
          </a:prstGeom>
        </p:spPr>
      </p:pic>
      <p:pic>
        <p:nvPicPr>
          <p:cNvPr id="18" name="Imagen 17">
            <a:extLst>
              <a:ext uri="{FF2B5EF4-FFF2-40B4-BE49-F238E27FC236}">
                <a16:creationId xmlns:a16="http://schemas.microsoft.com/office/drawing/2014/main" id="{6062905A-C2D9-5DA6-F0F3-821FEB85DE6C}"/>
              </a:ext>
            </a:extLst>
          </p:cNvPr>
          <p:cNvPicPr>
            <a:picLocks noChangeAspect="1"/>
          </p:cNvPicPr>
          <p:nvPr/>
        </p:nvPicPr>
        <p:blipFill>
          <a:blip r:embed="rId8"/>
          <a:stretch>
            <a:fillRect/>
          </a:stretch>
        </p:blipFill>
        <p:spPr>
          <a:xfrm>
            <a:off x="7569043" y="2998841"/>
            <a:ext cx="1480874" cy="986490"/>
          </a:xfrm>
          <a:prstGeom prst="rect">
            <a:avLst/>
          </a:prstGeom>
        </p:spPr>
      </p:pic>
    </p:spTree>
    <p:extLst>
      <p:ext uri="{BB962C8B-B14F-4D97-AF65-F5344CB8AC3E}">
        <p14:creationId xmlns:p14="http://schemas.microsoft.com/office/powerpoint/2010/main" val="2266597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224CD-AE2B-5037-4D99-FB9B1256170D}"/>
              </a:ext>
            </a:extLst>
          </p:cNvPr>
          <p:cNvSpPr>
            <a:spLocks noGrp="1"/>
          </p:cNvSpPr>
          <p:nvPr>
            <p:ph type="title"/>
          </p:nvPr>
        </p:nvSpPr>
        <p:spPr>
          <a:xfrm>
            <a:off x="384529" y="265406"/>
            <a:ext cx="8520600" cy="841800"/>
          </a:xfrm>
        </p:spPr>
        <p:txBody>
          <a:bodyPr/>
          <a:lstStyle/>
          <a:p>
            <a:r>
              <a:rPr lang="es-MX" b="1" dirty="0">
                <a:solidFill>
                  <a:srgbClr val="C00000"/>
                </a:solidFill>
                <a:latin typeface="Amasis MT Pro Black" panose="02040A04050005020304" pitchFamily="18" charset="0"/>
              </a:rPr>
              <a:t>Ciencia</a:t>
            </a:r>
            <a:r>
              <a:rPr lang="es-MX" b="1" dirty="0">
                <a:latin typeface="Amasis MT Pro Black" panose="02040A04050005020304" pitchFamily="18" charset="0"/>
              </a:rPr>
              <a:t> de </a:t>
            </a:r>
            <a:r>
              <a:rPr lang="es-MX" b="1" dirty="0">
                <a:solidFill>
                  <a:srgbClr val="002060"/>
                </a:solidFill>
                <a:latin typeface="Amasis MT Pro Black" panose="02040A04050005020304" pitchFamily="18" charset="0"/>
              </a:rPr>
              <a:t>Datos</a:t>
            </a:r>
            <a:endParaRPr lang="es-CO" b="1" dirty="0">
              <a:solidFill>
                <a:srgbClr val="002060"/>
              </a:solidFill>
              <a:latin typeface="Amasis MT Pro Black" panose="02040A04050005020304" pitchFamily="18" charset="0"/>
            </a:endParaRPr>
          </a:p>
        </p:txBody>
      </p:sp>
      <p:sp>
        <p:nvSpPr>
          <p:cNvPr id="4" name="CuadroTexto 3">
            <a:extLst>
              <a:ext uri="{FF2B5EF4-FFF2-40B4-BE49-F238E27FC236}">
                <a16:creationId xmlns:a16="http://schemas.microsoft.com/office/drawing/2014/main" id="{26B685F4-45F0-6FA4-A430-C74301E8BDB9}"/>
              </a:ext>
            </a:extLst>
          </p:cNvPr>
          <p:cNvSpPr txBox="1"/>
          <p:nvPr/>
        </p:nvSpPr>
        <p:spPr>
          <a:xfrm>
            <a:off x="1157164" y="4128758"/>
            <a:ext cx="7145267" cy="523220"/>
          </a:xfrm>
          <a:prstGeom prst="rect">
            <a:avLst/>
          </a:prstGeom>
          <a:noFill/>
        </p:spPr>
        <p:txBody>
          <a:bodyPr wrap="square">
            <a:spAutoFit/>
          </a:bodyPr>
          <a:lstStyle/>
          <a:p>
            <a:pPr algn="just"/>
            <a:r>
              <a:rPr lang="es-MX" dirty="0"/>
              <a:t>Enlazar el objetivo de un proceso u organización a través de la toma de decisiones informadas para la solución de problemas o la generación de nuevas alternativas.</a:t>
            </a:r>
            <a:endParaRPr lang="es-CO" dirty="0"/>
          </a:p>
        </p:txBody>
      </p:sp>
      <p:sp>
        <p:nvSpPr>
          <p:cNvPr id="5" name="CuadroTexto 4">
            <a:extLst>
              <a:ext uri="{FF2B5EF4-FFF2-40B4-BE49-F238E27FC236}">
                <a16:creationId xmlns:a16="http://schemas.microsoft.com/office/drawing/2014/main" id="{279E7E7F-97DB-959E-62B9-5A066741C131}"/>
              </a:ext>
            </a:extLst>
          </p:cNvPr>
          <p:cNvSpPr txBox="1"/>
          <p:nvPr/>
        </p:nvSpPr>
        <p:spPr>
          <a:xfrm>
            <a:off x="384529" y="1221897"/>
            <a:ext cx="2925113" cy="400110"/>
          </a:xfrm>
          <a:prstGeom prst="rect">
            <a:avLst/>
          </a:prstGeom>
          <a:noFill/>
        </p:spPr>
        <p:txBody>
          <a:bodyPr wrap="square" rtlCol="0">
            <a:spAutoFit/>
          </a:bodyPr>
          <a:lstStyle/>
          <a:p>
            <a:r>
              <a:rPr lang="es-MX" sz="2000" b="1" dirty="0"/>
              <a:t>Vamos a definirla. . .</a:t>
            </a:r>
            <a:endParaRPr lang="es-CO" sz="2000" b="1" dirty="0"/>
          </a:p>
        </p:txBody>
      </p:sp>
      <p:pic>
        <p:nvPicPr>
          <p:cNvPr id="3" name="Imagen 2">
            <a:extLst>
              <a:ext uri="{FF2B5EF4-FFF2-40B4-BE49-F238E27FC236}">
                <a16:creationId xmlns:a16="http://schemas.microsoft.com/office/drawing/2014/main" id="{49BD5B77-7FA9-62BD-5C28-F267E8D4CE34}"/>
              </a:ext>
            </a:extLst>
          </p:cNvPr>
          <p:cNvPicPr>
            <a:picLocks noChangeAspect="1"/>
          </p:cNvPicPr>
          <p:nvPr/>
        </p:nvPicPr>
        <p:blipFill>
          <a:blip r:embed="rId2"/>
          <a:stretch>
            <a:fillRect/>
          </a:stretch>
        </p:blipFill>
        <p:spPr>
          <a:xfrm>
            <a:off x="855852" y="2127173"/>
            <a:ext cx="2057210" cy="1522335"/>
          </a:xfrm>
          <a:prstGeom prst="rect">
            <a:avLst/>
          </a:prstGeom>
        </p:spPr>
      </p:pic>
      <p:sp>
        <p:nvSpPr>
          <p:cNvPr id="10" name="CuadroTexto 9">
            <a:extLst>
              <a:ext uri="{FF2B5EF4-FFF2-40B4-BE49-F238E27FC236}">
                <a16:creationId xmlns:a16="http://schemas.microsoft.com/office/drawing/2014/main" id="{CDC4D9F5-D81C-66F3-3BDD-632834CCC37F}"/>
              </a:ext>
            </a:extLst>
          </p:cNvPr>
          <p:cNvSpPr txBox="1"/>
          <p:nvPr/>
        </p:nvSpPr>
        <p:spPr>
          <a:xfrm>
            <a:off x="623087" y="1869260"/>
            <a:ext cx="2289975" cy="307777"/>
          </a:xfrm>
          <a:prstGeom prst="rect">
            <a:avLst/>
          </a:prstGeom>
          <a:noFill/>
        </p:spPr>
        <p:txBody>
          <a:bodyPr wrap="square" rtlCol="0">
            <a:spAutoFit/>
          </a:bodyPr>
          <a:lstStyle/>
          <a:p>
            <a:pPr algn="ctr"/>
            <a:r>
              <a:rPr lang="es-MX" b="1" dirty="0">
                <a:effectLst>
                  <a:outerShdw blurRad="38100" dist="38100" dir="2700000" algn="tl">
                    <a:srgbClr val="000000">
                      <a:alpha val="43137"/>
                    </a:srgbClr>
                  </a:outerShdw>
                </a:effectLst>
              </a:rPr>
              <a:t>Datos</a:t>
            </a:r>
            <a:endParaRPr lang="es-CO" b="1" dirty="0">
              <a:effectLst>
                <a:outerShdw blurRad="38100" dist="38100" dir="2700000" algn="tl">
                  <a:srgbClr val="000000">
                    <a:alpha val="43137"/>
                  </a:srgbClr>
                </a:outerShdw>
              </a:effectLst>
            </a:endParaRPr>
          </a:p>
        </p:txBody>
      </p:sp>
      <p:sp>
        <p:nvSpPr>
          <p:cNvPr id="11" name="Flecha: a la izquierda y derecha 10">
            <a:extLst>
              <a:ext uri="{FF2B5EF4-FFF2-40B4-BE49-F238E27FC236}">
                <a16:creationId xmlns:a16="http://schemas.microsoft.com/office/drawing/2014/main" id="{A5A2AD28-FDF3-856B-6A91-BD5719E876A7}"/>
              </a:ext>
            </a:extLst>
          </p:cNvPr>
          <p:cNvSpPr/>
          <p:nvPr/>
        </p:nvSpPr>
        <p:spPr>
          <a:xfrm>
            <a:off x="3026421" y="2451516"/>
            <a:ext cx="2824121" cy="655826"/>
          </a:xfrm>
          <a:prstGeom prst="leftRightArrow">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s-CO"/>
          </a:p>
        </p:txBody>
      </p:sp>
      <p:pic>
        <p:nvPicPr>
          <p:cNvPr id="12" name="Imagen 11">
            <a:extLst>
              <a:ext uri="{FF2B5EF4-FFF2-40B4-BE49-F238E27FC236}">
                <a16:creationId xmlns:a16="http://schemas.microsoft.com/office/drawing/2014/main" id="{24D99EEA-7D08-462F-1C79-84D24567AB31}"/>
              </a:ext>
            </a:extLst>
          </p:cNvPr>
          <p:cNvPicPr>
            <a:picLocks noChangeAspect="1"/>
          </p:cNvPicPr>
          <p:nvPr/>
        </p:nvPicPr>
        <p:blipFill rotWithShape="1">
          <a:blip r:embed="rId3"/>
          <a:srcRect l="13009" r="12920"/>
          <a:stretch/>
        </p:blipFill>
        <p:spPr>
          <a:xfrm>
            <a:off x="5988176" y="1904033"/>
            <a:ext cx="2734957" cy="1656826"/>
          </a:xfrm>
          <a:prstGeom prst="rect">
            <a:avLst/>
          </a:prstGeom>
        </p:spPr>
      </p:pic>
      <p:sp>
        <p:nvSpPr>
          <p:cNvPr id="13" name="CuadroTexto 12">
            <a:extLst>
              <a:ext uri="{FF2B5EF4-FFF2-40B4-BE49-F238E27FC236}">
                <a16:creationId xmlns:a16="http://schemas.microsoft.com/office/drawing/2014/main" id="{336C4E03-1679-E64E-F176-E012EC34A286}"/>
              </a:ext>
            </a:extLst>
          </p:cNvPr>
          <p:cNvSpPr txBox="1"/>
          <p:nvPr/>
        </p:nvSpPr>
        <p:spPr>
          <a:xfrm>
            <a:off x="6230940" y="1470334"/>
            <a:ext cx="2289975" cy="307777"/>
          </a:xfrm>
          <a:prstGeom prst="rect">
            <a:avLst/>
          </a:prstGeom>
          <a:noFill/>
        </p:spPr>
        <p:txBody>
          <a:bodyPr wrap="square" rtlCol="0">
            <a:spAutoFit/>
          </a:bodyPr>
          <a:lstStyle/>
          <a:p>
            <a:pPr algn="ctr"/>
            <a:r>
              <a:rPr lang="es-MX" b="1" dirty="0">
                <a:effectLst>
                  <a:outerShdw blurRad="38100" dist="38100" dir="2700000" algn="tl">
                    <a:srgbClr val="000000">
                      <a:alpha val="43137"/>
                    </a:srgbClr>
                  </a:outerShdw>
                </a:effectLst>
              </a:rPr>
              <a:t>Objetivos</a:t>
            </a:r>
            <a:endParaRPr lang="es-CO" b="1" dirty="0">
              <a:effectLst>
                <a:outerShdw blurRad="38100" dist="38100" dir="2700000" algn="tl">
                  <a:srgbClr val="000000">
                    <a:alpha val="43137"/>
                  </a:srgbClr>
                </a:outerShdw>
              </a:effectLst>
            </a:endParaRPr>
          </a:p>
        </p:txBody>
      </p:sp>
      <p:sp>
        <p:nvSpPr>
          <p:cNvPr id="14" name="CuadroTexto 13">
            <a:extLst>
              <a:ext uri="{FF2B5EF4-FFF2-40B4-BE49-F238E27FC236}">
                <a16:creationId xmlns:a16="http://schemas.microsoft.com/office/drawing/2014/main" id="{3AA858A3-B455-72DA-6F30-772C3BCCB88E}"/>
              </a:ext>
            </a:extLst>
          </p:cNvPr>
          <p:cNvSpPr txBox="1"/>
          <p:nvPr/>
        </p:nvSpPr>
        <p:spPr>
          <a:xfrm>
            <a:off x="3293493" y="2595655"/>
            <a:ext cx="2289975" cy="307777"/>
          </a:xfrm>
          <a:prstGeom prst="rect">
            <a:avLst/>
          </a:prstGeom>
          <a:noFill/>
        </p:spPr>
        <p:txBody>
          <a:bodyPr wrap="square" rtlCol="0">
            <a:spAutoFit/>
          </a:bodyPr>
          <a:lstStyle/>
          <a:p>
            <a:pPr algn="ctr"/>
            <a:r>
              <a:rPr lang="es-MX" b="1" dirty="0">
                <a:ln w="9525">
                  <a:solidFill>
                    <a:schemeClr val="bg1"/>
                  </a:solidFill>
                  <a:prstDash val="solid"/>
                </a:ln>
                <a:solidFill>
                  <a:schemeClr val="tx1"/>
                </a:solidFill>
                <a:effectLst>
                  <a:outerShdw blurRad="12700" dist="38100" dir="2700000" algn="tl" rotWithShape="0">
                    <a:schemeClr val="bg1">
                      <a:lumMod val="50000"/>
                    </a:schemeClr>
                  </a:outerShdw>
                </a:effectLst>
              </a:rPr>
              <a:t>Estrategias</a:t>
            </a:r>
            <a:endParaRPr lang="es-CO" b="1"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Tree>
    <p:extLst>
      <p:ext uri="{BB962C8B-B14F-4D97-AF65-F5344CB8AC3E}">
        <p14:creationId xmlns:p14="http://schemas.microsoft.com/office/powerpoint/2010/main" val="15373462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17E4DE88-D04F-0704-9388-AB88FB0F585A}"/>
              </a:ext>
            </a:extLst>
          </p:cNvPr>
          <p:cNvSpPr>
            <a:spLocks noGrp="1"/>
          </p:cNvSpPr>
          <p:nvPr>
            <p:ph type="title"/>
          </p:nvPr>
        </p:nvSpPr>
        <p:spPr>
          <a:xfrm>
            <a:off x="384529" y="265406"/>
            <a:ext cx="8520600" cy="841800"/>
          </a:xfrm>
        </p:spPr>
        <p:txBody>
          <a:bodyPr/>
          <a:lstStyle/>
          <a:p>
            <a:r>
              <a:rPr lang="es-MX" b="1" dirty="0">
                <a:solidFill>
                  <a:srgbClr val="C00000"/>
                </a:solidFill>
                <a:latin typeface="Amasis MT Pro Black" panose="02040A04050005020304" pitchFamily="18" charset="0"/>
              </a:rPr>
              <a:t>Ciencia</a:t>
            </a:r>
            <a:r>
              <a:rPr lang="es-MX" b="1" dirty="0">
                <a:latin typeface="Amasis MT Pro Black" panose="02040A04050005020304" pitchFamily="18" charset="0"/>
              </a:rPr>
              <a:t> de </a:t>
            </a:r>
            <a:r>
              <a:rPr lang="es-MX" b="1" dirty="0">
                <a:solidFill>
                  <a:srgbClr val="002060"/>
                </a:solidFill>
                <a:latin typeface="Amasis MT Pro Black" panose="02040A04050005020304" pitchFamily="18" charset="0"/>
              </a:rPr>
              <a:t>Datos</a:t>
            </a:r>
            <a:endParaRPr lang="es-CO" b="1" dirty="0">
              <a:solidFill>
                <a:srgbClr val="002060"/>
              </a:solidFill>
              <a:latin typeface="Amasis MT Pro Black" panose="02040A04050005020304" pitchFamily="18" charset="0"/>
            </a:endParaRPr>
          </a:p>
        </p:txBody>
      </p:sp>
      <p:sp>
        <p:nvSpPr>
          <p:cNvPr id="4" name="CuadroTexto 3">
            <a:extLst>
              <a:ext uri="{FF2B5EF4-FFF2-40B4-BE49-F238E27FC236}">
                <a16:creationId xmlns:a16="http://schemas.microsoft.com/office/drawing/2014/main" id="{F8707089-F566-A41C-40EB-A9720D12FA12}"/>
              </a:ext>
            </a:extLst>
          </p:cNvPr>
          <p:cNvSpPr txBox="1"/>
          <p:nvPr/>
        </p:nvSpPr>
        <p:spPr>
          <a:xfrm>
            <a:off x="959063" y="2046635"/>
            <a:ext cx="6534161" cy="2031325"/>
          </a:xfrm>
          <a:prstGeom prst="rect">
            <a:avLst/>
          </a:prstGeom>
          <a:noFill/>
        </p:spPr>
        <p:txBody>
          <a:bodyPr wrap="square">
            <a:spAutoFit/>
          </a:bodyPr>
          <a:lstStyle/>
          <a:p>
            <a:pPr algn="just"/>
            <a:r>
              <a:rPr lang="es-MX" sz="1800" dirty="0"/>
              <a:t>Es un campo interdisciplinario que utiliza métodos científicos, procesos, algoritmos y sistemas para automatizar la </a:t>
            </a:r>
            <a:r>
              <a:rPr lang="es-MX" sz="1800" b="1" dirty="0"/>
              <a:t>extracción de</a:t>
            </a:r>
            <a:r>
              <a:rPr lang="es-MX" sz="1800" dirty="0"/>
              <a:t> </a:t>
            </a:r>
            <a:r>
              <a:rPr lang="es-MX" sz="1800" b="1" dirty="0"/>
              <a:t>conocimiento</a:t>
            </a:r>
            <a:r>
              <a:rPr lang="es-MX" sz="1800" dirty="0"/>
              <a:t> y perspectivas </a:t>
            </a:r>
            <a:r>
              <a:rPr lang="es-MX" sz="1800" b="1" dirty="0"/>
              <a:t>de datos </a:t>
            </a:r>
            <a:r>
              <a:rPr lang="es-MX" sz="1800" dirty="0"/>
              <a:t>en diversas formas, tanto estructuradas como no estructuradas. Combina aspectos de </a:t>
            </a:r>
            <a:r>
              <a:rPr lang="es-MX" sz="1800" b="1" dirty="0"/>
              <a:t>estadísticas</a:t>
            </a:r>
            <a:r>
              <a:rPr lang="es-MX" sz="1800" dirty="0"/>
              <a:t>, matemáticas, </a:t>
            </a:r>
            <a:r>
              <a:rPr lang="es-MX" sz="1800" b="1" dirty="0"/>
              <a:t>programación</a:t>
            </a:r>
            <a:r>
              <a:rPr lang="es-MX" sz="1800" dirty="0"/>
              <a:t> y conocimiento del dominio para analizar y interpretar </a:t>
            </a:r>
            <a:r>
              <a:rPr lang="es-MX" sz="1800" b="1" dirty="0"/>
              <a:t>grandes volúmenes de datos.</a:t>
            </a:r>
            <a:endParaRPr lang="es-CO" sz="1800" b="1" dirty="0"/>
          </a:p>
        </p:txBody>
      </p:sp>
      <p:sp>
        <p:nvSpPr>
          <p:cNvPr id="5" name="CuadroTexto 4">
            <a:extLst>
              <a:ext uri="{FF2B5EF4-FFF2-40B4-BE49-F238E27FC236}">
                <a16:creationId xmlns:a16="http://schemas.microsoft.com/office/drawing/2014/main" id="{90E29717-C5CC-EB73-6E8A-E3E8949EDCDD}"/>
              </a:ext>
            </a:extLst>
          </p:cNvPr>
          <p:cNvSpPr txBox="1"/>
          <p:nvPr/>
        </p:nvSpPr>
        <p:spPr>
          <a:xfrm>
            <a:off x="384529" y="1221897"/>
            <a:ext cx="2925113" cy="400110"/>
          </a:xfrm>
          <a:prstGeom prst="rect">
            <a:avLst/>
          </a:prstGeom>
          <a:noFill/>
        </p:spPr>
        <p:txBody>
          <a:bodyPr wrap="square" rtlCol="0">
            <a:spAutoFit/>
          </a:bodyPr>
          <a:lstStyle/>
          <a:p>
            <a:r>
              <a:rPr lang="es-MX" sz="2000" b="1" dirty="0"/>
              <a:t>Vamos a definirla. . .</a:t>
            </a:r>
            <a:endParaRPr lang="es-CO" sz="2000" b="1" dirty="0"/>
          </a:p>
        </p:txBody>
      </p:sp>
    </p:spTree>
    <p:extLst>
      <p:ext uri="{BB962C8B-B14F-4D97-AF65-F5344CB8AC3E}">
        <p14:creationId xmlns:p14="http://schemas.microsoft.com/office/powerpoint/2010/main" val="17275380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F224D624-40A1-81E2-36A2-A23BEA4E8E72}"/>
              </a:ext>
            </a:extLst>
          </p:cNvPr>
          <p:cNvPicPr>
            <a:picLocks noChangeAspect="1"/>
          </p:cNvPicPr>
          <p:nvPr/>
        </p:nvPicPr>
        <p:blipFill rotWithShape="1">
          <a:blip r:embed="rId2"/>
          <a:srcRect r="8213"/>
          <a:stretch/>
        </p:blipFill>
        <p:spPr>
          <a:xfrm>
            <a:off x="4644829" y="1236351"/>
            <a:ext cx="4521475" cy="2845615"/>
          </a:xfrm>
          <a:prstGeom prst="rect">
            <a:avLst/>
          </a:prstGeom>
        </p:spPr>
      </p:pic>
      <p:pic>
        <p:nvPicPr>
          <p:cNvPr id="4" name="Imagen 3">
            <a:extLst>
              <a:ext uri="{FF2B5EF4-FFF2-40B4-BE49-F238E27FC236}">
                <a16:creationId xmlns:a16="http://schemas.microsoft.com/office/drawing/2014/main" id="{657D52C3-5515-32DB-7491-39D9A26297EC}"/>
              </a:ext>
            </a:extLst>
          </p:cNvPr>
          <p:cNvPicPr>
            <a:picLocks noChangeAspect="1"/>
          </p:cNvPicPr>
          <p:nvPr/>
        </p:nvPicPr>
        <p:blipFill rotWithShape="1">
          <a:blip r:embed="rId3"/>
          <a:srcRect l="14232" r="17790"/>
          <a:stretch/>
        </p:blipFill>
        <p:spPr>
          <a:xfrm>
            <a:off x="0" y="1141808"/>
            <a:ext cx="3673785" cy="3034702"/>
          </a:xfrm>
          <a:prstGeom prst="rect">
            <a:avLst/>
          </a:prstGeom>
        </p:spPr>
      </p:pic>
      <p:pic>
        <p:nvPicPr>
          <p:cNvPr id="3074" name="Picture 2" descr="Skforecast: Forecasting series temporales con python y scikitlearn">
            <a:extLst>
              <a:ext uri="{FF2B5EF4-FFF2-40B4-BE49-F238E27FC236}">
                <a16:creationId xmlns:a16="http://schemas.microsoft.com/office/drawing/2014/main" id="{1833057B-DBE3-DB5C-0585-852755A4039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99488" y="3550240"/>
            <a:ext cx="3399367" cy="1510830"/>
          </a:xfrm>
          <a:prstGeom prst="rect">
            <a:avLst/>
          </a:prstGeom>
          <a:noFill/>
          <a:extLst>
            <a:ext uri="{909E8E84-426E-40DD-AFC4-6F175D3DCCD1}">
              <a14:hiddenFill xmlns:a14="http://schemas.microsoft.com/office/drawing/2010/main">
                <a:solidFill>
                  <a:srgbClr val="FFFFFF"/>
                </a:solidFill>
              </a14:hiddenFill>
            </a:ext>
          </a:extLst>
        </p:spPr>
      </p:pic>
      <p:sp>
        <p:nvSpPr>
          <p:cNvPr id="5" name="Título 1">
            <a:extLst>
              <a:ext uri="{FF2B5EF4-FFF2-40B4-BE49-F238E27FC236}">
                <a16:creationId xmlns:a16="http://schemas.microsoft.com/office/drawing/2014/main" id="{B858CCBE-5D6F-2908-7865-976063860BE9}"/>
              </a:ext>
            </a:extLst>
          </p:cNvPr>
          <p:cNvSpPr>
            <a:spLocks noGrp="1"/>
          </p:cNvSpPr>
          <p:nvPr>
            <p:ph type="title"/>
          </p:nvPr>
        </p:nvSpPr>
        <p:spPr>
          <a:xfrm>
            <a:off x="384529" y="265406"/>
            <a:ext cx="8520600" cy="841800"/>
          </a:xfrm>
        </p:spPr>
        <p:txBody>
          <a:bodyPr/>
          <a:lstStyle/>
          <a:p>
            <a:r>
              <a:rPr lang="es-MX" b="1" dirty="0">
                <a:solidFill>
                  <a:srgbClr val="C00000"/>
                </a:solidFill>
                <a:latin typeface="Amasis MT Pro Black" panose="02040A04050005020304" pitchFamily="18" charset="0"/>
              </a:rPr>
              <a:t>Ciencia</a:t>
            </a:r>
            <a:r>
              <a:rPr lang="es-MX" b="1" dirty="0">
                <a:latin typeface="Amasis MT Pro Black" panose="02040A04050005020304" pitchFamily="18" charset="0"/>
              </a:rPr>
              <a:t> de </a:t>
            </a:r>
            <a:r>
              <a:rPr lang="es-MX" b="1" dirty="0">
                <a:solidFill>
                  <a:srgbClr val="002060"/>
                </a:solidFill>
                <a:latin typeface="Amasis MT Pro Black" panose="02040A04050005020304" pitchFamily="18" charset="0"/>
              </a:rPr>
              <a:t>Datos</a:t>
            </a:r>
            <a:endParaRPr lang="es-CO" b="1" dirty="0">
              <a:solidFill>
                <a:srgbClr val="002060"/>
              </a:solidFill>
              <a:latin typeface="Amasis MT Pro Black" panose="02040A04050005020304" pitchFamily="18" charset="0"/>
            </a:endParaRPr>
          </a:p>
        </p:txBody>
      </p:sp>
    </p:spTree>
    <p:extLst>
      <p:ext uri="{BB962C8B-B14F-4D97-AF65-F5344CB8AC3E}">
        <p14:creationId xmlns:p14="http://schemas.microsoft.com/office/powerpoint/2010/main" val="3870520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17E4DE88-D04F-0704-9388-AB88FB0F585A}"/>
              </a:ext>
            </a:extLst>
          </p:cNvPr>
          <p:cNvSpPr>
            <a:spLocks noGrp="1"/>
          </p:cNvSpPr>
          <p:nvPr>
            <p:ph type="title"/>
          </p:nvPr>
        </p:nvSpPr>
        <p:spPr>
          <a:xfrm>
            <a:off x="384529" y="265406"/>
            <a:ext cx="8520600" cy="841800"/>
          </a:xfrm>
        </p:spPr>
        <p:txBody>
          <a:bodyPr/>
          <a:lstStyle/>
          <a:p>
            <a:r>
              <a:rPr lang="es-MX" b="1" dirty="0">
                <a:solidFill>
                  <a:srgbClr val="C00000"/>
                </a:solidFill>
                <a:latin typeface="Amasis MT Pro Black" panose="02040A04050005020304" pitchFamily="18" charset="0"/>
              </a:rPr>
              <a:t>Ciencia</a:t>
            </a:r>
            <a:r>
              <a:rPr lang="es-MX" b="1" dirty="0">
                <a:latin typeface="Amasis MT Pro Black" panose="02040A04050005020304" pitchFamily="18" charset="0"/>
              </a:rPr>
              <a:t> de </a:t>
            </a:r>
            <a:r>
              <a:rPr lang="es-MX" b="1" dirty="0">
                <a:solidFill>
                  <a:srgbClr val="002060"/>
                </a:solidFill>
                <a:latin typeface="Amasis MT Pro Black" panose="02040A04050005020304" pitchFamily="18" charset="0"/>
              </a:rPr>
              <a:t>Datos</a:t>
            </a:r>
            <a:endParaRPr lang="es-CO" b="1" dirty="0">
              <a:solidFill>
                <a:srgbClr val="002060"/>
              </a:solidFill>
              <a:latin typeface="Amasis MT Pro Black" panose="02040A04050005020304" pitchFamily="18" charset="0"/>
            </a:endParaRPr>
          </a:p>
        </p:txBody>
      </p:sp>
      <p:sp>
        <p:nvSpPr>
          <p:cNvPr id="5" name="CuadroTexto 4">
            <a:extLst>
              <a:ext uri="{FF2B5EF4-FFF2-40B4-BE49-F238E27FC236}">
                <a16:creationId xmlns:a16="http://schemas.microsoft.com/office/drawing/2014/main" id="{90E29717-C5CC-EB73-6E8A-E3E8949EDCDD}"/>
              </a:ext>
            </a:extLst>
          </p:cNvPr>
          <p:cNvSpPr txBox="1"/>
          <p:nvPr/>
        </p:nvSpPr>
        <p:spPr>
          <a:xfrm>
            <a:off x="384529" y="1221897"/>
            <a:ext cx="2925113" cy="523220"/>
          </a:xfrm>
          <a:prstGeom prst="rect">
            <a:avLst/>
          </a:prstGeom>
          <a:noFill/>
        </p:spPr>
        <p:txBody>
          <a:bodyPr wrap="square" rtlCol="0">
            <a:spAutoFit/>
          </a:bodyPr>
          <a:lstStyle/>
          <a:p>
            <a:r>
              <a:rPr lang="es-MX" sz="2800" b="1" i="1" dirty="0">
                <a:latin typeface="Aharoni" panose="02010803020104030203" pitchFamily="2" charset="-79"/>
                <a:cs typeface="Aharoni" panose="02010803020104030203" pitchFamily="2" charset="-79"/>
              </a:rPr>
              <a:t>Importancia</a:t>
            </a:r>
            <a:endParaRPr lang="es-CO" sz="2800" b="1" i="1" dirty="0">
              <a:latin typeface="Aharoni" panose="02010803020104030203" pitchFamily="2" charset="-79"/>
              <a:cs typeface="Aharoni" panose="02010803020104030203" pitchFamily="2" charset="-79"/>
            </a:endParaRPr>
          </a:p>
        </p:txBody>
      </p:sp>
      <p:sp>
        <p:nvSpPr>
          <p:cNvPr id="6" name="CuadroTexto 5">
            <a:extLst>
              <a:ext uri="{FF2B5EF4-FFF2-40B4-BE49-F238E27FC236}">
                <a16:creationId xmlns:a16="http://schemas.microsoft.com/office/drawing/2014/main" id="{7E89B899-EC0E-55CA-D555-93C17F14D410}"/>
              </a:ext>
            </a:extLst>
          </p:cNvPr>
          <p:cNvSpPr txBox="1"/>
          <p:nvPr/>
        </p:nvSpPr>
        <p:spPr>
          <a:xfrm>
            <a:off x="578579" y="1984994"/>
            <a:ext cx="7934241" cy="2677656"/>
          </a:xfrm>
          <a:prstGeom prst="rect">
            <a:avLst/>
          </a:prstGeom>
          <a:noFill/>
        </p:spPr>
        <p:txBody>
          <a:bodyPr wrap="square">
            <a:spAutoFit/>
          </a:bodyPr>
          <a:lstStyle/>
          <a:p>
            <a:pPr algn="just">
              <a:buFont typeface="Arial" panose="020B0604020202020204" pitchFamily="34" charset="0"/>
              <a:buChar char="•"/>
            </a:pPr>
            <a:r>
              <a:rPr lang="es-MX" b="1" i="0" dirty="0">
                <a:solidFill>
                  <a:srgbClr val="0D0D0D"/>
                </a:solidFill>
                <a:effectLst/>
                <a:latin typeface="Abadi" panose="020B0604020104020204" pitchFamily="34" charset="0"/>
              </a:rPr>
              <a:t> Toma de Decisiones Basada en Datos</a:t>
            </a:r>
            <a:r>
              <a:rPr lang="es-MX" b="0" i="0" dirty="0">
                <a:solidFill>
                  <a:srgbClr val="0D0D0D"/>
                </a:solidFill>
                <a:effectLst/>
                <a:latin typeface="Abadi" panose="020B0604020104020204" pitchFamily="34" charset="0"/>
              </a:rPr>
              <a:t>: En la era digital, la cantidad de datos generados es inmensa. La ciencia de datos permite convertir estos datos en información y conocimiento útil para la toma de decisiones informadas.</a:t>
            </a:r>
          </a:p>
          <a:p>
            <a:pPr algn="just">
              <a:buFont typeface="Arial" panose="020B0604020202020204" pitchFamily="34" charset="0"/>
              <a:buChar char="•"/>
            </a:pPr>
            <a:endParaRPr lang="es-MX" b="0" i="0" dirty="0">
              <a:solidFill>
                <a:srgbClr val="0D0D0D"/>
              </a:solidFill>
              <a:effectLst/>
              <a:latin typeface="Abadi" panose="020B0604020104020204" pitchFamily="34" charset="0"/>
            </a:endParaRPr>
          </a:p>
          <a:p>
            <a:pPr algn="just">
              <a:buFont typeface="Arial" panose="020B0604020202020204" pitchFamily="34" charset="0"/>
              <a:buChar char="•"/>
            </a:pPr>
            <a:r>
              <a:rPr lang="es-MX" b="1" i="0" dirty="0">
                <a:solidFill>
                  <a:srgbClr val="0D0D0D"/>
                </a:solidFill>
                <a:effectLst/>
                <a:latin typeface="Abadi" panose="020B0604020104020204" pitchFamily="34" charset="0"/>
              </a:rPr>
              <a:t> Innovación y Mejora Continua</a:t>
            </a:r>
            <a:r>
              <a:rPr lang="es-MX" b="0" i="0" dirty="0">
                <a:solidFill>
                  <a:srgbClr val="0D0D0D"/>
                </a:solidFill>
                <a:effectLst/>
                <a:latin typeface="Abadi" panose="020B0604020104020204" pitchFamily="34" charset="0"/>
              </a:rPr>
              <a:t>: A través del análisis de datos, las organizaciones pueden identificar oportunidades de mejora y innovación en sus productos, servicios y procesos.</a:t>
            </a:r>
          </a:p>
          <a:p>
            <a:pPr algn="just">
              <a:buFont typeface="Arial" panose="020B0604020202020204" pitchFamily="34" charset="0"/>
              <a:buChar char="•"/>
            </a:pPr>
            <a:endParaRPr lang="es-MX" b="0" i="0" dirty="0">
              <a:solidFill>
                <a:srgbClr val="0D0D0D"/>
              </a:solidFill>
              <a:effectLst/>
              <a:latin typeface="Abadi" panose="020B0604020104020204" pitchFamily="34" charset="0"/>
            </a:endParaRPr>
          </a:p>
          <a:p>
            <a:pPr algn="just">
              <a:buFont typeface="Arial" panose="020B0604020202020204" pitchFamily="34" charset="0"/>
              <a:buChar char="•"/>
            </a:pPr>
            <a:r>
              <a:rPr lang="es-MX" b="1" i="0" dirty="0">
                <a:solidFill>
                  <a:srgbClr val="0D0D0D"/>
                </a:solidFill>
                <a:effectLst/>
                <a:latin typeface="Abadi" panose="020B0604020104020204" pitchFamily="34" charset="0"/>
              </a:rPr>
              <a:t> Personalización y Experiencia del Usuario</a:t>
            </a:r>
            <a:r>
              <a:rPr lang="es-MX" b="0" i="0" dirty="0">
                <a:solidFill>
                  <a:srgbClr val="0D0D0D"/>
                </a:solidFill>
                <a:effectLst/>
                <a:latin typeface="Abadi" panose="020B0604020104020204" pitchFamily="34" charset="0"/>
              </a:rPr>
              <a:t>: La ciencia de datos posibilita la personalización de las experiencias de los usuarios al analizar sus comportamientos y preferencias.</a:t>
            </a:r>
          </a:p>
          <a:p>
            <a:pPr algn="just"/>
            <a:endParaRPr lang="es-MX" b="0" i="0" dirty="0">
              <a:solidFill>
                <a:srgbClr val="0D0D0D"/>
              </a:solidFill>
              <a:effectLst/>
              <a:latin typeface="Abadi" panose="020B0604020104020204" pitchFamily="34" charset="0"/>
            </a:endParaRPr>
          </a:p>
          <a:p>
            <a:pPr algn="just">
              <a:buFont typeface="Arial" panose="020B0604020202020204" pitchFamily="34" charset="0"/>
              <a:buChar char="•"/>
            </a:pPr>
            <a:r>
              <a:rPr lang="es-MX" b="1" i="0" dirty="0">
                <a:solidFill>
                  <a:srgbClr val="0D0D0D"/>
                </a:solidFill>
                <a:effectLst/>
                <a:latin typeface="Abadi" panose="020B0604020104020204" pitchFamily="34" charset="0"/>
              </a:rPr>
              <a:t> Eficiencia Operativa</a:t>
            </a:r>
            <a:r>
              <a:rPr lang="es-MX" b="0" i="0" dirty="0">
                <a:solidFill>
                  <a:srgbClr val="0D0D0D"/>
                </a:solidFill>
                <a:effectLst/>
                <a:latin typeface="Abadi" panose="020B0604020104020204" pitchFamily="34" charset="0"/>
              </a:rPr>
              <a:t>: Optimiza procesos, reduce costos y mejora la eficiencia operativa en diversas industrias.</a:t>
            </a:r>
          </a:p>
        </p:txBody>
      </p:sp>
    </p:spTree>
    <p:extLst>
      <p:ext uri="{BB962C8B-B14F-4D97-AF65-F5344CB8AC3E}">
        <p14:creationId xmlns:p14="http://schemas.microsoft.com/office/powerpoint/2010/main" val="28495456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074DE8D2-5F66-C1CD-9933-2FE7820FA99C}"/>
              </a:ext>
            </a:extLst>
          </p:cNvPr>
          <p:cNvSpPr txBox="1"/>
          <p:nvPr/>
        </p:nvSpPr>
        <p:spPr>
          <a:xfrm>
            <a:off x="384529" y="1859808"/>
            <a:ext cx="3577871" cy="2462213"/>
          </a:xfrm>
          <a:prstGeom prst="rect">
            <a:avLst/>
          </a:prstGeom>
          <a:noFill/>
        </p:spPr>
        <p:txBody>
          <a:bodyPr wrap="square">
            <a:spAutoFit/>
          </a:bodyPr>
          <a:lstStyle/>
          <a:p>
            <a:pPr algn="l"/>
            <a:r>
              <a:rPr lang="es-MX" b="1" i="0" dirty="0">
                <a:solidFill>
                  <a:srgbClr val="0D0D0D"/>
                </a:solidFill>
                <a:effectLst/>
                <a:latin typeface="Abadi" panose="020B0604020104020204" pitchFamily="34" charset="0"/>
              </a:rPr>
              <a:t>Salud</a:t>
            </a:r>
          </a:p>
          <a:p>
            <a:pPr algn="l"/>
            <a:r>
              <a:rPr lang="es-MX" i="0" dirty="0">
                <a:solidFill>
                  <a:srgbClr val="0D0D0D"/>
                </a:solidFill>
                <a:effectLst/>
                <a:latin typeface="Abadi" panose="020B0604020104020204" pitchFamily="34" charset="0"/>
              </a:rPr>
              <a:t>Diagnóstico Médico</a:t>
            </a:r>
          </a:p>
          <a:p>
            <a:pPr algn="l"/>
            <a:r>
              <a:rPr lang="es-MX" i="0" dirty="0">
                <a:solidFill>
                  <a:srgbClr val="0D0D0D"/>
                </a:solidFill>
                <a:effectLst/>
                <a:latin typeface="Abadi" panose="020B0604020104020204" pitchFamily="34" charset="0"/>
              </a:rPr>
              <a:t>Predicción de Brotes Epidémicos.</a:t>
            </a:r>
          </a:p>
          <a:p>
            <a:pPr algn="l"/>
            <a:endParaRPr lang="es-MX" b="0" i="0" dirty="0">
              <a:solidFill>
                <a:srgbClr val="0D0D0D"/>
              </a:solidFill>
              <a:effectLst/>
              <a:latin typeface="Abadi" panose="020B0604020104020204" pitchFamily="34" charset="0"/>
            </a:endParaRPr>
          </a:p>
          <a:p>
            <a:pPr algn="l"/>
            <a:r>
              <a:rPr lang="es-MX" b="1" i="0" dirty="0">
                <a:solidFill>
                  <a:srgbClr val="0D0D0D"/>
                </a:solidFill>
                <a:effectLst/>
                <a:latin typeface="Abadi" panose="020B0604020104020204" pitchFamily="34" charset="0"/>
              </a:rPr>
              <a:t>Finanzas</a:t>
            </a:r>
          </a:p>
          <a:p>
            <a:pPr algn="l"/>
            <a:r>
              <a:rPr lang="es-MX" i="0" dirty="0">
                <a:solidFill>
                  <a:srgbClr val="0D0D0D"/>
                </a:solidFill>
                <a:effectLst/>
                <a:latin typeface="Abadi" panose="020B0604020104020204" pitchFamily="34" charset="0"/>
              </a:rPr>
              <a:t>Detección de Fraude</a:t>
            </a:r>
          </a:p>
          <a:p>
            <a:pPr algn="l"/>
            <a:r>
              <a:rPr lang="es-MX" i="0" dirty="0">
                <a:solidFill>
                  <a:srgbClr val="0D0D0D"/>
                </a:solidFill>
                <a:effectLst/>
                <a:latin typeface="Abadi" panose="020B0604020104020204" pitchFamily="34" charset="0"/>
              </a:rPr>
              <a:t>Gestión de Riesgos</a:t>
            </a:r>
          </a:p>
          <a:p>
            <a:pPr algn="l"/>
            <a:endParaRPr lang="es-MX" b="0" i="0" dirty="0">
              <a:solidFill>
                <a:srgbClr val="0D0D0D"/>
              </a:solidFill>
              <a:effectLst/>
              <a:latin typeface="Abadi" panose="020B0604020104020204" pitchFamily="34" charset="0"/>
            </a:endParaRPr>
          </a:p>
          <a:p>
            <a:pPr algn="l"/>
            <a:r>
              <a:rPr lang="es-MX" b="1" i="0" dirty="0">
                <a:solidFill>
                  <a:srgbClr val="0D0D0D"/>
                </a:solidFill>
                <a:effectLst/>
                <a:latin typeface="Abadi" panose="020B0604020104020204" pitchFamily="34" charset="0"/>
              </a:rPr>
              <a:t>Medio Ambiente</a:t>
            </a:r>
            <a:endParaRPr lang="es-MX" b="1" dirty="0">
              <a:solidFill>
                <a:srgbClr val="0D0D0D"/>
              </a:solidFill>
              <a:latin typeface="Abadi" panose="020B0604020104020204" pitchFamily="34" charset="0"/>
            </a:endParaRPr>
          </a:p>
          <a:p>
            <a:pPr algn="l"/>
            <a:r>
              <a:rPr lang="es-MX" i="0" dirty="0">
                <a:solidFill>
                  <a:srgbClr val="0D0D0D"/>
                </a:solidFill>
                <a:effectLst/>
                <a:latin typeface="Abadi" panose="020B0604020104020204" pitchFamily="34" charset="0"/>
              </a:rPr>
              <a:t>Monitoreo del Cambio Climático</a:t>
            </a:r>
          </a:p>
          <a:p>
            <a:pPr algn="l"/>
            <a:r>
              <a:rPr lang="es-MX" i="0" dirty="0">
                <a:solidFill>
                  <a:srgbClr val="0D0D0D"/>
                </a:solidFill>
                <a:effectLst/>
                <a:latin typeface="Abadi" panose="020B0604020104020204" pitchFamily="34" charset="0"/>
              </a:rPr>
              <a:t>Conservación de la Biodiversidad</a:t>
            </a:r>
          </a:p>
        </p:txBody>
      </p:sp>
      <p:sp>
        <p:nvSpPr>
          <p:cNvPr id="5" name="Título 1">
            <a:extLst>
              <a:ext uri="{FF2B5EF4-FFF2-40B4-BE49-F238E27FC236}">
                <a16:creationId xmlns:a16="http://schemas.microsoft.com/office/drawing/2014/main" id="{113210CE-DF08-E1EB-0081-33E13BD3ECC3}"/>
              </a:ext>
            </a:extLst>
          </p:cNvPr>
          <p:cNvSpPr>
            <a:spLocks noGrp="1"/>
          </p:cNvSpPr>
          <p:nvPr>
            <p:ph type="title"/>
          </p:nvPr>
        </p:nvSpPr>
        <p:spPr>
          <a:xfrm>
            <a:off x="384529" y="265406"/>
            <a:ext cx="8520600" cy="841800"/>
          </a:xfrm>
        </p:spPr>
        <p:txBody>
          <a:bodyPr/>
          <a:lstStyle/>
          <a:p>
            <a:r>
              <a:rPr lang="es-MX" b="1" dirty="0">
                <a:solidFill>
                  <a:srgbClr val="C00000"/>
                </a:solidFill>
                <a:latin typeface="Amasis MT Pro Black" panose="02040A04050005020304" pitchFamily="18" charset="0"/>
              </a:rPr>
              <a:t>Ciencia</a:t>
            </a:r>
            <a:r>
              <a:rPr lang="es-MX" b="1" dirty="0">
                <a:latin typeface="Amasis MT Pro Black" panose="02040A04050005020304" pitchFamily="18" charset="0"/>
              </a:rPr>
              <a:t> de </a:t>
            </a:r>
            <a:r>
              <a:rPr lang="es-MX" b="1" dirty="0">
                <a:solidFill>
                  <a:srgbClr val="002060"/>
                </a:solidFill>
                <a:latin typeface="Amasis MT Pro Black" panose="02040A04050005020304" pitchFamily="18" charset="0"/>
              </a:rPr>
              <a:t>Datos</a:t>
            </a:r>
            <a:endParaRPr lang="es-CO" b="1" dirty="0">
              <a:solidFill>
                <a:srgbClr val="002060"/>
              </a:solidFill>
              <a:latin typeface="Amasis MT Pro Black" panose="02040A04050005020304" pitchFamily="18" charset="0"/>
            </a:endParaRPr>
          </a:p>
        </p:txBody>
      </p:sp>
      <p:sp>
        <p:nvSpPr>
          <p:cNvPr id="6" name="CuadroTexto 5">
            <a:extLst>
              <a:ext uri="{FF2B5EF4-FFF2-40B4-BE49-F238E27FC236}">
                <a16:creationId xmlns:a16="http://schemas.microsoft.com/office/drawing/2014/main" id="{7F4B2A58-52A1-35F2-B13C-E24880CCB582}"/>
              </a:ext>
            </a:extLst>
          </p:cNvPr>
          <p:cNvSpPr txBox="1"/>
          <p:nvPr/>
        </p:nvSpPr>
        <p:spPr>
          <a:xfrm>
            <a:off x="384529" y="1221897"/>
            <a:ext cx="2925113" cy="523220"/>
          </a:xfrm>
          <a:prstGeom prst="rect">
            <a:avLst/>
          </a:prstGeom>
          <a:noFill/>
        </p:spPr>
        <p:txBody>
          <a:bodyPr wrap="square" rtlCol="0">
            <a:spAutoFit/>
          </a:bodyPr>
          <a:lstStyle/>
          <a:p>
            <a:r>
              <a:rPr lang="es-MX" sz="2800" b="1" i="1" dirty="0">
                <a:latin typeface="Aharoni" panose="02010803020104030203" pitchFamily="2" charset="-79"/>
                <a:cs typeface="Aharoni" panose="02010803020104030203" pitchFamily="2" charset="-79"/>
              </a:rPr>
              <a:t>Aplicación</a:t>
            </a:r>
            <a:endParaRPr lang="es-CO" sz="2800" b="1" i="1" dirty="0">
              <a:latin typeface="Aharoni" panose="02010803020104030203" pitchFamily="2" charset="-79"/>
              <a:cs typeface="Aharoni" panose="02010803020104030203" pitchFamily="2" charset="-79"/>
            </a:endParaRPr>
          </a:p>
        </p:txBody>
      </p:sp>
      <p:pic>
        <p:nvPicPr>
          <p:cNvPr id="2" name="Imagen 1">
            <a:extLst>
              <a:ext uri="{FF2B5EF4-FFF2-40B4-BE49-F238E27FC236}">
                <a16:creationId xmlns:a16="http://schemas.microsoft.com/office/drawing/2014/main" id="{6D247A1C-0119-3C54-387E-17AE5D96BE5C}"/>
              </a:ext>
            </a:extLst>
          </p:cNvPr>
          <p:cNvPicPr>
            <a:picLocks noChangeAspect="1"/>
          </p:cNvPicPr>
          <p:nvPr/>
        </p:nvPicPr>
        <p:blipFill>
          <a:blip r:embed="rId3"/>
          <a:stretch>
            <a:fillRect/>
          </a:stretch>
        </p:blipFill>
        <p:spPr>
          <a:xfrm>
            <a:off x="4177458" y="1562767"/>
            <a:ext cx="3590589" cy="1633008"/>
          </a:xfrm>
          <a:prstGeom prst="rect">
            <a:avLst/>
          </a:prstGeom>
        </p:spPr>
      </p:pic>
      <p:pic>
        <p:nvPicPr>
          <p:cNvPr id="3" name="Imagen 2">
            <a:extLst>
              <a:ext uri="{FF2B5EF4-FFF2-40B4-BE49-F238E27FC236}">
                <a16:creationId xmlns:a16="http://schemas.microsoft.com/office/drawing/2014/main" id="{80F58F8D-2E66-F025-B591-1C1674366F29}"/>
              </a:ext>
            </a:extLst>
          </p:cNvPr>
          <p:cNvPicPr>
            <a:picLocks noChangeAspect="1"/>
          </p:cNvPicPr>
          <p:nvPr/>
        </p:nvPicPr>
        <p:blipFill>
          <a:blip r:embed="rId4"/>
          <a:stretch>
            <a:fillRect/>
          </a:stretch>
        </p:blipFill>
        <p:spPr>
          <a:xfrm>
            <a:off x="3826089" y="3428999"/>
            <a:ext cx="2333036" cy="1312333"/>
          </a:xfrm>
          <a:prstGeom prst="rect">
            <a:avLst/>
          </a:prstGeom>
        </p:spPr>
      </p:pic>
      <p:pic>
        <p:nvPicPr>
          <p:cNvPr id="5122" name="Picture 2" descr="Ingeniería de Datos y Big Data - Bridgentech">
            <a:extLst>
              <a:ext uri="{FF2B5EF4-FFF2-40B4-BE49-F238E27FC236}">
                <a16:creationId xmlns:a16="http://schemas.microsoft.com/office/drawing/2014/main" id="{4E284250-C30E-2D76-2CFA-DDEA6D559B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64061" y="3369648"/>
            <a:ext cx="2641068" cy="1773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46647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113210CE-DF08-E1EB-0081-33E13BD3ECC3}"/>
              </a:ext>
            </a:extLst>
          </p:cNvPr>
          <p:cNvSpPr>
            <a:spLocks noGrp="1"/>
          </p:cNvSpPr>
          <p:nvPr>
            <p:ph type="title"/>
          </p:nvPr>
        </p:nvSpPr>
        <p:spPr>
          <a:xfrm>
            <a:off x="384529" y="265406"/>
            <a:ext cx="8520600" cy="841800"/>
          </a:xfrm>
        </p:spPr>
        <p:txBody>
          <a:bodyPr/>
          <a:lstStyle/>
          <a:p>
            <a:r>
              <a:rPr lang="es-MX" b="1" dirty="0">
                <a:solidFill>
                  <a:srgbClr val="C00000"/>
                </a:solidFill>
                <a:latin typeface="Amasis MT Pro Black" panose="02040A04050005020304" pitchFamily="18" charset="0"/>
              </a:rPr>
              <a:t>Ciencia</a:t>
            </a:r>
            <a:r>
              <a:rPr lang="es-MX" b="1" dirty="0">
                <a:latin typeface="Amasis MT Pro Black" panose="02040A04050005020304" pitchFamily="18" charset="0"/>
              </a:rPr>
              <a:t> de </a:t>
            </a:r>
            <a:r>
              <a:rPr lang="es-MX" b="1" dirty="0">
                <a:solidFill>
                  <a:srgbClr val="002060"/>
                </a:solidFill>
                <a:latin typeface="Amasis MT Pro Black" panose="02040A04050005020304" pitchFamily="18" charset="0"/>
              </a:rPr>
              <a:t>Datos</a:t>
            </a:r>
            <a:endParaRPr lang="es-CO" b="1" dirty="0">
              <a:solidFill>
                <a:srgbClr val="002060"/>
              </a:solidFill>
              <a:latin typeface="Amasis MT Pro Black" panose="02040A04050005020304" pitchFamily="18" charset="0"/>
            </a:endParaRPr>
          </a:p>
        </p:txBody>
      </p:sp>
      <p:sp>
        <p:nvSpPr>
          <p:cNvPr id="6" name="CuadroTexto 5">
            <a:extLst>
              <a:ext uri="{FF2B5EF4-FFF2-40B4-BE49-F238E27FC236}">
                <a16:creationId xmlns:a16="http://schemas.microsoft.com/office/drawing/2014/main" id="{EA52897E-CE65-DD8C-1302-FA7B3C500FAA}"/>
              </a:ext>
            </a:extLst>
          </p:cNvPr>
          <p:cNvSpPr txBox="1"/>
          <p:nvPr/>
        </p:nvSpPr>
        <p:spPr>
          <a:xfrm>
            <a:off x="384529" y="1793407"/>
            <a:ext cx="6858000" cy="2031325"/>
          </a:xfrm>
          <a:prstGeom prst="rect">
            <a:avLst/>
          </a:prstGeom>
          <a:noFill/>
        </p:spPr>
        <p:txBody>
          <a:bodyPr wrap="square">
            <a:spAutoFit/>
          </a:bodyPr>
          <a:lstStyle/>
          <a:p>
            <a:pPr algn="l"/>
            <a:r>
              <a:rPr lang="es-MX" b="1" i="0" dirty="0">
                <a:solidFill>
                  <a:srgbClr val="0D0D0D"/>
                </a:solidFill>
                <a:effectLst/>
                <a:latin typeface="Abadi" panose="020B0604020104020204" pitchFamily="34" charset="0"/>
              </a:rPr>
              <a:t>Industria (Manufactura)</a:t>
            </a:r>
          </a:p>
          <a:p>
            <a:pPr algn="l"/>
            <a:r>
              <a:rPr lang="es-MX" i="0" dirty="0">
                <a:solidFill>
                  <a:srgbClr val="0D0D0D"/>
                </a:solidFill>
                <a:effectLst/>
                <a:latin typeface="Abadi" panose="020B0604020104020204" pitchFamily="34" charset="0"/>
              </a:rPr>
              <a:t>Optimización de la Cadena de Suministro</a:t>
            </a:r>
          </a:p>
          <a:p>
            <a:pPr algn="l"/>
            <a:r>
              <a:rPr lang="es-MX" i="0" dirty="0">
                <a:solidFill>
                  <a:srgbClr val="0D0D0D"/>
                </a:solidFill>
                <a:effectLst/>
                <a:latin typeface="Abadi" panose="020B0604020104020204" pitchFamily="34" charset="0"/>
              </a:rPr>
              <a:t>Mantenimiento Predictivo</a:t>
            </a:r>
            <a:endParaRPr lang="es-MX" dirty="0">
              <a:solidFill>
                <a:srgbClr val="0D0D0D"/>
              </a:solidFill>
              <a:latin typeface="Abadi" panose="020B0604020104020204" pitchFamily="34" charset="0"/>
            </a:endParaRPr>
          </a:p>
          <a:p>
            <a:pPr algn="l"/>
            <a:r>
              <a:rPr lang="es-MX" i="0" dirty="0">
                <a:solidFill>
                  <a:srgbClr val="0D0D0D"/>
                </a:solidFill>
                <a:effectLst/>
                <a:latin typeface="Abadi" panose="020B0604020104020204" pitchFamily="34" charset="0"/>
              </a:rPr>
              <a:t>Control de Calidad Mejorado: </a:t>
            </a:r>
            <a:endParaRPr lang="es-MX" dirty="0">
              <a:solidFill>
                <a:srgbClr val="0D0D0D"/>
              </a:solidFill>
              <a:latin typeface="Abadi" panose="020B0604020104020204" pitchFamily="34" charset="0"/>
            </a:endParaRPr>
          </a:p>
          <a:p>
            <a:pPr algn="l"/>
            <a:endParaRPr lang="es-MX" b="1" i="0" dirty="0">
              <a:solidFill>
                <a:srgbClr val="0D0D0D"/>
              </a:solidFill>
              <a:effectLst/>
              <a:latin typeface="Abadi" panose="020B0604020104020204" pitchFamily="34" charset="0"/>
            </a:endParaRPr>
          </a:p>
          <a:p>
            <a:pPr algn="l"/>
            <a:r>
              <a:rPr lang="es-MX" b="1" i="0" dirty="0">
                <a:solidFill>
                  <a:srgbClr val="0D0D0D"/>
                </a:solidFill>
                <a:effectLst/>
                <a:latin typeface="Abadi" panose="020B0604020104020204" pitchFamily="34" charset="0"/>
              </a:rPr>
              <a:t>Educación</a:t>
            </a:r>
          </a:p>
          <a:p>
            <a:pPr algn="l"/>
            <a:r>
              <a:rPr lang="es-MX" i="0" dirty="0">
                <a:solidFill>
                  <a:srgbClr val="0D0D0D"/>
                </a:solidFill>
                <a:effectLst/>
                <a:latin typeface="Abadi" panose="020B0604020104020204" pitchFamily="34" charset="0"/>
              </a:rPr>
              <a:t>Personalización del Aprendizaje</a:t>
            </a:r>
            <a:endParaRPr lang="es-MX" dirty="0">
              <a:solidFill>
                <a:srgbClr val="0D0D0D"/>
              </a:solidFill>
              <a:latin typeface="Abadi" panose="020B0604020104020204" pitchFamily="34" charset="0"/>
            </a:endParaRPr>
          </a:p>
          <a:p>
            <a:pPr algn="l"/>
            <a:r>
              <a:rPr lang="es-MX" i="0" dirty="0">
                <a:solidFill>
                  <a:srgbClr val="0D0D0D"/>
                </a:solidFill>
                <a:effectLst/>
                <a:latin typeface="Abadi" panose="020B0604020104020204" pitchFamily="34" charset="0"/>
              </a:rPr>
              <a:t>Análisis de Deserción Estudiantil</a:t>
            </a:r>
          </a:p>
          <a:p>
            <a:pPr algn="l"/>
            <a:r>
              <a:rPr lang="es-MX" i="0" dirty="0">
                <a:solidFill>
                  <a:srgbClr val="0D0D0D"/>
                </a:solidFill>
                <a:effectLst/>
                <a:latin typeface="Abadi" panose="020B0604020104020204" pitchFamily="34" charset="0"/>
              </a:rPr>
              <a:t>Optimización de Recursos Educativos</a:t>
            </a:r>
          </a:p>
        </p:txBody>
      </p:sp>
      <p:sp>
        <p:nvSpPr>
          <p:cNvPr id="7" name="CuadroTexto 6">
            <a:extLst>
              <a:ext uri="{FF2B5EF4-FFF2-40B4-BE49-F238E27FC236}">
                <a16:creationId xmlns:a16="http://schemas.microsoft.com/office/drawing/2014/main" id="{8E90C044-02D4-2B66-EDDB-D7D99B1E5E98}"/>
              </a:ext>
            </a:extLst>
          </p:cNvPr>
          <p:cNvSpPr txBox="1"/>
          <p:nvPr/>
        </p:nvSpPr>
        <p:spPr>
          <a:xfrm>
            <a:off x="384529" y="3921603"/>
            <a:ext cx="4572000" cy="738664"/>
          </a:xfrm>
          <a:prstGeom prst="rect">
            <a:avLst/>
          </a:prstGeom>
          <a:noFill/>
        </p:spPr>
        <p:txBody>
          <a:bodyPr wrap="square">
            <a:spAutoFit/>
          </a:bodyPr>
          <a:lstStyle/>
          <a:p>
            <a:pPr algn="l"/>
            <a:r>
              <a:rPr lang="es-MX" b="1" i="0" dirty="0">
                <a:solidFill>
                  <a:srgbClr val="0D0D0D"/>
                </a:solidFill>
                <a:effectLst/>
                <a:latin typeface="Abadi" panose="020B0604020104020204" pitchFamily="34" charset="0"/>
              </a:rPr>
              <a:t>Turismo</a:t>
            </a:r>
          </a:p>
          <a:p>
            <a:pPr algn="l"/>
            <a:r>
              <a:rPr lang="es-MX" i="0" dirty="0">
                <a:solidFill>
                  <a:srgbClr val="0D0D0D"/>
                </a:solidFill>
                <a:effectLst/>
                <a:latin typeface="Abadi" panose="020B0604020104020204" pitchFamily="34" charset="0"/>
              </a:rPr>
              <a:t>Análisis de Sentimientos en Reseñas de Usuarios</a:t>
            </a:r>
          </a:p>
          <a:p>
            <a:pPr algn="l"/>
            <a:r>
              <a:rPr lang="es-MX" i="0" dirty="0">
                <a:solidFill>
                  <a:srgbClr val="0D0D0D"/>
                </a:solidFill>
                <a:effectLst/>
                <a:latin typeface="Abadi" panose="020B0604020104020204" pitchFamily="34" charset="0"/>
              </a:rPr>
              <a:t>Gestión de Precios Dinámicos</a:t>
            </a:r>
          </a:p>
        </p:txBody>
      </p:sp>
      <p:sp>
        <p:nvSpPr>
          <p:cNvPr id="8" name="CuadroTexto 7">
            <a:extLst>
              <a:ext uri="{FF2B5EF4-FFF2-40B4-BE49-F238E27FC236}">
                <a16:creationId xmlns:a16="http://schemas.microsoft.com/office/drawing/2014/main" id="{E909812F-B1D9-EEB1-89A1-A917CC861DAA}"/>
              </a:ext>
            </a:extLst>
          </p:cNvPr>
          <p:cNvSpPr txBox="1"/>
          <p:nvPr/>
        </p:nvSpPr>
        <p:spPr>
          <a:xfrm>
            <a:off x="384529" y="1221897"/>
            <a:ext cx="2925113" cy="523220"/>
          </a:xfrm>
          <a:prstGeom prst="rect">
            <a:avLst/>
          </a:prstGeom>
          <a:noFill/>
        </p:spPr>
        <p:txBody>
          <a:bodyPr wrap="square" rtlCol="0">
            <a:spAutoFit/>
          </a:bodyPr>
          <a:lstStyle/>
          <a:p>
            <a:r>
              <a:rPr lang="es-MX" sz="2800" b="1" i="1" dirty="0">
                <a:latin typeface="Aharoni" panose="02010803020104030203" pitchFamily="2" charset="-79"/>
                <a:cs typeface="Aharoni" panose="02010803020104030203" pitchFamily="2" charset="-79"/>
              </a:rPr>
              <a:t>Aplicación</a:t>
            </a:r>
            <a:endParaRPr lang="es-CO" sz="2800" b="1" i="1" dirty="0">
              <a:latin typeface="Aharoni" panose="02010803020104030203" pitchFamily="2" charset="-79"/>
              <a:cs typeface="Aharoni" panose="02010803020104030203" pitchFamily="2" charset="-79"/>
            </a:endParaRPr>
          </a:p>
        </p:txBody>
      </p:sp>
      <p:pic>
        <p:nvPicPr>
          <p:cNvPr id="2" name="Imagen 1">
            <a:extLst>
              <a:ext uri="{FF2B5EF4-FFF2-40B4-BE49-F238E27FC236}">
                <a16:creationId xmlns:a16="http://schemas.microsoft.com/office/drawing/2014/main" id="{4455EEBA-EE8A-714F-9F66-19765A8C800E}"/>
              </a:ext>
            </a:extLst>
          </p:cNvPr>
          <p:cNvPicPr>
            <a:picLocks noChangeAspect="1"/>
          </p:cNvPicPr>
          <p:nvPr/>
        </p:nvPicPr>
        <p:blipFill>
          <a:blip r:embed="rId3"/>
          <a:stretch>
            <a:fillRect/>
          </a:stretch>
        </p:blipFill>
        <p:spPr>
          <a:xfrm>
            <a:off x="5029200" y="3811578"/>
            <a:ext cx="2639483" cy="1266952"/>
          </a:xfrm>
          <a:prstGeom prst="rect">
            <a:avLst/>
          </a:prstGeom>
        </p:spPr>
      </p:pic>
      <p:pic>
        <p:nvPicPr>
          <p:cNvPr id="4098" name="Picture 2" descr="GIF machine learning - animated GIF on GIFER">
            <a:extLst>
              <a:ext uri="{FF2B5EF4-FFF2-40B4-BE49-F238E27FC236}">
                <a16:creationId xmlns:a16="http://schemas.microsoft.com/office/drawing/2014/main" id="{13A185F1-8B3F-5C63-51D7-ABE5A635C4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6529" y="1107206"/>
            <a:ext cx="2427484" cy="2496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21328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 sz="6600" b="1" dirty="0">
                <a:latin typeface="Impact"/>
                <a:ea typeface="Impact"/>
                <a:cs typeface="Impact"/>
                <a:sym typeface="Impact"/>
              </a:rPr>
              <a:t>Conceptos básicos</a:t>
            </a:r>
            <a:endParaRPr sz="6600" b="1" dirty="0">
              <a:latin typeface="Impact"/>
              <a:ea typeface="Impact"/>
              <a:cs typeface="Impact"/>
              <a:sym typeface="Impact"/>
            </a:endParaRPr>
          </a:p>
        </p:txBody>
      </p:sp>
      <p:pic>
        <p:nvPicPr>
          <p:cNvPr id="78" name="Google Shape;78;p16"/>
          <p:cNvPicPr preferRelativeResize="0"/>
          <p:nvPr/>
        </p:nvPicPr>
        <p:blipFill>
          <a:blip r:embed="rId3">
            <a:alphaModFix/>
          </a:blip>
          <a:stretch>
            <a:fillRect/>
          </a:stretch>
        </p:blipFill>
        <p:spPr>
          <a:xfrm>
            <a:off x="2399975" y="2797175"/>
            <a:ext cx="4706585" cy="2041525"/>
          </a:xfrm>
          <a:prstGeom prst="rect">
            <a:avLst/>
          </a:prstGeom>
          <a:noFill/>
          <a:ln>
            <a:noFill/>
          </a:ln>
        </p:spPr>
      </p:pic>
    </p:spTree>
    <p:extLst>
      <p:ext uri="{BB962C8B-B14F-4D97-AF65-F5344CB8AC3E}">
        <p14:creationId xmlns:p14="http://schemas.microsoft.com/office/powerpoint/2010/main" val="21431288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4F57B2F0-E46D-3C06-8CD5-FB4D7C76129A}"/>
              </a:ext>
            </a:extLst>
          </p:cNvPr>
          <p:cNvSpPr txBox="1"/>
          <p:nvPr/>
        </p:nvSpPr>
        <p:spPr>
          <a:xfrm>
            <a:off x="318052" y="1771531"/>
            <a:ext cx="4572000" cy="2031325"/>
          </a:xfrm>
          <a:prstGeom prst="rect">
            <a:avLst/>
          </a:prstGeom>
          <a:noFill/>
        </p:spPr>
        <p:txBody>
          <a:bodyPr wrap="square">
            <a:spAutoFit/>
          </a:bodyPr>
          <a:lstStyle/>
          <a:p>
            <a:pPr marL="285750" indent="-285750">
              <a:buFont typeface="Wingdings" panose="05000000000000000000" pitchFamily="2" charset="2"/>
              <a:buChar char="q"/>
            </a:pPr>
            <a:r>
              <a:rPr lang="es-CO" b="1" dirty="0"/>
              <a:t>Algoritmo </a:t>
            </a:r>
          </a:p>
          <a:p>
            <a:pPr marL="285750" indent="-285750">
              <a:buFont typeface="Wingdings" panose="05000000000000000000" pitchFamily="2" charset="2"/>
              <a:buChar char="q"/>
            </a:pPr>
            <a:endParaRPr lang="es-CO" b="1" dirty="0"/>
          </a:p>
          <a:p>
            <a:pPr marL="285750" indent="-285750">
              <a:buFont typeface="Wingdings" panose="05000000000000000000" pitchFamily="2" charset="2"/>
              <a:buChar char="q"/>
            </a:pPr>
            <a:r>
              <a:rPr lang="es-CO" b="1" dirty="0"/>
              <a:t>Sintaxis</a:t>
            </a:r>
          </a:p>
          <a:p>
            <a:pPr marL="285750" indent="-285750">
              <a:buFont typeface="Wingdings" panose="05000000000000000000" pitchFamily="2" charset="2"/>
              <a:buChar char="q"/>
            </a:pPr>
            <a:endParaRPr lang="es-CO" b="1" dirty="0"/>
          </a:p>
          <a:p>
            <a:pPr marL="285750" indent="-285750">
              <a:buFont typeface="Wingdings" panose="05000000000000000000" pitchFamily="2" charset="2"/>
              <a:buChar char="q"/>
            </a:pPr>
            <a:r>
              <a:rPr lang="es-CO" b="1" dirty="0"/>
              <a:t>Código </a:t>
            </a:r>
          </a:p>
          <a:p>
            <a:pPr marL="285750" indent="-285750">
              <a:buFont typeface="Wingdings" panose="05000000000000000000" pitchFamily="2" charset="2"/>
              <a:buChar char="q"/>
            </a:pPr>
            <a:endParaRPr lang="es-CO" b="1" dirty="0"/>
          </a:p>
          <a:p>
            <a:pPr marL="285750" indent="-285750">
              <a:buFont typeface="Wingdings" panose="05000000000000000000" pitchFamily="2" charset="2"/>
              <a:buChar char="q"/>
            </a:pPr>
            <a:r>
              <a:rPr lang="es-CO" b="1" dirty="0"/>
              <a:t>Script</a:t>
            </a:r>
          </a:p>
          <a:p>
            <a:pPr marL="285750" indent="-285750">
              <a:buFont typeface="Wingdings" panose="05000000000000000000" pitchFamily="2" charset="2"/>
              <a:buChar char="q"/>
            </a:pPr>
            <a:endParaRPr lang="es-CO" b="1" dirty="0"/>
          </a:p>
          <a:p>
            <a:pPr marL="285750" indent="-285750">
              <a:buFont typeface="Wingdings" panose="05000000000000000000" pitchFamily="2" charset="2"/>
              <a:buChar char="q"/>
            </a:pPr>
            <a:r>
              <a:rPr lang="es-CO" b="1" dirty="0"/>
              <a:t>Programa</a:t>
            </a:r>
          </a:p>
        </p:txBody>
      </p:sp>
      <p:sp>
        <p:nvSpPr>
          <p:cNvPr id="7" name="Google Shape;77;p16">
            <a:extLst>
              <a:ext uri="{FF2B5EF4-FFF2-40B4-BE49-F238E27FC236}">
                <a16:creationId xmlns:a16="http://schemas.microsoft.com/office/drawing/2014/main" id="{8A83F91B-C8E2-855B-1CF8-E07485EE6B32}"/>
              </a:ext>
            </a:extLst>
          </p:cNvPr>
          <p:cNvSpPr txBox="1">
            <a:spLocks/>
          </p:cNvSpPr>
          <p:nvPr/>
        </p:nvSpPr>
        <p:spPr>
          <a:xfrm>
            <a:off x="142743" y="108470"/>
            <a:ext cx="3574492" cy="716477"/>
          </a:xfrm>
          <a:prstGeom prst="rect">
            <a:avLst/>
          </a:prstGeom>
          <a:noFill/>
          <a:ln>
            <a:noFill/>
          </a:ln>
        </p:spPr>
        <p:txBody>
          <a:bodyPr spcFirstLastPara="1" wrap="square" lIns="91425" tIns="91425" rIns="91425" bIns="91425" anchor="b" anchorCtr="0">
            <a:normAutofit fontScale="47500" lnSpcReduction="20000"/>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r>
              <a:rPr lang="es-CO" sz="6600" b="1" dirty="0">
                <a:latin typeface="Impact"/>
                <a:ea typeface="Impact"/>
                <a:cs typeface="Impact"/>
                <a:sym typeface="Impact"/>
              </a:rPr>
              <a:t>Conceptos básicos</a:t>
            </a:r>
          </a:p>
        </p:txBody>
      </p:sp>
      <p:cxnSp>
        <p:nvCxnSpPr>
          <p:cNvPr id="9" name="Conector recto 8">
            <a:extLst>
              <a:ext uri="{FF2B5EF4-FFF2-40B4-BE49-F238E27FC236}">
                <a16:creationId xmlns:a16="http://schemas.microsoft.com/office/drawing/2014/main" id="{C4F7966F-9345-99B3-146D-81CC8694CCC7}"/>
              </a:ext>
            </a:extLst>
          </p:cNvPr>
          <p:cNvCxnSpPr/>
          <p:nvPr/>
        </p:nvCxnSpPr>
        <p:spPr>
          <a:xfrm>
            <a:off x="288235" y="824947"/>
            <a:ext cx="3260035" cy="0"/>
          </a:xfrm>
          <a:prstGeom prst="line">
            <a:avLst/>
          </a:prstGeom>
          <a:ln>
            <a:solidFill>
              <a:srgbClr val="B5823D"/>
            </a:solidFill>
          </a:ln>
        </p:spPr>
        <p:style>
          <a:lnRef idx="1">
            <a:schemeClr val="accent1"/>
          </a:lnRef>
          <a:fillRef idx="0">
            <a:schemeClr val="accent1"/>
          </a:fillRef>
          <a:effectRef idx="0">
            <a:schemeClr val="accent1"/>
          </a:effectRef>
          <a:fontRef idx="minor">
            <a:schemeClr val="tx1"/>
          </a:fontRef>
        </p:style>
      </p:cxnSp>
      <p:pic>
        <p:nvPicPr>
          <p:cNvPr id="11" name="Imagen 10">
            <a:extLst>
              <a:ext uri="{FF2B5EF4-FFF2-40B4-BE49-F238E27FC236}">
                <a16:creationId xmlns:a16="http://schemas.microsoft.com/office/drawing/2014/main" id="{5BDD22B7-9218-4716-AC3E-62EF3EF34271}"/>
              </a:ext>
            </a:extLst>
          </p:cNvPr>
          <p:cNvPicPr>
            <a:picLocks noChangeAspect="1"/>
          </p:cNvPicPr>
          <p:nvPr/>
        </p:nvPicPr>
        <p:blipFill>
          <a:blip r:embed="rId3"/>
          <a:stretch>
            <a:fillRect/>
          </a:stretch>
        </p:blipFill>
        <p:spPr>
          <a:xfrm>
            <a:off x="3087549" y="2292005"/>
            <a:ext cx="5553075" cy="1533525"/>
          </a:xfrm>
          <a:prstGeom prst="rect">
            <a:avLst/>
          </a:prstGeom>
        </p:spPr>
      </p:pic>
      <p:sp>
        <p:nvSpPr>
          <p:cNvPr id="2" name="CuadroTexto 1">
            <a:extLst>
              <a:ext uri="{FF2B5EF4-FFF2-40B4-BE49-F238E27FC236}">
                <a16:creationId xmlns:a16="http://schemas.microsoft.com/office/drawing/2014/main" id="{22E1E514-5B65-9242-DBF1-6074736D1C90}"/>
              </a:ext>
            </a:extLst>
          </p:cNvPr>
          <p:cNvSpPr txBox="1"/>
          <p:nvPr/>
        </p:nvSpPr>
        <p:spPr>
          <a:xfrm>
            <a:off x="2675744" y="1184223"/>
            <a:ext cx="5964880" cy="738664"/>
          </a:xfrm>
          <a:prstGeom prst="rect">
            <a:avLst/>
          </a:prstGeom>
          <a:noFill/>
        </p:spPr>
        <p:txBody>
          <a:bodyPr wrap="square" rtlCol="0">
            <a:spAutoFit/>
          </a:bodyPr>
          <a:lstStyle/>
          <a:p>
            <a:r>
              <a:rPr lang="es-US" b="1" dirty="0">
                <a:highlight>
                  <a:srgbClr val="FFFF00"/>
                </a:highlight>
              </a:rPr>
              <a:t>VAMOS A BUSCAR LA DEFINICIÓN DE ESTOS 5 CONCEPTOS. Y VAMOS A PENSAR COMO SE RELACIONAN O COMO SE DIFERENCIAN ESTOS CONCEPTOS….</a:t>
            </a:r>
          </a:p>
        </p:txBody>
      </p:sp>
    </p:spTree>
    <p:extLst>
      <p:ext uri="{BB962C8B-B14F-4D97-AF65-F5344CB8AC3E}">
        <p14:creationId xmlns:p14="http://schemas.microsoft.com/office/powerpoint/2010/main" val="40992038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dirty="0">
                <a:latin typeface="Impact"/>
                <a:ea typeface="Impact"/>
                <a:cs typeface="Impact"/>
                <a:sym typeface="Impact"/>
              </a:rPr>
              <a:t>Temáticas</a:t>
            </a:r>
            <a:endParaRPr dirty="0">
              <a:latin typeface="Impact"/>
              <a:ea typeface="Impact"/>
              <a:cs typeface="Impact"/>
              <a:sym typeface="Impact"/>
            </a:endParaRPr>
          </a:p>
        </p:txBody>
      </p:sp>
      <p:sp>
        <p:nvSpPr>
          <p:cNvPr id="68" name="Google Shape;68;p15"/>
          <p:cNvSpPr txBox="1">
            <a:spLocks noGrp="1"/>
          </p:cNvSpPr>
          <p:nvPr>
            <p:ph type="body" idx="1"/>
          </p:nvPr>
        </p:nvSpPr>
        <p:spPr>
          <a:xfrm>
            <a:off x="177223" y="940954"/>
            <a:ext cx="3420000" cy="472696"/>
          </a:xfrm>
          <a:prstGeom prst="rect">
            <a:avLst/>
          </a:prstGeom>
          <a:solidFill>
            <a:schemeClr val="lt1"/>
          </a:solidFill>
          <a:ln w="9525" cap="flat" cmpd="sng">
            <a:noFill/>
            <a:prstDash val="solid"/>
            <a:round/>
            <a:headEnd type="none" w="sm" len="sm"/>
            <a:tailEnd type="none" w="sm" len="sm"/>
          </a:ln>
        </p:spPr>
        <p:txBody>
          <a:bodyPr spcFirstLastPara="1" wrap="square" lIns="91425" tIns="91425" rIns="91425" bIns="91425" anchor="t" anchorCtr="0">
            <a:normAutofit/>
          </a:bodyPr>
          <a:lstStyle/>
          <a:p>
            <a:pPr marL="0" lvl="0" indent="0" algn="ctr" rtl="0">
              <a:lnSpc>
                <a:spcPct val="100000"/>
              </a:lnSpc>
              <a:spcBef>
                <a:spcPts val="0"/>
              </a:spcBef>
              <a:spcAft>
                <a:spcPts val="0"/>
              </a:spcAft>
              <a:buNone/>
            </a:pPr>
            <a:r>
              <a:rPr lang="es" b="1" u="sng" dirty="0">
                <a:solidFill>
                  <a:schemeClr val="dk1"/>
                </a:solidFill>
              </a:rPr>
              <a:t>Conceptos de Python</a:t>
            </a:r>
            <a:endParaRPr u="sng" dirty="0">
              <a:solidFill>
                <a:schemeClr val="dk1"/>
              </a:solidFill>
            </a:endParaRPr>
          </a:p>
        </p:txBody>
      </p:sp>
      <p:sp>
        <p:nvSpPr>
          <p:cNvPr id="71" name="Google Shape;71;p15"/>
          <p:cNvSpPr txBox="1">
            <a:spLocks noGrp="1"/>
          </p:cNvSpPr>
          <p:nvPr>
            <p:ph type="body" idx="1"/>
          </p:nvPr>
        </p:nvSpPr>
        <p:spPr>
          <a:xfrm>
            <a:off x="306833" y="2624083"/>
            <a:ext cx="3160779" cy="472696"/>
          </a:xfrm>
          <a:prstGeom prst="rect">
            <a:avLst/>
          </a:prstGeom>
          <a:solidFill>
            <a:schemeClr val="lt1"/>
          </a:solidFill>
          <a:ln w="9525" cap="flat" cmpd="sng">
            <a:noFill/>
            <a:prstDash val="solid"/>
            <a:round/>
            <a:headEnd type="none" w="sm" len="sm"/>
            <a:tailEnd type="none" w="sm" len="sm"/>
          </a:ln>
        </p:spPr>
        <p:txBody>
          <a:bodyPr spcFirstLastPara="1" wrap="square" lIns="91425" tIns="91425" rIns="91425" bIns="91425" anchor="t" anchorCtr="0">
            <a:normAutofit/>
          </a:bodyPr>
          <a:lstStyle/>
          <a:p>
            <a:pPr marL="0" lvl="0" indent="0" algn="ctr" rtl="0">
              <a:lnSpc>
                <a:spcPct val="100000"/>
              </a:lnSpc>
              <a:spcBef>
                <a:spcPts val="0"/>
              </a:spcBef>
              <a:spcAft>
                <a:spcPts val="0"/>
              </a:spcAft>
              <a:buNone/>
            </a:pPr>
            <a:r>
              <a:rPr lang="es" b="1" u="sng" dirty="0">
                <a:solidFill>
                  <a:schemeClr val="dk1"/>
                </a:solidFill>
              </a:rPr>
              <a:t>Funciones predefinidas</a:t>
            </a:r>
            <a:endParaRPr b="1" u="sng" dirty="0">
              <a:solidFill>
                <a:schemeClr val="dk1"/>
              </a:solidFill>
            </a:endParaRPr>
          </a:p>
        </p:txBody>
      </p:sp>
      <p:sp>
        <p:nvSpPr>
          <p:cNvPr id="11" name="CuadroTexto 10">
            <a:extLst>
              <a:ext uri="{FF2B5EF4-FFF2-40B4-BE49-F238E27FC236}">
                <a16:creationId xmlns:a16="http://schemas.microsoft.com/office/drawing/2014/main" id="{1F64E9B2-C2E6-D93D-BFD7-568E20A23489}"/>
              </a:ext>
            </a:extLst>
          </p:cNvPr>
          <p:cNvSpPr txBox="1"/>
          <p:nvPr/>
        </p:nvSpPr>
        <p:spPr>
          <a:xfrm>
            <a:off x="265841" y="3019052"/>
            <a:ext cx="1154854" cy="2123658"/>
          </a:xfrm>
          <a:prstGeom prst="rect">
            <a:avLst/>
          </a:prstGeom>
          <a:noFill/>
        </p:spPr>
        <p:txBody>
          <a:bodyPr wrap="square">
            <a:spAutoFit/>
          </a:bodyPr>
          <a:lstStyle/>
          <a:p>
            <a:r>
              <a:rPr lang="en-US" sz="1100" dirty="0"/>
              <a:t>print</a:t>
            </a:r>
          </a:p>
          <a:p>
            <a:r>
              <a:rPr lang="en-US" sz="1100" dirty="0" err="1"/>
              <a:t>len</a:t>
            </a:r>
            <a:endParaRPr lang="en-US" sz="1100" dirty="0"/>
          </a:p>
          <a:p>
            <a:r>
              <a:rPr lang="en-US" sz="1100" dirty="0"/>
              <a:t>input</a:t>
            </a:r>
          </a:p>
          <a:p>
            <a:r>
              <a:rPr lang="en-US" sz="1100" dirty="0"/>
              <a:t>type</a:t>
            </a:r>
          </a:p>
          <a:p>
            <a:r>
              <a:rPr lang="en-US" sz="1100" dirty="0"/>
              <a:t>int</a:t>
            </a:r>
          </a:p>
          <a:p>
            <a:r>
              <a:rPr lang="en-US" sz="1100" dirty="0"/>
              <a:t>str</a:t>
            </a:r>
          </a:p>
          <a:p>
            <a:r>
              <a:rPr lang="en-US" sz="1100" dirty="0"/>
              <a:t>input</a:t>
            </a:r>
          </a:p>
          <a:p>
            <a:r>
              <a:rPr lang="en-US" sz="1100" dirty="0"/>
              <a:t>range</a:t>
            </a:r>
          </a:p>
          <a:p>
            <a:r>
              <a:rPr lang="en-US" sz="1100" dirty="0"/>
              <a:t>append</a:t>
            </a:r>
          </a:p>
          <a:p>
            <a:r>
              <a:rPr lang="en-US" sz="1100" dirty="0"/>
              <a:t>sum, max, min</a:t>
            </a:r>
          </a:p>
          <a:p>
            <a:r>
              <a:rPr lang="en-US" sz="1100" dirty="0"/>
              <a:t>sorted</a:t>
            </a:r>
          </a:p>
          <a:p>
            <a:r>
              <a:rPr lang="en-US" sz="1100" dirty="0"/>
              <a:t>round</a:t>
            </a:r>
          </a:p>
        </p:txBody>
      </p:sp>
      <p:sp>
        <p:nvSpPr>
          <p:cNvPr id="13" name="CuadroTexto 12">
            <a:extLst>
              <a:ext uri="{FF2B5EF4-FFF2-40B4-BE49-F238E27FC236}">
                <a16:creationId xmlns:a16="http://schemas.microsoft.com/office/drawing/2014/main" id="{9B23886E-576F-A9DB-A5E1-33B1AFD2330E}"/>
              </a:ext>
            </a:extLst>
          </p:cNvPr>
          <p:cNvSpPr txBox="1"/>
          <p:nvPr/>
        </p:nvSpPr>
        <p:spPr>
          <a:xfrm>
            <a:off x="125392" y="1471758"/>
            <a:ext cx="3683128" cy="954107"/>
          </a:xfrm>
          <a:prstGeom prst="rect">
            <a:avLst/>
          </a:prstGeom>
          <a:noFill/>
        </p:spPr>
        <p:txBody>
          <a:bodyPr wrap="square">
            <a:spAutoFit/>
          </a:bodyPr>
          <a:lstStyle/>
          <a:p>
            <a:pPr marL="122873">
              <a:lnSpc>
                <a:spcPct val="100000"/>
              </a:lnSpc>
              <a:buClr>
                <a:schemeClr val="dk1"/>
              </a:buClr>
              <a:buSzPct val="100000"/>
            </a:pPr>
            <a:r>
              <a:rPr lang="es-CO" dirty="0">
                <a:solidFill>
                  <a:schemeClr val="dk1"/>
                </a:solidFill>
              </a:rPr>
              <a:t>Comentarios</a:t>
            </a:r>
          </a:p>
          <a:p>
            <a:pPr marL="122873">
              <a:lnSpc>
                <a:spcPct val="100000"/>
              </a:lnSpc>
              <a:buClr>
                <a:schemeClr val="dk1"/>
              </a:buClr>
              <a:buSzPct val="100000"/>
            </a:pPr>
            <a:r>
              <a:rPr lang="es-CO" dirty="0">
                <a:solidFill>
                  <a:schemeClr val="dk1"/>
                </a:solidFill>
              </a:rPr>
              <a:t>Variables simples y compuestas</a:t>
            </a:r>
          </a:p>
          <a:p>
            <a:pPr marL="122873">
              <a:lnSpc>
                <a:spcPct val="100000"/>
              </a:lnSpc>
              <a:buClr>
                <a:schemeClr val="dk1"/>
              </a:buClr>
              <a:buSzPct val="100000"/>
            </a:pPr>
            <a:r>
              <a:rPr lang="es-CO" dirty="0">
                <a:solidFill>
                  <a:schemeClr val="dk1"/>
                </a:solidFill>
              </a:rPr>
              <a:t>Operadores</a:t>
            </a:r>
          </a:p>
          <a:p>
            <a:pPr marL="122873">
              <a:lnSpc>
                <a:spcPct val="100000"/>
              </a:lnSpc>
              <a:buClr>
                <a:schemeClr val="dk1"/>
              </a:buClr>
              <a:buSzPct val="100000"/>
            </a:pPr>
            <a:r>
              <a:rPr lang="es-CO" dirty="0">
                <a:solidFill>
                  <a:schemeClr val="dk1"/>
                </a:solidFill>
              </a:rPr>
              <a:t>Expresiones</a:t>
            </a:r>
          </a:p>
        </p:txBody>
      </p:sp>
      <p:sp>
        <p:nvSpPr>
          <p:cNvPr id="14" name="CuadroTexto 13">
            <a:extLst>
              <a:ext uri="{FF2B5EF4-FFF2-40B4-BE49-F238E27FC236}">
                <a16:creationId xmlns:a16="http://schemas.microsoft.com/office/drawing/2014/main" id="{212C17C1-71D3-AD17-57F4-C4385C71D7A0}"/>
              </a:ext>
            </a:extLst>
          </p:cNvPr>
          <p:cNvSpPr txBox="1"/>
          <p:nvPr/>
        </p:nvSpPr>
        <p:spPr>
          <a:xfrm>
            <a:off x="7389496" y="1177302"/>
            <a:ext cx="1027226" cy="523220"/>
          </a:xfrm>
          <a:prstGeom prst="rect">
            <a:avLst/>
          </a:prstGeom>
          <a:noFill/>
        </p:spPr>
        <p:txBody>
          <a:bodyPr wrap="square">
            <a:spAutoFit/>
          </a:bodyPr>
          <a:lstStyle/>
          <a:p>
            <a:pPr marL="122873">
              <a:lnSpc>
                <a:spcPct val="100000"/>
              </a:lnSpc>
              <a:buClr>
                <a:schemeClr val="dk1"/>
              </a:buClr>
              <a:buSzPct val="100000"/>
            </a:pPr>
            <a:r>
              <a:rPr lang="es-CO" dirty="0" err="1">
                <a:solidFill>
                  <a:schemeClr val="dk1"/>
                </a:solidFill>
              </a:rPr>
              <a:t>while</a:t>
            </a:r>
            <a:endParaRPr lang="es-CO" dirty="0">
              <a:solidFill>
                <a:schemeClr val="dk1"/>
              </a:solidFill>
            </a:endParaRPr>
          </a:p>
          <a:p>
            <a:pPr marL="122873">
              <a:lnSpc>
                <a:spcPct val="100000"/>
              </a:lnSpc>
              <a:buClr>
                <a:schemeClr val="dk1"/>
              </a:buClr>
              <a:buSzPct val="100000"/>
            </a:pPr>
            <a:r>
              <a:rPr lang="es-CO" dirty="0" err="1">
                <a:solidFill>
                  <a:schemeClr val="dk1"/>
                </a:solidFill>
              </a:rPr>
              <a:t>for</a:t>
            </a:r>
            <a:endParaRPr lang="es-CO" dirty="0">
              <a:solidFill>
                <a:schemeClr val="dk1"/>
              </a:solidFill>
            </a:endParaRPr>
          </a:p>
        </p:txBody>
      </p:sp>
      <p:sp>
        <p:nvSpPr>
          <p:cNvPr id="15" name="Google Shape;68;p15">
            <a:extLst>
              <a:ext uri="{FF2B5EF4-FFF2-40B4-BE49-F238E27FC236}">
                <a16:creationId xmlns:a16="http://schemas.microsoft.com/office/drawing/2014/main" id="{6B1C76FA-B03E-A4B8-CF8A-69E16D9D922E}"/>
              </a:ext>
            </a:extLst>
          </p:cNvPr>
          <p:cNvSpPr txBox="1">
            <a:spLocks/>
          </p:cNvSpPr>
          <p:nvPr/>
        </p:nvSpPr>
        <p:spPr>
          <a:xfrm>
            <a:off x="4962247" y="236175"/>
            <a:ext cx="3420000" cy="472696"/>
          </a:xfrm>
          <a:prstGeom prst="rect">
            <a:avLst/>
          </a:prstGeom>
          <a:solidFill>
            <a:schemeClr val="lt1"/>
          </a:solidFill>
          <a:ln w="9525" cap="flat" cmpd="sng">
            <a:noFill/>
            <a:prstDash val="solid"/>
            <a:round/>
            <a:headEnd type="none" w="sm" len="sm"/>
            <a:tailEnd type="none" w="sm" len="sm"/>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ctr">
              <a:lnSpc>
                <a:spcPct val="100000"/>
              </a:lnSpc>
              <a:buFont typeface="Arial"/>
              <a:buNone/>
            </a:pPr>
            <a:r>
              <a:rPr lang="es-CO" b="1" u="sng" dirty="0">
                <a:solidFill>
                  <a:schemeClr val="dk1"/>
                </a:solidFill>
              </a:rPr>
              <a:t>Control de flujo</a:t>
            </a:r>
            <a:endParaRPr lang="es-CO" u="sng" dirty="0">
              <a:solidFill>
                <a:schemeClr val="dk1"/>
              </a:solidFill>
            </a:endParaRPr>
          </a:p>
        </p:txBody>
      </p:sp>
      <p:sp>
        <p:nvSpPr>
          <p:cNvPr id="17" name="CuadroTexto 16">
            <a:extLst>
              <a:ext uri="{FF2B5EF4-FFF2-40B4-BE49-F238E27FC236}">
                <a16:creationId xmlns:a16="http://schemas.microsoft.com/office/drawing/2014/main" id="{6681A890-872B-BC77-5822-A8EAA0E28A1E}"/>
              </a:ext>
            </a:extLst>
          </p:cNvPr>
          <p:cNvSpPr txBox="1"/>
          <p:nvPr/>
        </p:nvSpPr>
        <p:spPr>
          <a:xfrm>
            <a:off x="5048811" y="1077328"/>
            <a:ext cx="1623436" cy="954107"/>
          </a:xfrm>
          <a:prstGeom prst="rect">
            <a:avLst/>
          </a:prstGeom>
          <a:noFill/>
        </p:spPr>
        <p:txBody>
          <a:bodyPr wrap="square">
            <a:spAutoFit/>
          </a:bodyPr>
          <a:lstStyle/>
          <a:p>
            <a:pPr marL="114300" lvl="0" algn="l" rtl="0">
              <a:lnSpc>
                <a:spcPct val="100000"/>
              </a:lnSpc>
              <a:spcBef>
                <a:spcPts val="0"/>
              </a:spcBef>
              <a:spcAft>
                <a:spcPts val="0"/>
              </a:spcAft>
              <a:buClr>
                <a:schemeClr val="dk1"/>
              </a:buClr>
              <a:buSzPts val="1800"/>
            </a:pPr>
            <a:r>
              <a:rPr lang="en-US" dirty="0">
                <a:solidFill>
                  <a:schemeClr val="dk1"/>
                </a:solidFill>
              </a:rPr>
              <a:t>If   </a:t>
            </a:r>
          </a:p>
          <a:p>
            <a:pPr marL="114300" lvl="0" algn="l" rtl="0">
              <a:lnSpc>
                <a:spcPct val="100000"/>
              </a:lnSpc>
              <a:spcBef>
                <a:spcPts val="0"/>
              </a:spcBef>
              <a:spcAft>
                <a:spcPts val="0"/>
              </a:spcAft>
              <a:buClr>
                <a:schemeClr val="dk1"/>
              </a:buClr>
              <a:buSzPts val="1800"/>
            </a:pPr>
            <a:r>
              <a:rPr lang="en-US" dirty="0">
                <a:solidFill>
                  <a:schemeClr val="dk1"/>
                </a:solidFill>
              </a:rPr>
              <a:t>else</a:t>
            </a:r>
          </a:p>
          <a:p>
            <a:pPr marL="114300" lvl="0" algn="l" rtl="0">
              <a:lnSpc>
                <a:spcPct val="100000"/>
              </a:lnSpc>
              <a:spcBef>
                <a:spcPts val="0"/>
              </a:spcBef>
              <a:spcAft>
                <a:spcPts val="0"/>
              </a:spcAft>
              <a:buClr>
                <a:schemeClr val="dk1"/>
              </a:buClr>
              <a:buSzPts val="1800"/>
            </a:pPr>
            <a:r>
              <a:rPr lang="en-US" dirty="0" err="1">
                <a:solidFill>
                  <a:schemeClr val="dk1"/>
                </a:solidFill>
              </a:rPr>
              <a:t>elif</a:t>
            </a:r>
            <a:endParaRPr lang="en-US" dirty="0">
              <a:solidFill>
                <a:schemeClr val="dk1"/>
              </a:solidFill>
            </a:endParaRPr>
          </a:p>
          <a:p>
            <a:pPr marL="114300" lvl="0" algn="l" rtl="0">
              <a:lnSpc>
                <a:spcPct val="100000"/>
              </a:lnSpc>
              <a:spcBef>
                <a:spcPts val="0"/>
              </a:spcBef>
              <a:spcAft>
                <a:spcPts val="0"/>
              </a:spcAft>
              <a:buClr>
                <a:schemeClr val="dk1"/>
              </a:buClr>
              <a:buSzPts val="1800"/>
            </a:pPr>
            <a:r>
              <a:rPr lang="en-US" dirty="0">
                <a:solidFill>
                  <a:schemeClr val="dk1"/>
                </a:solidFill>
              </a:rPr>
              <a:t>try and except</a:t>
            </a:r>
          </a:p>
        </p:txBody>
      </p:sp>
      <p:sp>
        <p:nvSpPr>
          <p:cNvPr id="20" name="Google Shape;71;p15">
            <a:extLst>
              <a:ext uri="{FF2B5EF4-FFF2-40B4-BE49-F238E27FC236}">
                <a16:creationId xmlns:a16="http://schemas.microsoft.com/office/drawing/2014/main" id="{411EE98D-C77D-8CB3-5FFF-15E1A2E94A44}"/>
              </a:ext>
            </a:extLst>
          </p:cNvPr>
          <p:cNvSpPr txBox="1">
            <a:spLocks/>
          </p:cNvSpPr>
          <p:nvPr/>
        </p:nvSpPr>
        <p:spPr>
          <a:xfrm>
            <a:off x="3910042" y="704606"/>
            <a:ext cx="3160779" cy="472696"/>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ctr">
              <a:lnSpc>
                <a:spcPct val="100000"/>
              </a:lnSpc>
              <a:buFont typeface="Arial"/>
              <a:buNone/>
            </a:pPr>
            <a:r>
              <a:rPr lang="es-CO" sz="1400" b="1" dirty="0">
                <a:solidFill>
                  <a:schemeClr val="dk1"/>
                </a:solidFill>
              </a:rPr>
              <a:t>Condicionales</a:t>
            </a:r>
          </a:p>
        </p:txBody>
      </p:sp>
      <p:sp>
        <p:nvSpPr>
          <p:cNvPr id="21" name="Google Shape;71;p15">
            <a:extLst>
              <a:ext uri="{FF2B5EF4-FFF2-40B4-BE49-F238E27FC236}">
                <a16:creationId xmlns:a16="http://schemas.microsoft.com/office/drawing/2014/main" id="{944838D8-B947-1088-498E-DEAA31CB857B}"/>
              </a:ext>
            </a:extLst>
          </p:cNvPr>
          <p:cNvSpPr txBox="1">
            <a:spLocks/>
          </p:cNvSpPr>
          <p:nvPr/>
        </p:nvSpPr>
        <p:spPr>
          <a:xfrm>
            <a:off x="6201610" y="704606"/>
            <a:ext cx="3160779" cy="472696"/>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ctr">
              <a:lnSpc>
                <a:spcPct val="100000"/>
              </a:lnSpc>
              <a:buFont typeface="Arial"/>
              <a:buNone/>
            </a:pPr>
            <a:r>
              <a:rPr lang="es-CO" sz="1400" b="1" dirty="0">
                <a:solidFill>
                  <a:schemeClr val="dk1"/>
                </a:solidFill>
              </a:rPr>
              <a:t>Bucles o ciclos</a:t>
            </a:r>
          </a:p>
        </p:txBody>
      </p:sp>
      <p:sp>
        <p:nvSpPr>
          <p:cNvPr id="22" name="Google Shape;71;p15">
            <a:extLst>
              <a:ext uri="{FF2B5EF4-FFF2-40B4-BE49-F238E27FC236}">
                <a16:creationId xmlns:a16="http://schemas.microsoft.com/office/drawing/2014/main" id="{9B851579-B7EC-40A5-BCB7-E629241B0734}"/>
              </a:ext>
            </a:extLst>
          </p:cNvPr>
          <p:cNvSpPr txBox="1">
            <a:spLocks/>
          </p:cNvSpPr>
          <p:nvPr/>
        </p:nvSpPr>
        <p:spPr>
          <a:xfrm>
            <a:off x="5255943" y="2579325"/>
            <a:ext cx="3160779" cy="472696"/>
          </a:xfrm>
          <a:prstGeom prst="rect">
            <a:avLst/>
          </a:prstGeom>
          <a:solidFill>
            <a:schemeClr val="lt1"/>
          </a:solidFill>
          <a:ln w="9525" cap="flat" cmpd="sng">
            <a:noFill/>
            <a:prstDash val="solid"/>
            <a:round/>
            <a:headEnd type="none" w="sm" len="sm"/>
            <a:tailEnd type="none" w="sm" len="sm"/>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ctr">
              <a:lnSpc>
                <a:spcPct val="100000"/>
              </a:lnSpc>
              <a:buFont typeface="Arial"/>
              <a:buNone/>
            </a:pPr>
            <a:r>
              <a:rPr lang="es-CO" b="1" u="sng" dirty="0">
                <a:solidFill>
                  <a:schemeClr val="dk1"/>
                </a:solidFill>
              </a:rPr>
              <a:t>Funciones</a:t>
            </a:r>
          </a:p>
        </p:txBody>
      </p:sp>
      <p:sp>
        <p:nvSpPr>
          <p:cNvPr id="24" name="CuadroTexto 23">
            <a:extLst>
              <a:ext uri="{FF2B5EF4-FFF2-40B4-BE49-F238E27FC236}">
                <a16:creationId xmlns:a16="http://schemas.microsoft.com/office/drawing/2014/main" id="{1EBCC4D8-B56C-C642-BDBF-77977F030FAA}"/>
              </a:ext>
            </a:extLst>
          </p:cNvPr>
          <p:cNvSpPr txBox="1"/>
          <p:nvPr/>
        </p:nvSpPr>
        <p:spPr>
          <a:xfrm>
            <a:off x="5269016" y="3019052"/>
            <a:ext cx="2369975" cy="523220"/>
          </a:xfrm>
          <a:prstGeom prst="rect">
            <a:avLst/>
          </a:prstGeom>
          <a:noFill/>
        </p:spPr>
        <p:txBody>
          <a:bodyPr wrap="square">
            <a:spAutoFit/>
          </a:bodyPr>
          <a:lstStyle/>
          <a:p>
            <a:pPr marL="114300" lvl="0" algn="l" rtl="0">
              <a:lnSpc>
                <a:spcPct val="100000"/>
              </a:lnSpc>
              <a:spcBef>
                <a:spcPts val="0"/>
              </a:spcBef>
              <a:spcAft>
                <a:spcPts val="0"/>
              </a:spcAft>
              <a:buClr>
                <a:schemeClr val="dk1"/>
              </a:buClr>
              <a:buSzPts val="1800"/>
            </a:pPr>
            <a:r>
              <a:rPr lang="es-CO" sz="1400" dirty="0" err="1">
                <a:solidFill>
                  <a:schemeClr val="dk1"/>
                </a:solidFill>
              </a:rPr>
              <a:t>def</a:t>
            </a:r>
            <a:endParaRPr lang="es-CO" sz="1400" dirty="0">
              <a:solidFill>
                <a:schemeClr val="dk1"/>
              </a:solidFill>
            </a:endParaRPr>
          </a:p>
          <a:p>
            <a:pPr marL="114300" lvl="0" algn="l" rtl="0">
              <a:lnSpc>
                <a:spcPct val="100000"/>
              </a:lnSpc>
              <a:spcBef>
                <a:spcPts val="0"/>
              </a:spcBef>
              <a:spcAft>
                <a:spcPts val="0"/>
              </a:spcAft>
              <a:buClr>
                <a:schemeClr val="dk1"/>
              </a:buClr>
              <a:buSzPts val="1800"/>
            </a:pPr>
            <a:r>
              <a:rPr lang="es-CO" sz="1400" dirty="0" err="1">
                <a:solidFill>
                  <a:schemeClr val="dk1"/>
                </a:solidFill>
              </a:rPr>
              <a:t>return</a:t>
            </a:r>
            <a:endParaRPr lang="es-CO" sz="1400" dirty="0">
              <a:solidFill>
                <a:schemeClr val="dk1"/>
              </a:solidFill>
            </a:endParaRPr>
          </a:p>
        </p:txBody>
      </p:sp>
      <p:sp>
        <p:nvSpPr>
          <p:cNvPr id="25" name="Google Shape;71;p15">
            <a:extLst>
              <a:ext uri="{FF2B5EF4-FFF2-40B4-BE49-F238E27FC236}">
                <a16:creationId xmlns:a16="http://schemas.microsoft.com/office/drawing/2014/main" id="{505C4488-11E6-8260-14B2-C41C33314971}"/>
              </a:ext>
            </a:extLst>
          </p:cNvPr>
          <p:cNvSpPr txBox="1">
            <a:spLocks/>
          </p:cNvSpPr>
          <p:nvPr/>
        </p:nvSpPr>
        <p:spPr>
          <a:xfrm>
            <a:off x="5346199" y="3729850"/>
            <a:ext cx="3160779" cy="472696"/>
          </a:xfrm>
          <a:prstGeom prst="rect">
            <a:avLst/>
          </a:prstGeom>
          <a:solidFill>
            <a:schemeClr val="lt1"/>
          </a:solidFill>
          <a:ln w="9525" cap="flat" cmpd="sng">
            <a:noFill/>
            <a:prstDash val="solid"/>
            <a:round/>
            <a:headEnd type="none" w="sm" len="sm"/>
            <a:tailEnd type="none" w="sm" len="sm"/>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gn="ctr">
              <a:lnSpc>
                <a:spcPct val="100000"/>
              </a:lnSpc>
              <a:buFont typeface="Arial"/>
              <a:buNone/>
            </a:pPr>
            <a:r>
              <a:rPr lang="es-CO" b="1" u="sng" dirty="0">
                <a:solidFill>
                  <a:schemeClr val="dk1"/>
                </a:solidFill>
              </a:rPr>
              <a:t>Librería o paquete</a:t>
            </a:r>
          </a:p>
        </p:txBody>
      </p:sp>
      <p:sp>
        <p:nvSpPr>
          <p:cNvPr id="26" name="CuadroTexto 25">
            <a:extLst>
              <a:ext uri="{FF2B5EF4-FFF2-40B4-BE49-F238E27FC236}">
                <a16:creationId xmlns:a16="http://schemas.microsoft.com/office/drawing/2014/main" id="{BD7BA6D5-BC9F-70B1-A397-C1FECFEE0F47}"/>
              </a:ext>
            </a:extLst>
          </p:cNvPr>
          <p:cNvSpPr txBox="1"/>
          <p:nvPr/>
        </p:nvSpPr>
        <p:spPr>
          <a:xfrm>
            <a:off x="5048811" y="4198266"/>
            <a:ext cx="2369975" cy="830997"/>
          </a:xfrm>
          <a:prstGeom prst="rect">
            <a:avLst/>
          </a:prstGeom>
          <a:noFill/>
        </p:spPr>
        <p:txBody>
          <a:bodyPr wrap="square">
            <a:spAutoFit/>
          </a:bodyPr>
          <a:lstStyle/>
          <a:p>
            <a:pPr marL="114300" lvl="0" algn="l" rtl="0">
              <a:lnSpc>
                <a:spcPct val="100000"/>
              </a:lnSpc>
              <a:spcBef>
                <a:spcPts val="0"/>
              </a:spcBef>
              <a:spcAft>
                <a:spcPts val="0"/>
              </a:spcAft>
              <a:buClr>
                <a:schemeClr val="dk1"/>
              </a:buClr>
              <a:buSzPts val="1800"/>
            </a:pPr>
            <a:r>
              <a:rPr lang="es-CO" sz="1200" dirty="0">
                <a:solidFill>
                  <a:schemeClr val="dk1"/>
                </a:solidFill>
              </a:rPr>
              <a:t>Pandas</a:t>
            </a:r>
          </a:p>
          <a:p>
            <a:pPr marL="114300" lvl="0" algn="l" rtl="0">
              <a:lnSpc>
                <a:spcPct val="100000"/>
              </a:lnSpc>
              <a:spcBef>
                <a:spcPts val="0"/>
              </a:spcBef>
              <a:spcAft>
                <a:spcPts val="0"/>
              </a:spcAft>
              <a:buClr>
                <a:schemeClr val="dk1"/>
              </a:buClr>
              <a:buSzPts val="1800"/>
            </a:pPr>
            <a:r>
              <a:rPr lang="es-CO" sz="1200" dirty="0" err="1">
                <a:solidFill>
                  <a:schemeClr val="dk1"/>
                </a:solidFill>
              </a:rPr>
              <a:t>Numpy</a:t>
            </a:r>
            <a:endParaRPr lang="es-CO" sz="1200" dirty="0">
              <a:solidFill>
                <a:schemeClr val="dk1"/>
              </a:solidFill>
            </a:endParaRPr>
          </a:p>
          <a:p>
            <a:pPr marL="114300" lvl="0" algn="l" rtl="0">
              <a:lnSpc>
                <a:spcPct val="100000"/>
              </a:lnSpc>
              <a:spcBef>
                <a:spcPts val="0"/>
              </a:spcBef>
              <a:spcAft>
                <a:spcPts val="0"/>
              </a:spcAft>
              <a:buClr>
                <a:schemeClr val="dk1"/>
              </a:buClr>
              <a:buSzPts val="1800"/>
            </a:pPr>
            <a:r>
              <a:rPr lang="es-CO" sz="1200" dirty="0" err="1">
                <a:solidFill>
                  <a:schemeClr val="dk1"/>
                </a:solidFill>
              </a:rPr>
              <a:t>Matplotlib</a:t>
            </a:r>
            <a:endParaRPr lang="es-CO" sz="1200" dirty="0">
              <a:solidFill>
                <a:schemeClr val="dk1"/>
              </a:solidFill>
            </a:endParaRPr>
          </a:p>
          <a:p>
            <a:pPr marL="114300" lvl="0" algn="l" rtl="0">
              <a:lnSpc>
                <a:spcPct val="100000"/>
              </a:lnSpc>
              <a:spcBef>
                <a:spcPts val="0"/>
              </a:spcBef>
              <a:spcAft>
                <a:spcPts val="0"/>
              </a:spcAft>
              <a:buClr>
                <a:schemeClr val="dk1"/>
              </a:buClr>
              <a:buSzPts val="1800"/>
            </a:pPr>
            <a:r>
              <a:rPr lang="es-CO" sz="1200" dirty="0" err="1">
                <a:solidFill>
                  <a:schemeClr val="dk1"/>
                </a:solidFill>
              </a:rPr>
              <a:t>Seaborn</a:t>
            </a:r>
            <a:endParaRPr lang="es-CO" sz="1200" dirty="0">
              <a:solidFill>
                <a:schemeClr val="dk1"/>
              </a:solidFill>
            </a:endParaRPr>
          </a:p>
        </p:txBody>
      </p:sp>
      <p:sp>
        <p:nvSpPr>
          <p:cNvPr id="27" name="CuadroTexto 26">
            <a:extLst>
              <a:ext uri="{FF2B5EF4-FFF2-40B4-BE49-F238E27FC236}">
                <a16:creationId xmlns:a16="http://schemas.microsoft.com/office/drawing/2014/main" id="{25A229B6-813B-8FD0-7245-10ADF6BFB4E3}"/>
              </a:ext>
            </a:extLst>
          </p:cNvPr>
          <p:cNvSpPr txBox="1"/>
          <p:nvPr/>
        </p:nvSpPr>
        <p:spPr>
          <a:xfrm>
            <a:off x="6926588" y="4215533"/>
            <a:ext cx="2369975" cy="830997"/>
          </a:xfrm>
          <a:prstGeom prst="rect">
            <a:avLst/>
          </a:prstGeom>
          <a:noFill/>
        </p:spPr>
        <p:txBody>
          <a:bodyPr wrap="square">
            <a:spAutoFit/>
          </a:bodyPr>
          <a:lstStyle/>
          <a:p>
            <a:pPr marL="114300" lvl="0" algn="l" rtl="0">
              <a:lnSpc>
                <a:spcPct val="100000"/>
              </a:lnSpc>
              <a:spcBef>
                <a:spcPts val="0"/>
              </a:spcBef>
              <a:spcAft>
                <a:spcPts val="0"/>
              </a:spcAft>
              <a:buClr>
                <a:schemeClr val="dk1"/>
              </a:buClr>
              <a:buSzPts val="1800"/>
            </a:pPr>
            <a:r>
              <a:rPr lang="es-CO" sz="1200" dirty="0" err="1">
                <a:solidFill>
                  <a:schemeClr val="dk1"/>
                </a:solidFill>
              </a:rPr>
              <a:t>Scipy</a:t>
            </a:r>
            <a:endParaRPr lang="es-CO" sz="1200" dirty="0">
              <a:solidFill>
                <a:schemeClr val="dk1"/>
              </a:solidFill>
            </a:endParaRPr>
          </a:p>
          <a:p>
            <a:pPr marL="114300" lvl="0" algn="l" rtl="0">
              <a:lnSpc>
                <a:spcPct val="100000"/>
              </a:lnSpc>
              <a:spcBef>
                <a:spcPts val="0"/>
              </a:spcBef>
              <a:spcAft>
                <a:spcPts val="0"/>
              </a:spcAft>
              <a:buClr>
                <a:schemeClr val="dk1"/>
              </a:buClr>
              <a:buSzPts val="1800"/>
            </a:pPr>
            <a:r>
              <a:rPr lang="es-CO" sz="1200" dirty="0" err="1">
                <a:solidFill>
                  <a:schemeClr val="dk1"/>
                </a:solidFill>
              </a:rPr>
              <a:t>Scikit-learn</a:t>
            </a:r>
            <a:endParaRPr lang="es-CO" sz="1200" dirty="0">
              <a:solidFill>
                <a:schemeClr val="dk1"/>
              </a:solidFill>
            </a:endParaRPr>
          </a:p>
          <a:p>
            <a:pPr marL="114300" lvl="0" algn="l" rtl="0">
              <a:lnSpc>
                <a:spcPct val="100000"/>
              </a:lnSpc>
              <a:spcBef>
                <a:spcPts val="0"/>
              </a:spcBef>
              <a:spcAft>
                <a:spcPts val="0"/>
              </a:spcAft>
              <a:buClr>
                <a:schemeClr val="dk1"/>
              </a:buClr>
              <a:buSzPts val="1800"/>
            </a:pPr>
            <a:r>
              <a:rPr lang="es-CO" sz="1200" dirty="0" err="1">
                <a:solidFill>
                  <a:schemeClr val="dk1"/>
                </a:solidFill>
              </a:rPr>
              <a:t>Statsmodels</a:t>
            </a:r>
            <a:endParaRPr lang="es-CO" sz="1200" dirty="0">
              <a:solidFill>
                <a:schemeClr val="dk1"/>
              </a:solidFill>
            </a:endParaRPr>
          </a:p>
          <a:p>
            <a:pPr marL="114300" lvl="0" algn="l" rtl="0">
              <a:lnSpc>
                <a:spcPct val="100000"/>
              </a:lnSpc>
              <a:spcBef>
                <a:spcPts val="0"/>
              </a:spcBef>
              <a:spcAft>
                <a:spcPts val="0"/>
              </a:spcAft>
              <a:buClr>
                <a:schemeClr val="dk1"/>
              </a:buClr>
              <a:buSzPts val="1800"/>
            </a:pPr>
            <a:r>
              <a:rPr lang="es-CO" sz="1200" dirty="0" err="1">
                <a:solidFill>
                  <a:schemeClr val="dk1"/>
                </a:solidFill>
              </a:rPr>
              <a:t>Plotly</a:t>
            </a:r>
            <a:endParaRPr lang="es-CO" sz="1200" dirty="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76200" y="73325"/>
            <a:ext cx="3051600" cy="572700"/>
          </a:xfrm>
          <a:prstGeom prst="rect">
            <a:avLst/>
          </a:prstGeom>
          <a:solidFill>
            <a:srgbClr val="0B539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dirty="0">
                <a:solidFill>
                  <a:schemeClr val="lt1"/>
                </a:solidFill>
                <a:latin typeface="Impact"/>
                <a:ea typeface="Impact"/>
                <a:cs typeface="Impact"/>
                <a:sym typeface="Impact"/>
              </a:rPr>
              <a:t>Python</a:t>
            </a:r>
            <a:endParaRPr dirty="0">
              <a:solidFill>
                <a:schemeClr val="lt1"/>
              </a:solidFill>
              <a:latin typeface="Impact"/>
              <a:ea typeface="Impact"/>
              <a:cs typeface="Impact"/>
              <a:sym typeface="Impact"/>
            </a:endParaRPr>
          </a:p>
        </p:txBody>
      </p:sp>
      <p:sp>
        <p:nvSpPr>
          <p:cNvPr id="102" name="Google Shape;102;p19"/>
          <p:cNvSpPr txBox="1"/>
          <p:nvPr/>
        </p:nvSpPr>
        <p:spPr>
          <a:xfrm>
            <a:off x="337125" y="1401900"/>
            <a:ext cx="7071208" cy="2339072"/>
          </a:xfrm>
          <a:prstGeom prst="rect">
            <a:avLst/>
          </a:prstGeom>
          <a:noFill/>
          <a:ln w="9525" cap="flat" cmpd="sng">
            <a:solidFill>
              <a:srgbClr val="0000FF"/>
            </a:solidFill>
            <a:prstDash val="solid"/>
            <a:round/>
            <a:headEnd type="none" w="sm" len="sm"/>
            <a:tailEnd type="none" w="sm" len="sm"/>
          </a:ln>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s" i="1" dirty="0"/>
              <a:t>Variables </a:t>
            </a:r>
            <a:r>
              <a:rPr lang="es" dirty="0"/>
              <a:t>como </a:t>
            </a:r>
            <a:r>
              <a:rPr lang="es" b="1" dirty="0"/>
              <a:t>X , Y, Z</a:t>
            </a:r>
            <a:endParaRPr b="1" dirty="0"/>
          </a:p>
          <a:p>
            <a:pPr marL="457200" lvl="0" indent="0" algn="l" rtl="0">
              <a:spcBef>
                <a:spcPts val="0"/>
              </a:spcBef>
              <a:spcAft>
                <a:spcPts val="0"/>
              </a:spcAft>
              <a:buNone/>
            </a:pPr>
            <a:endParaRPr b="1" dirty="0"/>
          </a:p>
          <a:p>
            <a:pPr marL="457200" lvl="0" indent="0" algn="l" rtl="0">
              <a:spcBef>
                <a:spcPts val="0"/>
              </a:spcBef>
              <a:spcAft>
                <a:spcPts val="0"/>
              </a:spcAft>
              <a:buNone/>
            </a:pPr>
            <a:endParaRPr b="1" dirty="0"/>
          </a:p>
          <a:p>
            <a:pPr marL="457200" lvl="0" indent="-317500" algn="l" rtl="0">
              <a:spcBef>
                <a:spcPts val="0"/>
              </a:spcBef>
              <a:spcAft>
                <a:spcPts val="0"/>
              </a:spcAft>
              <a:buSzPts val="1400"/>
              <a:buChar char="●"/>
            </a:pPr>
            <a:r>
              <a:rPr lang="es" i="1" dirty="0"/>
              <a:t>Operadores </a:t>
            </a:r>
            <a:r>
              <a:rPr lang="es" dirty="0"/>
              <a:t>como</a:t>
            </a:r>
            <a:r>
              <a:rPr lang="es" b="1" dirty="0"/>
              <a:t> + </a:t>
            </a:r>
            <a:r>
              <a:rPr lang="es" dirty="0"/>
              <a:t>,</a:t>
            </a:r>
            <a:r>
              <a:rPr lang="es" b="1" dirty="0"/>
              <a:t> - </a:t>
            </a:r>
            <a:r>
              <a:rPr lang="es" dirty="0"/>
              <a:t>,</a:t>
            </a:r>
            <a:r>
              <a:rPr lang="es" b="1" dirty="0"/>
              <a:t> *</a:t>
            </a:r>
            <a:r>
              <a:rPr lang="es" dirty="0"/>
              <a:t>,</a:t>
            </a:r>
            <a:r>
              <a:rPr lang="es" b="1" dirty="0"/>
              <a:t> / …</a:t>
            </a:r>
            <a:endParaRPr b="1" dirty="0"/>
          </a:p>
          <a:p>
            <a:pPr marL="0" lvl="0" indent="0" algn="l" rtl="0">
              <a:spcBef>
                <a:spcPts val="0"/>
              </a:spcBef>
              <a:spcAft>
                <a:spcPts val="0"/>
              </a:spcAft>
              <a:buNone/>
            </a:pPr>
            <a:endParaRPr b="1" dirty="0"/>
          </a:p>
          <a:p>
            <a:pPr marL="0" lvl="0" indent="0" algn="l" rtl="0">
              <a:spcBef>
                <a:spcPts val="0"/>
              </a:spcBef>
              <a:spcAft>
                <a:spcPts val="0"/>
              </a:spcAft>
              <a:buNone/>
            </a:pPr>
            <a:endParaRPr b="1" dirty="0"/>
          </a:p>
          <a:p>
            <a:pPr marL="457200" lvl="0" indent="-317500" algn="l" rtl="0">
              <a:spcBef>
                <a:spcPts val="0"/>
              </a:spcBef>
              <a:spcAft>
                <a:spcPts val="0"/>
              </a:spcAft>
              <a:buSzPts val="1400"/>
              <a:buChar char="●"/>
            </a:pPr>
            <a:r>
              <a:rPr lang="es" i="1" dirty="0"/>
              <a:t>Constantes </a:t>
            </a:r>
            <a:r>
              <a:rPr lang="es" dirty="0"/>
              <a:t>como </a:t>
            </a:r>
            <a:r>
              <a:rPr lang="es" b="1" dirty="0"/>
              <a:t>1, 2, 3…</a:t>
            </a:r>
            <a:endParaRPr b="1" dirty="0"/>
          </a:p>
          <a:p>
            <a:pPr marL="0" lvl="0" indent="0" algn="l" rtl="0">
              <a:spcBef>
                <a:spcPts val="0"/>
              </a:spcBef>
              <a:spcAft>
                <a:spcPts val="0"/>
              </a:spcAft>
              <a:buNone/>
            </a:pPr>
            <a:endParaRPr b="1" dirty="0"/>
          </a:p>
          <a:p>
            <a:pPr marL="0" lvl="0" indent="0" algn="l" rtl="0">
              <a:spcBef>
                <a:spcPts val="0"/>
              </a:spcBef>
              <a:spcAft>
                <a:spcPts val="0"/>
              </a:spcAft>
              <a:buNone/>
            </a:pPr>
            <a:endParaRPr b="1" dirty="0"/>
          </a:p>
          <a:p>
            <a:pPr marL="457200" lvl="0" indent="-317500" algn="l" rtl="0">
              <a:spcBef>
                <a:spcPts val="0"/>
              </a:spcBef>
              <a:spcAft>
                <a:spcPts val="0"/>
              </a:spcAft>
              <a:buSzPts val="1400"/>
              <a:buChar char="●"/>
            </a:pPr>
            <a:r>
              <a:rPr lang="es" i="1" dirty="0"/>
              <a:t>Funciones </a:t>
            </a:r>
            <a:r>
              <a:rPr lang="es" dirty="0"/>
              <a:t>como </a:t>
            </a:r>
            <a:r>
              <a:rPr lang="es" b="1" dirty="0"/>
              <a:t>if, while, for…</a:t>
            </a:r>
            <a:endParaRPr b="1" dirty="0"/>
          </a:p>
        </p:txBody>
      </p:sp>
      <p:sp>
        <p:nvSpPr>
          <p:cNvPr id="103" name="Google Shape;103;p19"/>
          <p:cNvSpPr txBox="1"/>
          <p:nvPr/>
        </p:nvSpPr>
        <p:spPr>
          <a:xfrm>
            <a:off x="337175" y="1001700"/>
            <a:ext cx="37257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i="1" dirty="0">
                <a:solidFill>
                  <a:srgbClr val="0000FF"/>
                </a:solidFill>
              </a:rPr>
              <a:t>Elementos base para programar</a:t>
            </a:r>
            <a:endParaRPr b="1" i="1" dirty="0">
              <a:solidFill>
                <a:srgbClr val="0000F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0"/>
          <p:cNvSpPr txBox="1">
            <a:spLocks noGrp="1"/>
          </p:cNvSpPr>
          <p:nvPr>
            <p:ph type="title"/>
          </p:nvPr>
        </p:nvSpPr>
        <p:spPr>
          <a:xfrm>
            <a:off x="205667" y="1389424"/>
            <a:ext cx="8489600" cy="2115776"/>
          </a:xfrm>
          <a:prstGeom prst="rect">
            <a:avLst/>
          </a:prstGeom>
        </p:spPr>
        <p:txBody>
          <a:bodyPr spcFirstLastPara="1" wrap="square" lIns="91425" tIns="91425" rIns="91425" bIns="91425" anchor="t" anchorCtr="0">
            <a:normAutofit fontScale="90000"/>
          </a:bodyPr>
          <a:lstStyle/>
          <a:p>
            <a:pPr marL="0" lvl="0" indent="0" rtl="0">
              <a:spcBef>
                <a:spcPts val="0"/>
              </a:spcBef>
              <a:spcAft>
                <a:spcPts val="0"/>
              </a:spcAft>
              <a:buNone/>
            </a:pPr>
            <a:r>
              <a:rPr lang="es" b="1" dirty="0"/>
              <a:t>Son instrucciones que se dejan dentro del script. Se agregan tan solo agregando al inicio el signo de numeral  </a:t>
            </a:r>
            <a:r>
              <a:rPr lang="es" b="1" dirty="0">
                <a:solidFill>
                  <a:srgbClr val="FF0000"/>
                </a:solidFill>
              </a:rPr>
              <a:t>#</a:t>
            </a:r>
            <a:br>
              <a:rPr lang="es" b="1" dirty="0"/>
            </a:br>
            <a:br>
              <a:rPr lang="es" b="1" dirty="0"/>
            </a:br>
            <a:endParaRPr b="1" dirty="0"/>
          </a:p>
        </p:txBody>
      </p:sp>
      <p:sp>
        <p:nvSpPr>
          <p:cNvPr id="116" name="Google Shape;116;p20"/>
          <p:cNvSpPr txBox="1">
            <a:spLocks noGrp="1"/>
          </p:cNvSpPr>
          <p:nvPr>
            <p:ph type="title"/>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117" name="Google Shape;117;p20"/>
          <p:cNvSpPr txBox="1"/>
          <p:nvPr/>
        </p:nvSpPr>
        <p:spPr>
          <a:xfrm>
            <a:off x="2498275" y="492725"/>
            <a:ext cx="2956500" cy="400200"/>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spcFirstLastPara="1" wrap="square" lIns="91425" tIns="91425" rIns="91425" bIns="91425" anchor="t" anchorCtr="0">
            <a:spAutoFit/>
          </a:bodyPr>
          <a:lstStyle/>
          <a:p>
            <a:pPr marL="0" lvl="0" indent="0" algn="ctr" rtl="0">
              <a:spcBef>
                <a:spcPts val="0"/>
              </a:spcBef>
              <a:spcAft>
                <a:spcPts val="0"/>
              </a:spcAft>
              <a:buNone/>
            </a:pPr>
            <a:r>
              <a:rPr lang="es" b="1" dirty="0">
                <a:solidFill>
                  <a:schemeClr val="lt1"/>
                </a:solidFill>
              </a:rPr>
              <a:t>Comentarios</a:t>
            </a:r>
            <a:endParaRPr b="1" dirty="0">
              <a:solidFill>
                <a:schemeClr val="lt1"/>
              </a:solidFill>
            </a:endParaRPr>
          </a:p>
        </p:txBody>
      </p:sp>
      <p:pic>
        <p:nvPicPr>
          <p:cNvPr id="7" name="Imagen 6">
            <a:extLst>
              <a:ext uri="{FF2B5EF4-FFF2-40B4-BE49-F238E27FC236}">
                <a16:creationId xmlns:a16="http://schemas.microsoft.com/office/drawing/2014/main" id="{4BA8FBD3-DF77-CD2A-7FB9-C34D206D0C9D}"/>
              </a:ext>
            </a:extLst>
          </p:cNvPr>
          <p:cNvPicPr>
            <a:picLocks noChangeAspect="1"/>
          </p:cNvPicPr>
          <p:nvPr/>
        </p:nvPicPr>
        <p:blipFill>
          <a:blip r:embed="rId3"/>
          <a:stretch>
            <a:fillRect/>
          </a:stretch>
        </p:blipFill>
        <p:spPr>
          <a:xfrm>
            <a:off x="317501" y="3041569"/>
            <a:ext cx="6629400" cy="571500"/>
          </a:xfrm>
          <a:prstGeom prst="rect">
            <a:avLst/>
          </a:prstGeom>
        </p:spPr>
      </p:pic>
      <p:pic>
        <p:nvPicPr>
          <p:cNvPr id="9" name="Imagen 8">
            <a:extLst>
              <a:ext uri="{FF2B5EF4-FFF2-40B4-BE49-F238E27FC236}">
                <a16:creationId xmlns:a16="http://schemas.microsoft.com/office/drawing/2014/main" id="{C605018D-2791-3E18-C20A-074C380CB606}"/>
              </a:ext>
            </a:extLst>
          </p:cNvPr>
          <p:cNvPicPr>
            <a:picLocks noChangeAspect="1"/>
          </p:cNvPicPr>
          <p:nvPr/>
        </p:nvPicPr>
        <p:blipFill>
          <a:blip r:embed="rId4"/>
          <a:stretch>
            <a:fillRect/>
          </a:stretch>
        </p:blipFill>
        <p:spPr>
          <a:xfrm>
            <a:off x="317501" y="3796161"/>
            <a:ext cx="5324475" cy="904875"/>
          </a:xfrm>
          <a:prstGeom prst="rect">
            <a:avLst/>
          </a:prstGeom>
        </p:spPr>
      </p:pic>
    </p:spTree>
    <p:extLst>
      <p:ext uri="{BB962C8B-B14F-4D97-AF65-F5344CB8AC3E}">
        <p14:creationId xmlns:p14="http://schemas.microsoft.com/office/powerpoint/2010/main" val="13763080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0"/>
          <p:cNvSpPr txBox="1">
            <a:spLocks noGrp="1"/>
          </p:cNvSpPr>
          <p:nvPr>
            <p:ph type="title"/>
          </p:nvPr>
        </p:nvSpPr>
        <p:spPr>
          <a:xfrm>
            <a:off x="-1" y="1473178"/>
            <a:ext cx="9144001"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CO" b="1" dirty="0">
                <a:solidFill>
                  <a:schemeClr val="accent5">
                    <a:lumMod val="50000"/>
                  </a:schemeClr>
                </a:solidFill>
              </a:rPr>
              <a:t>N</a:t>
            </a:r>
            <a:r>
              <a:rPr lang="es" b="1" dirty="0">
                <a:solidFill>
                  <a:schemeClr val="accent5">
                    <a:lumMod val="50000"/>
                  </a:schemeClr>
                </a:solidFill>
              </a:rPr>
              <a:t>ombre de la variable</a:t>
            </a:r>
            <a:r>
              <a:rPr lang="es" b="1" dirty="0"/>
              <a:t> </a:t>
            </a:r>
            <a:r>
              <a:rPr lang="es" b="1" dirty="0">
                <a:solidFill>
                  <a:srgbClr val="FF0000"/>
                </a:solidFill>
              </a:rPr>
              <a:t>=</a:t>
            </a:r>
            <a:r>
              <a:rPr lang="es" b="1" dirty="0"/>
              <a:t> </a:t>
            </a:r>
            <a:r>
              <a:rPr lang="es" b="1" dirty="0">
                <a:solidFill>
                  <a:schemeClr val="accent6">
                    <a:lumMod val="50000"/>
                  </a:schemeClr>
                </a:solidFill>
              </a:rPr>
              <a:t>valor asignado</a:t>
            </a:r>
            <a:endParaRPr b="1" dirty="0">
              <a:solidFill>
                <a:schemeClr val="accent6">
                  <a:lumMod val="50000"/>
                </a:schemeClr>
              </a:solidFill>
            </a:endParaRPr>
          </a:p>
        </p:txBody>
      </p:sp>
      <p:sp>
        <p:nvSpPr>
          <p:cNvPr id="116" name="Google Shape;116;p20"/>
          <p:cNvSpPr txBox="1">
            <a:spLocks noGrp="1"/>
          </p:cNvSpPr>
          <p:nvPr>
            <p:ph type="title"/>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117" name="Google Shape;117;p20"/>
          <p:cNvSpPr txBox="1"/>
          <p:nvPr/>
        </p:nvSpPr>
        <p:spPr>
          <a:xfrm>
            <a:off x="2498275" y="492725"/>
            <a:ext cx="2956500" cy="400200"/>
          </a:xfrm>
          <a:prstGeom prst="rect">
            <a:avLst/>
          </a:prstGeom>
          <a:solidFill>
            <a:schemeClr val="accent5"/>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dirty="0">
                <a:solidFill>
                  <a:schemeClr val="lt1"/>
                </a:solidFill>
              </a:rPr>
              <a:t>Variable - objeto</a:t>
            </a:r>
            <a:endParaRPr b="1" dirty="0">
              <a:solidFill>
                <a:schemeClr val="lt1"/>
              </a:solidFill>
            </a:endParaRPr>
          </a:p>
        </p:txBody>
      </p:sp>
      <p:sp>
        <p:nvSpPr>
          <p:cNvPr id="6" name="CuadroTexto 5">
            <a:extLst>
              <a:ext uri="{FF2B5EF4-FFF2-40B4-BE49-F238E27FC236}">
                <a16:creationId xmlns:a16="http://schemas.microsoft.com/office/drawing/2014/main" id="{E369837F-50F1-5B96-0824-7D76E8516585}"/>
              </a:ext>
            </a:extLst>
          </p:cNvPr>
          <p:cNvSpPr txBox="1"/>
          <p:nvPr/>
        </p:nvSpPr>
        <p:spPr>
          <a:xfrm>
            <a:off x="602427" y="2549865"/>
            <a:ext cx="2707215" cy="830997"/>
          </a:xfrm>
          <a:prstGeom prst="rect">
            <a:avLst/>
          </a:prstGeom>
          <a:noFill/>
        </p:spPr>
        <p:txBody>
          <a:bodyPr wrap="square" rtlCol="0">
            <a:spAutoFit/>
          </a:bodyPr>
          <a:lstStyle/>
          <a:p>
            <a:pPr algn="just"/>
            <a:r>
              <a:rPr lang="es-MX" sz="1200" dirty="0"/>
              <a:t>Letras, números y guion bajo ( _ ), sin espacio, no puede iniciar con números. Python reconoce las mayúsculas y minúsculas.</a:t>
            </a:r>
            <a:endParaRPr lang="es-CO" sz="1200" dirty="0"/>
          </a:p>
        </p:txBody>
      </p:sp>
      <p:sp>
        <p:nvSpPr>
          <p:cNvPr id="15" name="CuadroTexto 14">
            <a:extLst>
              <a:ext uri="{FF2B5EF4-FFF2-40B4-BE49-F238E27FC236}">
                <a16:creationId xmlns:a16="http://schemas.microsoft.com/office/drawing/2014/main" id="{6B5E1C46-50C8-55FC-3321-1A179B174252}"/>
              </a:ext>
            </a:extLst>
          </p:cNvPr>
          <p:cNvSpPr txBox="1"/>
          <p:nvPr/>
        </p:nvSpPr>
        <p:spPr>
          <a:xfrm>
            <a:off x="5453426" y="2571750"/>
            <a:ext cx="3213144" cy="646331"/>
          </a:xfrm>
          <a:prstGeom prst="rect">
            <a:avLst/>
          </a:prstGeom>
          <a:noFill/>
        </p:spPr>
        <p:txBody>
          <a:bodyPr wrap="square" rtlCol="0">
            <a:spAutoFit/>
          </a:bodyPr>
          <a:lstStyle/>
          <a:p>
            <a:pPr algn="just"/>
            <a:r>
              <a:rPr lang="es-MX" sz="1200" b="1" dirty="0"/>
              <a:t>Números</a:t>
            </a:r>
            <a:r>
              <a:rPr lang="es-MX" sz="1200" dirty="0"/>
              <a:t> </a:t>
            </a:r>
          </a:p>
          <a:p>
            <a:pPr algn="just"/>
            <a:endParaRPr lang="es-MX" sz="1200" dirty="0"/>
          </a:p>
          <a:p>
            <a:pPr algn="just"/>
            <a:r>
              <a:rPr lang="es-MX" sz="1200" b="1" dirty="0"/>
              <a:t>Texto</a:t>
            </a:r>
            <a:r>
              <a:rPr lang="es-MX" sz="1200" dirty="0"/>
              <a:t>, pero debe estar entre comillas </a:t>
            </a:r>
            <a:r>
              <a:rPr lang="es-MX" sz="1200" b="1" dirty="0">
                <a:solidFill>
                  <a:srgbClr val="7030A0"/>
                </a:solidFill>
              </a:rPr>
              <a:t>“ “</a:t>
            </a:r>
            <a:endParaRPr lang="es-CO" sz="1200" b="1" dirty="0">
              <a:solidFill>
                <a:srgbClr val="7030A0"/>
              </a:solidFill>
            </a:endParaRPr>
          </a:p>
        </p:txBody>
      </p:sp>
      <p:cxnSp>
        <p:nvCxnSpPr>
          <p:cNvPr id="8" name="Conector recto de flecha 7">
            <a:extLst>
              <a:ext uri="{FF2B5EF4-FFF2-40B4-BE49-F238E27FC236}">
                <a16:creationId xmlns:a16="http://schemas.microsoft.com/office/drawing/2014/main" id="{3521EC3A-C8E6-ADCF-5A31-E75699880FA8}"/>
              </a:ext>
            </a:extLst>
          </p:cNvPr>
          <p:cNvCxnSpPr/>
          <p:nvPr/>
        </p:nvCxnSpPr>
        <p:spPr>
          <a:xfrm flipH="1">
            <a:off x="2395242" y="1942088"/>
            <a:ext cx="580158" cy="6077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Conector recto de flecha 9">
            <a:extLst>
              <a:ext uri="{FF2B5EF4-FFF2-40B4-BE49-F238E27FC236}">
                <a16:creationId xmlns:a16="http://schemas.microsoft.com/office/drawing/2014/main" id="{07877851-F7AB-941B-97D8-9E12EF08F06A}"/>
              </a:ext>
            </a:extLst>
          </p:cNvPr>
          <p:cNvCxnSpPr>
            <a:cxnSpLocks/>
          </p:cNvCxnSpPr>
          <p:nvPr/>
        </p:nvCxnSpPr>
        <p:spPr>
          <a:xfrm>
            <a:off x="5947646" y="1917812"/>
            <a:ext cx="113289" cy="6320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CuadroTexto 12">
            <a:extLst>
              <a:ext uri="{FF2B5EF4-FFF2-40B4-BE49-F238E27FC236}">
                <a16:creationId xmlns:a16="http://schemas.microsoft.com/office/drawing/2014/main" id="{1827A61A-73E2-D867-94C9-E09114BF33B6}"/>
              </a:ext>
            </a:extLst>
          </p:cNvPr>
          <p:cNvSpPr txBox="1"/>
          <p:nvPr/>
        </p:nvSpPr>
        <p:spPr>
          <a:xfrm>
            <a:off x="602427" y="4021742"/>
            <a:ext cx="8064143" cy="307777"/>
          </a:xfrm>
          <a:prstGeom prst="rect">
            <a:avLst/>
          </a:prstGeom>
          <a:noFill/>
        </p:spPr>
        <p:txBody>
          <a:bodyPr wrap="square" rtlCol="0">
            <a:spAutoFit/>
          </a:bodyPr>
          <a:lstStyle/>
          <a:p>
            <a:r>
              <a:rPr lang="es-MX" b="1" dirty="0"/>
              <a:t>x = 5                      nombre del niño = Camilo                  </a:t>
            </a:r>
            <a:r>
              <a:rPr lang="es-MX" b="1" dirty="0" err="1"/>
              <a:t>nombre_niño</a:t>
            </a:r>
            <a:r>
              <a:rPr lang="es-MX" b="1" dirty="0"/>
              <a:t> = “Camilo”            y = “9”</a:t>
            </a:r>
            <a:endParaRPr lang="es-CO" b="1"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1"/>
          <p:cNvSpPr txBox="1">
            <a:spLocks noGrp="1"/>
          </p:cNvSpPr>
          <p:nvPr>
            <p:ph type="title"/>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123" name="Google Shape;123;p21"/>
          <p:cNvSpPr txBox="1"/>
          <p:nvPr/>
        </p:nvSpPr>
        <p:spPr>
          <a:xfrm>
            <a:off x="2498275" y="492725"/>
            <a:ext cx="2956500" cy="400200"/>
          </a:xfrm>
          <a:prstGeom prst="rect">
            <a:avLst/>
          </a:prstGeom>
          <a:solidFill>
            <a:schemeClr val="accent5"/>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a:solidFill>
                  <a:schemeClr val="lt1"/>
                </a:solidFill>
              </a:rPr>
              <a:t>Variables</a:t>
            </a:r>
            <a:endParaRPr b="1">
              <a:solidFill>
                <a:schemeClr val="lt1"/>
              </a:solidFill>
            </a:endParaRPr>
          </a:p>
        </p:txBody>
      </p:sp>
      <p:pic>
        <p:nvPicPr>
          <p:cNvPr id="124" name="Google Shape;124;p21"/>
          <p:cNvPicPr preferRelativeResize="0"/>
          <p:nvPr/>
        </p:nvPicPr>
        <p:blipFill>
          <a:blip r:embed="rId3">
            <a:alphaModFix/>
          </a:blip>
          <a:stretch>
            <a:fillRect/>
          </a:stretch>
        </p:blipFill>
        <p:spPr>
          <a:xfrm>
            <a:off x="164250" y="1476375"/>
            <a:ext cx="3790950" cy="1095375"/>
          </a:xfrm>
          <a:prstGeom prst="rect">
            <a:avLst/>
          </a:prstGeom>
          <a:noFill/>
          <a:ln w="9525" cap="flat" cmpd="sng">
            <a:solidFill>
              <a:schemeClr val="dk1"/>
            </a:solidFill>
            <a:prstDash val="solid"/>
            <a:round/>
            <a:headEnd type="none" w="sm" len="sm"/>
            <a:tailEnd type="none" w="sm" len="sm"/>
          </a:ln>
        </p:spPr>
      </p:pic>
      <p:pic>
        <p:nvPicPr>
          <p:cNvPr id="125" name="Google Shape;125;p21"/>
          <p:cNvPicPr preferRelativeResize="0"/>
          <p:nvPr/>
        </p:nvPicPr>
        <p:blipFill>
          <a:blip r:embed="rId4">
            <a:alphaModFix/>
          </a:blip>
          <a:stretch>
            <a:fillRect/>
          </a:stretch>
        </p:blipFill>
        <p:spPr>
          <a:xfrm>
            <a:off x="4699450" y="1956938"/>
            <a:ext cx="3867150" cy="1066800"/>
          </a:xfrm>
          <a:prstGeom prst="rect">
            <a:avLst/>
          </a:prstGeom>
          <a:noFill/>
          <a:ln w="9525" cap="flat" cmpd="sng">
            <a:solidFill>
              <a:schemeClr val="dk1"/>
            </a:solidFill>
            <a:prstDash val="solid"/>
            <a:round/>
            <a:headEnd type="none" w="sm" len="sm"/>
            <a:tailEnd type="none" w="sm" len="sm"/>
          </a:ln>
        </p:spPr>
      </p:pic>
      <p:pic>
        <p:nvPicPr>
          <p:cNvPr id="126" name="Google Shape;126;p21"/>
          <p:cNvPicPr preferRelativeResize="0"/>
          <p:nvPr/>
        </p:nvPicPr>
        <p:blipFill>
          <a:blip r:embed="rId5">
            <a:alphaModFix/>
          </a:blip>
          <a:stretch>
            <a:fillRect/>
          </a:stretch>
        </p:blipFill>
        <p:spPr>
          <a:xfrm>
            <a:off x="1205413" y="3491275"/>
            <a:ext cx="7077075" cy="1219200"/>
          </a:xfrm>
          <a:prstGeom prst="rect">
            <a:avLst/>
          </a:prstGeom>
          <a:noFill/>
          <a:ln w="9525" cap="flat" cmpd="sng">
            <a:solidFill>
              <a:schemeClr val="dk1"/>
            </a:solidFill>
            <a:prstDash val="solid"/>
            <a:round/>
            <a:headEnd type="none" w="sm" len="sm"/>
            <a:tailEnd type="none" w="sm" len="sm"/>
          </a:ln>
        </p:spPr>
      </p:pic>
      <p:sp>
        <p:nvSpPr>
          <p:cNvPr id="127" name="Google Shape;127;p21"/>
          <p:cNvSpPr txBox="1">
            <a:spLocks noGrp="1"/>
          </p:cNvSpPr>
          <p:nvPr>
            <p:ph type="title"/>
          </p:nvPr>
        </p:nvSpPr>
        <p:spPr>
          <a:xfrm>
            <a:off x="112900" y="965850"/>
            <a:ext cx="22125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t>Enteros</a:t>
            </a:r>
            <a:endParaRPr b="1"/>
          </a:p>
        </p:txBody>
      </p:sp>
      <p:sp>
        <p:nvSpPr>
          <p:cNvPr id="128" name="Google Shape;128;p21"/>
          <p:cNvSpPr txBox="1">
            <a:spLocks noGrp="1"/>
          </p:cNvSpPr>
          <p:nvPr>
            <p:ph type="title"/>
          </p:nvPr>
        </p:nvSpPr>
        <p:spPr>
          <a:xfrm>
            <a:off x="4795025" y="1384250"/>
            <a:ext cx="22125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t>Decimales</a:t>
            </a:r>
            <a:endParaRPr b="1"/>
          </a:p>
        </p:txBody>
      </p:sp>
      <p:sp>
        <p:nvSpPr>
          <p:cNvPr id="129" name="Google Shape;129;p21"/>
          <p:cNvSpPr txBox="1">
            <a:spLocks noGrp="1"/>
          </p:cNvSpPr>
          <p:nvPr>
            <p:ph type="title"/>
          </p:nvPr>
        </p:nvSpPr>
        <p:spPr>
          <a:xfrm>
            <a:off x="1290775" y="2918575"/>
            <a:ext cx="22125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t>String</a:t>
            </a:r>
            <a:endParaRPr b="1"/>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F5596A2-ADF7-3598-790D-0E313D8D9D96}"/>
              </a:ext>
            </a:extLst>
          </p:cNvPr>
          <p:cNvPicPr>
            <a:picLocks noChangeAspect="1"/>
          </p:cNvPicPr>
          <p:nvPr/>
        </p:nvPicPr>
        <p:blipFill>
          <a:blip r:embed="rId2"/>
          <a:stretch>
            <a:fillRect/>
          </a:stretch>
        </p:blipFill>
        <p:spPr>
          <a:xfrm>
            <a:off x="1193800" y="1262063"/>
            <a:ext cx="6900333" cy="3881437"/>
          </a:xfrm>
          <a:prstGeom prst="rect">
            <a:avLst/>
          </a:prstGeom>
        </p:spPr>
      </p:pic>
      <p:sp>
        <p:nvSpPr>
          <p:cNvPr id="5" name="Google Shape;122;p21">
            <a:extLst>
              <a:ext uri="{FF2B5EF4-FFF2-40B4-BE49-F238E27FC236}">
                <a16:creationId xmlns:a16="http://schemas.microsoft.com/office/drawing/2014/main" id="{0B131E88-746B-4CCF-FDC4-BE0AF6EAB5FE}"/>
              </a:ext>
            </a:extLst>
          </p:cNvPr>
          <p:cNvSpPr txBox="1">
            <a:spLocks noGrp="1"/>
          </p:cNvSpPr>
          <p:nvPr>
            <p:ph type="title"/>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6" name="Google Shape;123;p21">
            <a:extLst>
              <a:ext uri="{FF2B5EF4-FFF2-40B4-BE49-F238E27FC236}">
                <a16:creationId xmlns:a16="http://schemas.microsoft.com/office/drawing/2014/main" id="{F78444B4-EBD2-F463-983D-BC5B40D21400}"/>
              </a:ext>
            </a:extLst>
          </p:cNvPr>
          <p:cNvSpPr txBox="1"/>
          <p:nvPr/>
        </p:nvSpPr>
        <p:spPr>
          <a:xfrm>
            <a:off x="2498275" y="492725"/>
            <a:ext cx="2956500" cy="400200"/>
          </a:xfrm>
          <a:prstGeom prst="rect">
            <a:avLst/>
          </a:prstGeom>
          <a:ln/>
        </p:spPr>
        <p:style>
          <a:lnRef idx="0">
            <a:schemeClr val="accent2"/>
          </a:lnRef>
          <a:fillRef idx="3">
            <a:schemeClr val="accent2"/>
          </a:fillRef>
          <a:effectRef idx="3">
            <a:schemeClr val="accent2"/>
          </a:effectRef>
          <a:fontRef idx="minor">
            <a:schemeClr val="lt1"/>
          </a:fontRef>
        </p:style>
        <p:txBody>
          <a:bodyPr spcFirstLastPara="1" wrap="square" lIns="91425" tIns="91425" rIns="91425" bIns="91425" anchor="t" anchorCtr="0">
            <a:spAutoFit/>
          </a:bodyPr>
          <a:lstStyle/>
          <a:p>
            <a:pPr marL="0" lvl="0" indent="0" algn="ctr" rtl="0">
              <a:spcBef>
                <a:spcPts val="0"/>
              </a:spcBef>
              <a:spcAft>
                <a:spcPts val="0"/>
              </a:spcAft>
              <a:buNone/>
            </a:pPr>
            <a:r>
              <a:rPr lang="es" b="1" dirty="0">
                <a:solidFill>
                  <a:schemeClr val="lt1"/>
                </a:solidFill>
              </a:rPr>
              <a:t>Palabras reservadas</a:t>
            </a:r>
            <a:endParaRPr b="1" dirty="0">
              <a:solidFill>
                <a:schemeClr val="lt1"/>
              </a:solidFill>
            </a:endParaRPr>
          </a:p>
        </p:txBody>
      </p:sp>
      <p:sp>
        <p:nvSpPr>
          <p:cNvPr id="3" name="Rectángulo 2">
            <a:extLst>
              <a:ext uri="{FF2B5EF4-FFF2-40B4-BE49-F238E27FC236}">
                <a16:creationId xmlns:a16="http://schemas.microsoft.com/office/drawing/2014/main" id="{89453591-F542-F9DA-CB07-A904FB305D45}"/>
              </a:ext>
            </a:extLst>
          </p:cNvPr>
          <p:cNvSpPr/>
          <p:nvPr/>
        </p:nvSpPr>
        <p:spPr>
          <a:xfrm>
            <a:off x="1439333" y="3064933"/>
            <a:ext cx="677334" cy="5757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a:extLst>
              <a:ext uri="{FF2B5EF4-FFF2-40B4-BE49-F238E27FC236}">
                <a16:creationId xmlns:a16="http://schemas.microsoft.com/office/drawing/2014/main" id="{84C2A0A7-D85E-163E-46F1-72B763D02E75}"/>
              </a:ext>
            </a:extLst>
          </p:cNvPr>
          <p:cNvSpPr/>
          <p:nvPr/>
        </p:nvSpPr>
        <p:spPr>
          <a:xfrm>
            <a:off x="2887133" y="3640667"/>
            <a:ext cx="677334" cy="3217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Rectángulo 7">
            <a:extLst>
              <a:ext uri="{FF2B5EF4-FFF2-40B4-BE49-F238E27FC236}">
                <a16:creationId xmlns:a16="http://schemas.microsoft.com/office/drawing/2014/main" id="{5A2F7081-D717-48CE-8C5D-CDDFCB11DCE5}"/>
              </a:ext>
            </a:extLst>
          </p:cNvPr>
          <p:cNvSpPr/>
          <p:nvPr/>
        </p:nvSpPr>
        <p:spPr>
          <a:xfrm>
            <a:off x="4305299" y="2370666"/>
            <a:ext cx="677334" cy="3640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9" name="Rectángulo 8">
            <a:extLst>
              <a:ext uri="{FF2B5EF4-FFF2-40B4-BE49-F238E27FC236}">
                <a16:creationId xmlns:a16="http://schemas.microsoft.com/office/drawing/2014/main" id="{BE471B3B-B1CC-4267-9DFF-FB546E17D9D3}"/>
              </a:ext>
            </a:extLst>
          </p:cNvPr>
          <p:cNvSpPr/>
          <p:nvPr/>
        </p:nvSpPr>
        <p:spPr>
          <a:xfrm>
            <a:off x="5655732" y="2480733"/>
            <a:ext cx="897467" cy="254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a:extLst>
              <a:ext uri="{FF2B5EF4-FFF2-40B4-BE49-F238E27FC236}">
                <a16:creationId xmlns:a16="http://schemas.microsoft.com/office/drawing/2014/main" id="{DE45D03B-B028-9B0E-8029-3DD28F600D1A}"/>
              </a:ext>
            </a:extLst>
          </p:cNvPr>
          <p:cNvSpPr/>
          <p:nvPr/>
        </p:nvSpPr>
        <p:spPr>
          <a:xfrm>
            <a:off x="7112000" y="3064933"/>
            <a:ext cx="677334" cy="279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1" name="Rectángulo 10">
            <a:extLst>
              <a:ext uri="{FF2B5EF4-FFF2-40B4-BE49-F238E27FC236}">
                <a16:creationId xmlns:a16="http://schemas.microsoft.com/office/drawing/2014/main" id="{C2412DBA-AA27-0E50-04A7-C206DE85F6AF}"/>
              </a:ext>
            </a:extLst>
          </p:cNvPr>
          <p:cNvSpPr/>
          <p:nvPr/>
        </p:nvSpPr>
        <p:spPr>
          <a:xfrm>
            <a:off x="7027333" y="3593570"/>
            <a:ext cx="677334" cy="36680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2" name="Rectángulo 11">
            <a:extLst>
              <a:ext uri="{FF2B5EF4-FFF2-40B4-BE49-F238E27FC236}">
                <a16:creationId xmlns:a16="http://schemas.microsoft.com/office/drawing/2014/main" id="{7845D2D9-D1C7-B676-0C4F-DD0251C14E5E}"/>
              </a:ext>
            </a:extLst>
          </p:cNvPr>
          <p:cNvSpPr/>
          <p:nvPr/>
        </p:nvSpPr>
        <p:spPr>
          <a:xfrm>
            <a:off x="2827866" y="4256705"/>
            <a:ext cx="677334" cy="32173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3" name="Rectángulo 12">
            <a:extLst>
              <a:ext uri="{FF2B5EF4-FFF2-40B4-BE49-F238E27FC236}">
                <a16:creationId xmlns:a16="http://schemas.microsoft.com/office/drawing/2014/main" id="{AA600FB6-E1D4-2874-68C8-FA512D97E639}"/>
              </a:ext>
            </a:extLst>
          </p:cNvPr>
          <p:cNvSpPr/>
          <p:nvPr/>
        </p:nvSpPr>
        <p:spPr>
          <a:xfrm>
            <a:off x="4233333" y="3344333"/>
            <a:ext cx="677334" cy="57573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31430992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0"/>
          <p:cNvSpPr txBox="1">
            <a:spLocks noGrp="1"/>
          </p:cNvSpPr>
          <p:nvPr>
            <p:ph type="title"/>
          </p:nvPr>
        </p:nvSpPr>
        <p:spPr>
          <a:xfrm>
            <a:off x="0" y="1473178"/>
            <a:ext cx="2709334"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MX" sz="3000" b="1" dirty="0" err="1">
                <a:solidFill>
                  <a:schemeClr val="accent5">
                    <a:lumMod val="50000"/>
                  </a:schemeClr>
                </a:solidFill>
              </a:rPr>
              <a:t>print</a:t>
            </a:r>
            <a:r>
              <a:rPr lang="es-MX" sz="3000" b="1" dirty="0">
                <a:solidFill>
                  <a:schemeClr val="accent5">
                    <a:lumMod val="50000"/>
                  </a:schemeClr>
                </a:solidFill>
              </a:rPr>
              <a:t> ()</a:t>
            </a:r>
            <a:r>
              <a:rPr lang="es-MX" b="1" dirty="0">
                <a:solidFill>
                  <a:schemeClr val="accent5">
                    <a:lumMod val="50000"/>
                  </a:schemeClr>
                </a:solidFill>
              </a:rPr>
              <a:t> </a:t>
            </a:r>
            <a:endParaRPr b="1" dirty="0">
              <a:solidFill>
                <a:schemeClr val="accent6">
                  <a:lumMod val="50000"/>
                </a:schemeClr>
              </a:solidFill>
            </a:endParaRPr>
          </a:p>
        </p:txBody>
      </p:sp>
      <p:sp>
        <p:nvSpPr>
          <p:cNvPr id="116" name="Google Shape;116;p20"/>
          <p:cNvSpPr txBox="1">
            <a:spLocks noGrp="1"/>
          </p:cNvSpPr>
          <p:nvPr>
            <p:ph type="title"/>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117" name="Google Shape;117;p20"/>
          <p:cNvSpPr txBox="1"/>
          <p:nvPr/>
        </p:nvSpPr>
        <p:spPr>
          <a:xfrm>
            <a:off x="2498275" y="492725"/>
            <a:ext cx="2956500" cy="400200"/>
          </a:xfrm>
          <a:prstGeom prst="rect">
            <a:avLst/>
          </a:prstGeom>
          <a:solidFill>
            <a:srgbClr val="00B050"/>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dirty="0">
                <a:solidFill>
                  <a:schemeClr val="lt1"/>
                </a:solidFill>
              </a:rPr>
              <a:t>Funciones</a:t>
            </a:r>
            <a:endParaRPr b="1" dirty="0">
              <a:solidFill>
                <a:schemeClr val="lt1"/>
              </a:solidFill>
            </a:endParaRPr>
          </a:p>
        </p:txBody>
      </p:sp>
      <p:sp>
        <p:nvSpPr>
          <p:cNvPr id="6" name="CuadroTexto 5">
            <a:extLst>
              <a:ext uri="{FF2B5EF4-FFF2-40B4-BE49-F238E27FC236}">
                <a16:creationId xmlns:a16="http://schemas.microsoft.com/office/drawing/2014/main" id="{E369837F-50F1-5B96-0824-7D76E8516585}"/>
              </a:ext>
            </a:extLst>
          </p:cNvPr>
          <p:cNvSpPr txBox="1"/>
          <p:nvPr/>
        </p:nvSpPr>
        <p:spPr>
          <a:xfrm>
            <a:off x="2498275" y="3786960"/>
            <a:ext cx="1701192" cy="1015663"/>
          </a:xfrm>
          <a:prstGeom prst="rect">
            <a:avLst/>
          </a:prstGeom>
          <a:noFill/>
        </p:spPr>
        <p:txBody>
          <a:bodyPr wrap="square" rtlCol="0">
            <a:spAutoFit/>
          </a:bodyPr>
          <a:lstStyle/>
          <a:p>
            <a:pPr algn="just"/>
            <a:r>
              <a:rPr lang="es-MX" sz="1200" dirty="0"/>
              <a:t>Convierte el valor de una variable en numero entero, decimal o cadena de texto </a:t>
            </a:r>
            <a:endParaRPr lang="es-CO" sz="1200" dirty="0"/>
          </a:p>
        </p:txBody>
      </p:sp>
      <p:sp>
        <p:nvSpPr>
          <p:cNvPr id="11" name="Google Shape;110;p20">
            <a:extLst>
              <a:ext uri="{FF2B5EF4-FFF2-40B4-BE49-F238E27FC236}">
                <a16:creationId xmlns:a16="http://schemas.microsoft.com/office/drawing/2014/main" id="{E1291F7B-50C6-31D7-FE04-CA8CA2D0BA6A}"/>
              </a:ext>
            </a:extLst>
          </p:cNvPr>
          <p:cNvSpPr txBox="1">
            <a:spLocks/>
          </p:cNvSpPr>
          <p:nvPr/>
        </p:nvSpPr>
        <p:spPr>
          <a:xfrm>
            <a:off x="0" y="2465390"/>
            <a:ext cx="2709334"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s-MX" b="1" dirty="0" err="1">
                <a:solidFill>
                  <a:schemeClr val="accent5">
                    <a:lumMod val="50000"/>
                  </a:schemeClr>
                </a:solidFill>
              </a:rPr>
              <a:t>type</a:t>
            </a:r>
            <a:r>
              <a:rPr lang="es-MX" b="1" dirty="0">
                <a:solidFill>
                  <a:schemeClr val="accent5">
                    <a:lumMod val="50000"/>
                  </a:schemeClr>
                </a:solidFill>
              </a:rPr>
              <a:t> () </a:t>
            </a:r>
            <a:endParaRPr lang="es-MX" b="1" dirty="0">
              <a:solidFill>
                <a:schemeClr val="accent6">
                  <a:lumMod val="50000"/>
                </a:schemeClr>
              </a:solidFill>
            </a:endParaRPr>
          </a:p>
        </p:txBody>
      </p:sp>
      <p:sp>
        <p:nvSpPr>
          <p:cNvPr id="12" name="Google Shape;110;p20">
            <a:extLst>
              <a:ext uri="{FF2B5EF4-FFF2-40B4-BE49-F238E27FC236}">
                <a16:creationId xmlns:a16="http://schemas.microsoft.com/office/drawing/2014/main" id="{D4BDAC33-C07B-332B-9371-BAFC744B191E}"/>
              </a:ext>
            </a:extLst>
          </p:cNvPr>
          <p:cNvSpPr txBox="1">
            <a:spLocks/>
          </p:cNvSpPr>
          <p:nvPr/>
        </p:nvSpPr>
        <p:spPr>
          <a:xfrm>
            <a:off x="61066" y="3595217"/>
            <a:ext cx="2914333"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s-MX" sz="2700" b="1" dirty="0" err="1">
                <a:solidFill>
                  <a:schemeClr val="accent5">
                    <a:lumMod val="50000"/>
                  </a:schemeClr>
                </a:solidFill>
              </a:rPr>
              <a:t>Int</a:t>
            </a:r>
            <a:r>
              <a:rPr lang="es-MX" sz="2700" b="1" dirty="0">
                <a:solidFill>
                  <a:schemeClr val="accent5">
                    <a:lumMod val="50000"/>
                  </a:schemeClr>
                </a:solidFill>
              </a:rPr>
              <a:t> ( )</a:t>
            </a:r>
          </a:p>
          <a:p>
            <a:pPr algn="ctr"/>
            <a:r>
              <a:rPr lang="es-MX" sz="2700" b="1" dirty="0" err="1">
                <a:solidFill>
                  <a:schemeClr val="accent5">
                    <a:lumMod val="50000"/>
                  </a:schemeClr>
                </a:solidFill>
              </a:rPr>
              <a:t>float</a:t>
            </a:r>
            <a:r>
              <a:rPr lang="es-MX" sz="2700" b="1" dirty="0">
                <a:solidFill>
                  <a:schemeClr val="accent5">
                    <a:lumMod val="50000"/>
                  </a:schemeClr>
                </a:solidFill>
              </a:rPr>
              <a:t> ( )</a:t>
            </a:r>
          </a:p>
          <a:p>
            <a:pPr algn="ctr"/>
            <a:r>
              <a:rPr lang="es-MX" sz="2700" b="1" dirty="0" err="1">
                <a:solidFill>
                  <a:schemeClr val="accent5">
                    <a:lumMod val="50000"/>
                  </a:schemeClr>
                </a:solidFill>
              </a:rPr>
              <a:t>str</a:t>
            </a:r>
            <a:r>
              <a:rPr lang="es-MX" sz="2700" b="1" dirty="0">
                <a:solidFill>
                  <a:schemeClr val="accent5">
                    <a:lumMod val="50000"/>
                  </a:schemeClr>
                </a:solidFill>
              </a:rPr>
              <a:t> ( )</a:t>
            </a:r>
            <a:endParaRPr lang="es-MX" sz="2700" b="1" dirty="0">
              <a:solidFill>
                <a:schemeClr val="accent6">
                  <a:lumMod val="50000"/>
                </a:schemeClr>
              </a:solidFill>
            </a:endParaRPr>
          </a:p>
        </p:txBody>
      </p:sp>
      <p:sp>
        <p:nvSpPr>
          <p:cNvPr id="14" name="CuadroTexto 13">
            <a:extLst>
              <a:ext uri="{FF2B5EF4-FFF2-40B4-BE49-F238E27FC236}">
                <a16:creationId xmlns:a16="http://schemas.microsoft.com/office/drawing/2014/main" id="{7E03E7B8-3D3F-243D-01BA-0CF8653B78CD}"/>
              </a:ext>
            </a:extLst>
          </p:cNvPr>
          <p:cNvSpPr txBox="1"/>
          <p:nvPr/>
        </p:nvSpPr>
        <p:spPr>
          <a:xfrm>
            <a:off x="2201941" y="2634007"/>
            <a:ext cx="2956500" cy="461665"/>
          </a:xfrm>
          <a:prstGeom prst="rect">
            <a:avLst/>
          </a:prstGeom>
          <a:noFill/>
        </p:spPr>
        <p:txBody>
          <a:bodyPr wrap="square" rtlCol="0">
            <a:spAutoFit/>
          </a:bodyPr>
          <a:lstStyle/>
          <a:p>
            <a:pPr algn="just"/>
            <a:r>
              <a:rPr lang="es-MX" sz="1200" dirty="0"/>
              <a:t>Devuelve el tipo de dato de cualquier objeto que se le pase como argumento.</a:t>
            </a:r>
            <a:endParaRPr lang="es-CO" sz="1200" dirty="0"/>
          </a:p>
        </p:txBody>
      </p:sp>
      <p:sp>
        <p:nvSpPr>
          <p:cNvPr id="16" name="CuadroTexto 15">
            <a:extLst>
              <a:ext uri="{FF2B5EF4-FFF2-40B4-BE49-F238E27FC236}">
                <a16:creationId xmlns:a16="http://schemas.microsoft.com/office/drawing/2014/main" id="{2068C6A1-62A2-7C1F-0B1F-A37F17E80E8A}"/>
              </a:ext>
            </a:extLst>
          </p:cNvPr>
          <p:cNvSpPr txBox="1"/>
          <p:nvPr/>
        </p:nvSpPr>
        <p:spPr>
          <a:xfrm>
            <a:off x="2232999" y="1596456"/>
            <a:ext cx="2707215" cy="461665"/>
          </a:xfrm>
          <a:prstGeom prst="rect">
            <a:avLst/>
          </a:prstGeom>
          <a:noFill/>
        </p:spPr>
        <p:txBody>
          <a:bodyPr wrap="square" rtlCol="0">
            <a:spAutoFit/>
          </a:bodyPr>
          <a:lstStyle/>
          <a:p>
            <a:pPr algn="just"/>
            <a:r>
              <a:rPr lang="es-MX" sz="1200" dirty="0"/>
              <a:t>Imprime o muestra el valor del argumento establecido en la pantalla</a:t>
            </a:r>
            <a:endParaRPr lang="es-CO" sz="1200" dirty="0"/>
          </a:p>
        </p:txBody>
      </p:sp>
      <p:pic>
        <p:nvPicPr>
          <p:cNvPr id="3" name="Imagen 2">
            <a:extLst>
              <a:ext uri="{FF2B5EF4-FFF2-40B4-BE49-F238E27FC236}">
                <a16:creationId xmlns:a16="http://schemas.microsoft.com/office/drawing/2014/main" id="{DADB5C64-1B9B-1E5A-3D76-8271069263C6}"/>
              </a:ext>
            </a:extLst>
          </p:cNvPr>
          <p:cNvPicPr>
            <a:picLocks noChangeAspect="1"/>
          </p:cNvPicPr>
          <p:nvPr/>
        </p:nvPicPr>
        <p:blipFill>
          <a:blip r:embed="rId3"/>
          <a:stretch>
            <a:fillRect/>
          </a:stretch>
        </p:blipFill>
        <p:spPr>
          <a:xfrm>
            <a:off x="5454775" y="1611066"/>
            <a:ext cx="2219325" cy="304800"/>
          </a:xfrm>
          <a:prstGeom prst="rect">
            <a:avLst/>
          </a:prstGeom>
        </p:spPr>
      </p:pic>
      <p:pic>
        <p:nvPicPr>
          <p:cNvPr id="5" name="Imagen 4">
            <a:extLst>
              <a:ext uri="{FF2B5EF4-FFF2-40B4-BE49-F238E27FC236}">
                <a16:creationId xmlns:a16="http://schemas.microsoft.com/office/drawing/2014/main" id="{D9561CB4-59AD-D838-5F62-F21AB0D7B6B4}"/>
              </a:ext>
            </a:extLst>
          </p:cNvPr>
          <p:cNvPicPr>
            <a:picLocks noChangeAspect="1"/>
          </p:cNvPicPr>
          <p:nvPr/>
        </p:nvPicPr>
        <p:blipFill>
          <a:blip r:embed="rId4"/>
          <a:stretch>
            <a:fillRect/>
          </a:stretch>
        </p:blipFill>
        <p:spPr>
          <a:xfrm>
            <a:off x="5309658" y="2731489"/>
            <a:ext cx="3486150" cy="266700"/>
          </a:xfrm>
          <a:prstGeom prst="rect">
            <a:avLst/>
          </a:prstGeom>
        </p:spPr>
      </p:pic>
      <p:pic>
        <p:nvPicPr>
          <p:cNvPr id="9" name="Imagen 8">
            <a:extLst>
              <a:ext uri="{FF2B5EF4-FFF2-40B4-BE49-F238E27FC236}">
                <a16:creationId xmlns:a16="http://schemas.microsoft.com/office/drawing/2014/main" id="{52E51335-1E50-DA8D-FAE8-378ACD4DAEB7}"/>
              </a:ext>
            </a:extLst>
          </p:cNvPr>
          <p:cNvPicPr>
            <a:picLocks noChangeAspect="1"/>
          </p:cNvPicPr>
          <p:nvPr/>
        </p:nvPicPr>
        <p:blipFill>
          <a:blip r:embed="rId5"/>
          <a:stretch>
            <a:fillRect/>
          </a:stretch>
        </p:blipFill>
        <p:spPr>
          <a:xfrm>
            <a:off x="4338814" y="3595218"/>
            <a:ext cx="4644320" cy="222292"/>
          </a:xfrm>
          <a:prstGeom prst="rect">
            <a:avLst/>
          </a:prstGeom>
        </p:spPr>
      </p:pic>
      <p:pic>
        <p:nvPicPr>
          <p:cNvPr id="18" name="Imagen 17">
            <a:extLst>
              <a:ext uri="{FF2B5EF4-FFF2-40B4-BE49-F238E27FC236}">
                <a16:creationId xmlns:a16="http://schemas.microsoft.com/office/drawing/2014/main" id="{230CE4A9-1E24-77B2-3019-CADAC04DFF13}"/>
              </a:ext>
            </a:extLst>
          </p:cNvPr>
          <p:cNvPicPr>
            <a:picLocks noChangeAspect="1"/>
          </p:cNvPicPr>
          <p:nvPr/>
        </p:nvPicPr>
        <p:blipFill>
          <a:blip r:embed="rId6"/>
          <a:stretch>
            <a:fillRect/>
          </a:stretch>
        </p:blipFill>
        <p:spPr>
          <a:xfrm>
            <a:off x="4455901" y="4129383"/>
            <a:ext cx="4627033" cy="250863"/>
          </a:xfrm>
          <a:prstGeom prst="rect">
            <a:avLst/>
          </a:prstGeom>
        </p:spPr>
      </p:pic>
      <p:pic>
        <p:nvPicPr>
          <p:cNvPr id="20" name="Imagen 19">
            <a:extLst>
              <a:ext uri="{FF2B5EF4-FFF2-40B4-BE49-F238E27FC236}">
                <a16:creationId xmlns:a16="http://schemas.microsoft.com/office/drawing/2014/main" id="{E92A0831-E710-4616-E1E4-80CE8A9428CF}"/>
              </a:ext>
            </a:extLst>
          </p:cNvPr>
          <p:cNvPicPr>
            <a:picLocks noChangeAspect="1"/>
          </p:cNvPicPr>
          <p:nvPr/>
        </p:nvPicPr>
        <p:blipFill>
          <a:blip r:embed="rId7"/>
          <a:stretch>
            <a:fillRect/>
          </a:stretch>
        </p:blipFill>
        <p:spPr>
          <a:xfrm>
            <a:off x="4299233" y="4692120"/>
            <a:ext cx="4683901" cy="221006"/>
          </a:xfrm>
          <a:prstGeom prst="rect">
            <a:avLst/>
          </a:prstGeom>
        </p:spPr>
      </p:pic>
    </p:spTree>
    <p:extLst>
      <p:ext uri="{BB962C8B-B14F-4D97-AF65-F5344CB8AC3E}">
        <p14:creationId xmlns:p14="http://schemas.microsoft.com/office/powerpoint/2010/main" val="28625671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2"/>
          <p:cNvSpPr txBox="1">
            <a:spLocks noGrp="1"/>
          </p:cNvSpPr>
          <p:nvPr>
            <p:ph type="title"/>
          </p:nvPr>
        </p:nvSpPr>
        <p:spPr>
          <a:xfrm>
            <a:off x="4294100" y="931300"/>
            <a:ext cx="22125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b="1"/>
              <a:t>Suma</a:t>
            </a:r>
            <a:endParaRPr b="1"/>
          </a:p>
        </p:txBody>
      </p:sp>
      <p:sp>
        <p:nvSpPr>
          <p:cNvPr id="135" name="Google Shape;135;p22"/>
          <p:cNvSpPr txBox="1">
            <a:spLocks noGrp="1"/>
          </p:cNvSpPr>
          <p:nvPr>
            <p:ph type="title"/>
          </p:nvPr>
        </p:nvSpPr>
        <p:spPr>
          <a:xfrm>
            <a:off x="2150678" y="1047100"/>
            <a:ext cx="26835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t>Multiplicación</a:t>
            </a:r>
            <a:endParaRPr b="1"/>
          </a:p>
        </p:txBody>
      </p:sp>
      <p:sp>
        <p:nvSpPr>
          <p:cNvPr id="136" name="Google Shape;136;p22"/>
          <p:cNvSpPr txBox="1">
            <a:spLocks noGrp="1"/>
          </p:cNvSpPr>
          <p:nvPr>
            <p:ph type="title"/>
          </p:nvPr>
        </p:nvSpPr>
        <p:spPr>
          <a:xfrm>
            <a:off x="4312662" y="2935950"/>
            <a:ext cx="1344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t>Resta</a:t>
            </a:r>
            <a:endParaRPr b="1"/>
          </a:p>
        </p:txBody>
      </p:sp>
      <p:sp>
        <p:nvSpPr>
          <p:cNvPr id="137" name="Google Shape;137;p22"/>
          <p:cNvSpPr txBox="1">
            <a:spLocks noGrp="1"/>
          </p:cNvSpPr>
          <p:nvPr>
            <p:ph type="title"/>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138" name="Google Shape;138;p22"/>
          <p:cNvSpPr txBox="1"/>
          <p:nvPr/>
        </p:nvSpPr>
        <p:spPr>
          <a:xfrm>
            <a:off x="2403200" y="406275"/>
            <a:ext cx="2956500" cy="400200"/>
          </a:xfrm>
          <a:prstGeom prst="rect">
            <a:avLst/>
          </a:prstGeom>
          <a:solidFill>
            <a:schemeClr val="accen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a:solidFill>
                  <a:schemeClr val="lt1"/>
                </a:solidFill>
              </a:rPr>
              <a:t>operadores</a:t>
            </a:r>
            <a:endParaRPr b="1">
              <a:solidFill>
                <a:schemeClr val="lt1"/>
              </a:solidFill>
            </a:endParaRPr>
          </a:p>
        </p:txBody>
      </p:sp>
      <p:pic>
        <p:nvPicPr>
          <p:cNvPr id="139" name="Google Shape;139;p22"/>
          <p:cNvPicPr preferRelativeResize="0"/>
          <p:nvPr/>
        </p:nvPicPr>
        <p:blipFill>
          <a:blip r:embed="rId3">
            <a:alphaModFix/>
          </a:blip>
          <a:stretch>
            <a:fillRect/>
          </a:stretch>
        </p:blipFill>
        <p:spPr>
          <a:xfrm>
            <a:off x="4600250" y="1554825"/>
            <a:ext cx="1600200" cy="1381125"/>
          </a:xfrm>
          <a:prstGeom prst="rect">
            <a:avLst/>
          </a:prstGeom>
          <a:noFill/>
          <a:ln w="9525" cap="flat" cmpd="sng">
            <a:solidFill>
              <a:schemeClr val="dk1"/>
            </a:solidFill>
            <a:prstDash val="solid"/>
            <a:round/>
            <a:headEnd type="none" w="sm" len="sm"/>
            <a:tailEnd type="none" w="sm" len="sm"/>
          </a:ln>
        </p:spPr>
      </p:pic>
      <p:pic>
        <p:nvPicPr>
          <p:cNvPr id="140" name="Google Shape;140;p22"/>
          <p:cNvPicPr preferRelativeResize="0"/>
          <p:nvPr/>
        </p:nvPicPr>
        <p:blipFill>
          <a:blip r:embed="rId4">
            <a:alphaModFix/>
          </a:blip>
          <a:stretch>
            <a:fillRect/>
          </a:stretch>
        </p:blipFill>
        <p:spPr>
          <a:xfrm>
            <a:off x="4294088" y="3572500"/>
            <a:ext cx="1381125" cy="1323975"/>
          </a:xfrm>
          <a:prstGeom prst="rect">
            <a:avLst/>
          </a:prstGeom>
          <a:noFill/>
          <a:ln w="9525" cap="flat" cmpd="sng">
            <a:solidFill>
              <a:schemeClr val="dk1"/>
            </a:solidFill>
            <a:prstDash val="solid"/>
            <a:round/>
            <a:headEnd type="none" w="sm" len="sm"/>
            <a:tailEnd type="none" w="sm" len="sm"/>
          </a:ln>
        </p:spPr>
      </p:pic>
      <p:pic>
        <p:nvPicPr>
          <p:cNvPr id="141" name="Google Shape;141;p22"/>
          <p:cNvPicPr preferRelativeResize="0"/>
          <p:nvPr/>
        </p:nvPicPr>
        <p:blipFill>
          <a:blip r:embed="rId5">
            <a:alphaModFix/>
          </a:blip>
          <a:stretch>
            <a:fillRect/>
          </a:stretch>
        </p:blipFill>
        <p:spPr>
          <a:xfrm>
            <a:off x="2237963" y="1573175"/>
            <a:ext cx="2095500" cy="1304925"/>
          </a:xfrm>
          <a:prstGeom prst="rect">
            <a:avLst/>
          </a:prstGeom>
          <a:noFill/>
          <a:ln w="9525" cap="flat" cmpd="sng">
            <a:solidFill>
              <a:schemeClr val="dk1"/>
            </a:solidFill>
            <a:prstDash val="solid"/>
            <a:round/>
            <a:headEnd type="none" w="sm" len="sm"/>
            <a:tailEnd type="none" w="sm" len="sm"/>
          </a:ln>
        </p:spPr>
      </p:pic>
      <p:pic>
        <p:nvPicPr>
          <p:cNvPr id="142" name="Google Shape;142;p22"/>
          <p:cNvPicPr preferRelativeResize="0"/>
          <p:nvPr/>
        </p:nvPicPr>
        <p:blipFill>
          <a:blip r:embed="rId6">
            <a:alphaModFix/>
          </a:blip>
          <a:stretch>
            <a:fillRect/>
          </a:stretch>
        </p:blipFill>
        <p:spPr>
          <a:xfrm>
            <a:off x="2495150" y="3488900"/>
            <a:ext cx="1581150" cy="1371600"/>
          </a:xfrm>
          <a:prstGeom prst="rect">
            <a:avLst/>
          </a:prstGeom>
          <a:noFill/>
          <a:ln w="9525" cap="flat" cmpd="sng">
            <a:solidFill>
              <a:schemeClr val="dk1"/>
            </a:solidFill>
            <a:prstDash val="solid"/>
            <a:round/>
            <a:headEnd type="none" w="sm" len="sm"/>
            <a:tailEnd type="none" w="sm" len="sm"/>
          </a:ln>
        </p:spPr>
      </p:pic>
      <p:pic>
        <p:nvPicPr>
          <p:cNvPr id="143" name="Google Shape;143;p22"/>
          <p:cNvPicPr preferRelativeResize="0"/>
          <p:nvPr/>
        </p:nvPicPr>
        <p:blipFill>
          <a:blip r:embed="rId7">
            <a:alphaModFix/>
          </a:blip>
          <a:stretch>
            <a:fillRect/>
          </a:stretch>
        </p:blipFill>
        <p:spPr>
          <a:xfrm>
            <a:off x="169450" y="2381950"/>
            <a:ext cx="1857375" cy="1352550"/>
          </a:xfrm>
          <a:prstGeom prst="rect">
            <a:avLst/>
          </a:prstGeom>
          <a:noFill/>
          <a:ln w="9525" cap="flat" cmpd="sng">
            <a:solidFill>
              <a:schemeClr val="dk1"/>
            </a:solidFill>
            <a:prstDash val="solid"/>
            <a:round/>
            <a:headEnd type="none" w="sm" len="sm"/>
            <a:tailEnd type="none" w="sm" len="sm"/>
          </a:ln>
        </p:spPr>
      </p:pic>
      <p:sp>
        <p:nvSpPr>
          <p:cNvPr id="144" name="Google Shape;144;p22"/>
          <p:cNvSpPr txBox="1">
            <a:spLocks noGrp="1"/>
          </p:cNvSpPr>
          <p:nvPr>
            <p:ph type="title"/>
          </p:nvPr>
        </p:nvSpPr>
        <p:spPr>
          <a:xfrm>
            <a:off x="2590526" y="2916188"/>
            <a:ext cx="16635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t>División</a:t>
            </a:r>
            <a:endParaRPr b="1"/>
          </a:p>
        </p:txBody>
      </p:sp>
      <p:sp>
        <p:nvSpPr>
          <p:cNvPr id="145" name="Google Shape;145;p22"/>
          <p:cNvSpPr txBox="1">
            <a:spLocks noGrp="1"/>
          </p:cNvSpPr>
          <p:nvPr>
            <p:ph type="title"/>
          </p:nvPr>
        </p:nvSpPr>
        <p:spPr>
          <a:xfrm>
            <a:off x="244826" y="1735250"/>
            <a:ext cx="17820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t>Potencia</a:t>
            </a:r>
            <a:endParaRPr b="1"/>
          </a:p>
        </p:txBody>
      </p:sp>
      <p:pic>
        <p:nvPicPr>
          <p:cNvPr id="146" name="Google Shape;146;p22"/>
          <p:cNvPicPr preferRelativeResize="0"/>
          <p:nvPr/>
        </p:nvPicPr>
        <p:blipFill>
          <a:blip r:embed="rId8">
            <a:alphaModFix/>
          </a:blip>
          <a:stretch>
            <a:fillRect/>
          </a:stretch>
        </p:blipFill>
        <p:spPr>
          <a:xfrm>
            <a:off x="6467223" y="2329873"/>
            <a:ext cx="2474525" cy="1745350"/>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FE3470-0637-6248-0D54-BCC1E585EAEA}"/>
              </a:ext>
            </a:extLst>
          </p:cNvPr>
          <p:cNvSpPr>
            <a:spLocks noGrp="1"/>
          </p:cNvSpPr>
          <p:nvPr>
            <p:ph type="title"/>
          </p:nvPr>
        </p:nvSpPr>
        <p:spPr>
          <a:xfrm>
            <a:off x="311700" y="0"/>
            <a:ext cx="8520600" cy="1017725"/>
          </a:xfrm>
        </p:spPr>
        <p:txBody>
          <a:bodyPr>
            <a:normAutofit fontScale="90000"/>
          </a:bodyPr>
          <a:lstStyle/>
          <a:p>
            <a:pPr algn="ctr"/>
            <a:r>
              <a:rPr lang="es-MX" sz="6000" b="1" dirty="0">
                <a:solidFill>
                  <a:schemeClr val="accent1">
                    <a:lumMod val="50000"/>
                  </a:schemeClr>
                </a:solidFill>
                <a:latin typeface="Aharoni" panose="02010803020104030203" pitchFamily="2" charset="-79"/>
                <a:cs typeface="Aharoni" panose="02010803020104030203" pitchFamily="2" charset="-79"/>
              </a:rPr>
              <a:t>Ejercicio 2</a:t>
            </a:r>
            <a:r>
              <a:rPr lang="es-MX" sz="6000" b="1" dirty="0">
                <a:solidFill>
                  <a:schemeClr val="accent1">
                    <a:lumMod val="50000"/>
                  </a:schemeClr>
                </a:solidFill>
              </a:rPr>
              <a:t>	 </a:t>
            </a:r>
            <a:endParaRPr lang="es-CO" sz="6000" b="1" dirty="0">
              <a:solidFill>
                <a:schemeClr val="accent1">
                  <a:lumMod val="50000"/>
                </a:schemeClr>
              </a:solidFill>
            </a:endParaRPr>
          </a:p>
        </p:txBody>
      </p:sp>
      <p:sp>
        <p:nvSpPr>
          <p:cNvPr id="3" name="Marcador de texto 2">
            <a:extLst>
              <a:ext uri="{FF2B5EF4-FFF2-40B4-BE49-F238E27FC236}">
                <a16:creationId xmlns:a16="http://schemas.microsoft.com/office/drawing/2014/main" id="{E05D03D6-0CF6-70DE-75CF-6B871E1789AE}"/>
              </a:ext>
            </a:extLst>
          </p:cNvPr>
          <p:cNvSpPr>
            <a:spLocks noGrp="1"/>
          </p:cNvSpPr>
          <p:nvPr>
            <p:ph type="body" idx="1"/>
          </p:nvPr>
        </p:nvSpPr>
        <p:spPr/>
        <p:txBody>
          <a:bodyPr/>
          <a:lstStyle/>
          <a:p>
            <a:pPr>
              <a:buFont typeface="+mj-lt"/>
              <a:buAutoNum type="arabicPeriod"/>
            </a:pPr>
            <a:r>
              <a:rPr lang="es-MX" b="1" dirty="0">
                <a:solidFill>
                  <a:schemeClr val="tx1"/>
                </a:solidFill>
              </a:rPr>
              <a:t>Crear 5 variables con la información de su nombre, apellidos, edad, promedio acumulado, sexo biológico</a:t>
            </a:r>
          </a:p>
          <a:p>
            <a:pPr>
              <a:buFont typeface="+mj-lt"/>
              <a:buAutoNum type="arabicPeriod"/>
            </a:pPr>
            <a:endParaRPr lang="es-MX" b="1" dirty="0">
              <a:solidFill>
                <a:schemeClr val="tx1"/>
              </a:solidFill>
            </a:endParaRPr>
          </a:p>
          <a:p>
            <a:pPr>
              <a:buFont typeface="+mj-lt"/>
              <a:buAutoNum type="arabicPeriod"/>
            </a:pPr>
            <a:r>
              <a:rPr lang="es-MX" b="1" dirty="0">
                <a:solidFill>
                  <a:schemeClr val="tx1"/>
                </a:solidFill>
              </a:rPr>
              <a:t>Cree un programa que imprima la edad que tendrás en 5 años, considerando la edad actual con un mensaje. </a:t>
            </a:r>
            <a:r>
              <a:rPr lang="es-MX" b="1" dirty="0">
                <a:solidFill>
                  <a:schemeClr val="accent5"/>
                </a:solidFill>
              </a:rPr>
              <a:t>Tendrás en 5 años</a:t>
            </a:r>
            <a:r>
              <a:rPr lang="es-MX" b="1" dirty="0">
                <a:solidFill>
                  <a:schemeClr val="tx1"/>
                </a:solidFill>
              </a:rPr>
              <a:t> … </a:t>
            </a:r>
          </a:p>
          <a:p>
            <a:pPr>
              <a:buFont typeface="+mj-lt"/>
              <a:buAutoNum type="arabicPeriod"/>
            </a:pPr>
            <a:endParaRPr lang="es-MX" b="1" dirty="0">
              <a:solidFill>
                <a:schemeClr val="tx1"/>
              </a:solidFill>
            </a:endParaRPr>
          </a:p>
          <a:p>
            <a:pPr>
              <a:buFont typeface="+mj-lt"/>
              <a:buAutoNum type="arabicPeriod"/>
            </a:pPr>
            <a:r>
              <a:rPr lang="es-MX" b="1" dirty="0">
                <a:solidFill>
                  <a:schemeClr val="tx1"/>
                </a:solidFill>
              </a:rPr>
              <a:t>Describir el programa a través de comentarios</a:t>
            </a:r>
          </a:p>
          <a:p>
            <a:pPr>
              <a:buFont typeface="+mj-lt"/>
              <a:buAutoNum type="arabicPeriod"/>
            </a:pPr>
            <a:endParaRPr lang="es-CO" b="1" dirty="0">
              <a:solidFill>
                <a:schemeClr val="tx1"/>
              </a:solidFill>
            </a:endParaRPr>
          </a:p>
        </p:txBody>
      </p:sp>
      <p:pic>
        <p:nvPicPr>
          <p:cNvPr id="7170" name="Picture 2" descr="Gifs animados de informática | E cards, I love you images, Free animated  gifs">
            <a:extLst>
              <a:ext uri="{FF2B5EF4-FFF2-40B4-BE49-F238E27FC236}">
                <a16:creationId xmlns:a16="http://schemas.microsoft.com/office/drawing/2014/main" id="{D7C67253-520A-F5EC-5553-D78B442D7E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0414" y="2860675"/>
            <a:ext cx="1990346" cy="2236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45213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3"/>
          <p:cNvSpPr txBox="1">
            <a:spLocks noGrp="1"/>
          </p:cNvSpPr>
          <p:nvPr>
            <p:ph type="title"/>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152" name="Google Shape;152;p23"/>
          <p:cNvSpPr txBox="1"/>
          <p:nvPr/>
        </p:nvSpPr>
        <p:spPr>
          <a:xfrm>
            <a:off x="2498275" y="492725"/>
            <a:ext cx="2956500" cy="400200"/>
          </a:xfrm>
          <a:prstGeom prst="rect">
            <a:avLst/>
          </a:prstGeom>
          <a:solidFill>
            <a:srgbClr val="38761D"/>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a:solidFill>
                  <a:schemeClr val="lt1"/>
                </a:solidFill>
              </a:rPr>
              <a:t>expresiones</a:t>
            </a:r>
            <a:endParaRPr b="1">
              <a:solidFill>
                <a:schemeClr val="lt1"/>
              </a:solidFill>
            </a:endParaRPr>
          </a:p>
        </p:txBody>
      </p:sp>
      <p:pic>
        <p:nvPicPr>
          <p:cNvPr id="153" name="Google Shape;153;p23"/>
          <p:cNvPicPr preferRelativeResize="0"/>
          <p:nvPr/>
        </p:nvPicPr>
        <p:blipFill>
          <a:blip r:embed="rId3">
            <a:alphaModFix/>
          </a:blip>
          <a:stretch>
            <a:fillRect/>
          </a:stretch>
        </p:blipFill>
        <p:spPr>
          <a:xfrm>
            <a:off x="135100" y="1165275"/>
            <a:ext cx="3936475" cy="1406475"/>
          </a:xfrm>
          <a:prstGeom prst="rect">
            <a:avLst/>
          </a:prstGeom>
          <a:noFill/>
          <a:ln w="9525" cap="flat" cmpd="sng">
            <a:solidFill>
              <a:schemeClr val="dk1"/>
            </a:solidFill>
            <a:prstDash val="solid"/>
            <a:round/>
            <a:headEnd type="none" w="sm" len="sm"/>
            <a:tailEnd type="none" w="sm" len="sm"/>
          </a:ln>
        </p:spPr>
      </p:pic>
      <p:pic>
        <p:nvPicPr>
          <p:cNvPr id="154" name="Google Shape;154;p23"/>
          <p:cNvPicPr preferRelativeResize="0"/>
          <p:nvPr/>
        </p:nvPicPr>
        <p:blipFill>
          <a:blip r:embed="rId4">
            <a:alphaModFix/>
          </a:blip>
          <a:stretch>
            <a:fillRect/>
          </a:stretch>
        </p:blipFill>
        <p:spPr>
          <a:xfrm>
            <a:off x="4725350" y="1928850"/>
            <a:ext cx="3124200" cy="1381125"/>
          </a:xfrm>
          <a:prstGeom prst="rect">
            <a:avLst/>
          </a:prstGeom>
          <a:noFill/>
          <a:ln w="9525" cap="flat" cmpd="sng">
            <a:solidFill>
              <a:schemeClr val="dk1"/>
            </a:solidFill>
            <a:prstDash val="solid"/>
            <a:round/>
            <a:headEnd type="none" w="sm" len="sm"/>
            <a:tailEnd type="none" w="sm" len="sm"/>
          </a:ln>
        </p:spPr>
      </p:pic>
      <p:pic>
        <p:nvPicPr>
          <p:cNvPr id="155" name="Google Shape;155;p23"/>
          <p:cNvPicPr preferRelativeResize="0"/>
          <p:nvPr/>
        </p:nvPicPr>
        <p:blipFill>
          <a:blip r:embed="rId5">
            <a:alphaModFix/>
          </a:blip>
          <a:stretch>
            <a:fillRect/>
          </a:stretch>
        </p:blipFill>
        <p:spPr>
          <a:xfrm>
            <a:off x="2975388" y="3579875"/>
            <a:ext cx="6029325" cy="1428750"/>
          </a:xfrm>
          <a:prstGeom prst="rect">
            <a:avLst/>
          </a:prstGeom>
          <a:noFill/>
          <a:ln w="9525" cap="flat" cmpd="sng">
            <a:solidFill>
              <a:schemeClr val="dk1"/>
            </a:solidFill>
            <a:prstDash val="solid"/>
            <a:round/>
            <a:headEnd type="none" w="sm" len="sm"/>
            <a:tailEnd type="none" w="sm" len="sm"/>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50"/>
        <p:cNvGrpSpPr/>
        <p:nvPr/>
      </p:nvGrpSpPr>
      <p:grpSpPr>
        <a:xfrm>
          <a:off x="0" y="0"/>
          <a:ext cx="0" cy="0"/>
          <a:chOff x="0" y="0"/>
          <a:chExt cx="0" cy="0"/>
        </a:xfrm>
      </p:grpSpPr>
      <p:sp>
        <p:nvSpPr>
          <p:cNvPr id="151" name="Google Shape;151;p23"/>
          <p:cNvSpPr txBox="1">
            <a:spLocks noGrp="1"/>
          </p:cNvSpPr>
          <p:nvPr>
            <p:ph type="title"/>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152" name="Google Shape;152;p23"/>
          <p:cNvSpPr txBox="1"/>
          <p:nvPr/>
        </p:nvSpPr>
        <p:spPr>
          <a:xfrm>
            <a:off x="165273" y="1381488"/>
            <a:ext cx="1731893" cy="400200"/>
          </a:xfrm>
          <a:prstGeom prst="rect">
            <a:avLst/>
          </a:prstGeom>
          <a:solidFill>
            <a:schemeClr val="accent5">
              <a:lumMod val="75000"/>
            </a:schemeClr>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dirty="0">
                <a:solidFill>
                  <a:schemeClr val="lt1"/>
                </a:solidFill>
              </a:rPr>
              <a:t>Lista</a:t>
            </a:r>
            <a:endParaRPr b="1" dirty="0">
              <a:solidFill>
                <a:schemeClr val="lt1"/>
              </a:solidFill>
            </a:endParaRPr>
          </a:p>
        </p:txBody>
      </p:sp>
      <p:sp>
        <p:nvSpPr>
          <p:cNvPr id="4" name="Google Shape;152;p23">
            <a:extLst>
              <a:ext uri="{FF2B5EF4-FFF2-40B4-BE49-F238E27FC236}">
                <a16:creationId xmlns:a16="http://schemas.microsoft.com/office/drawing/2014/main" id="{6A29B943-7CAC-EF5B-BB07-B3CF142DCC19}"/>
              </a:ext>
            </a:extLst>
          </p:cNvPr>
          <p:cNvSpPr txBox="1"/>
          <p:nvPr/>
        </p:nvSpPr>
        <p:spPr>
          <a:xfrm>
            <a:off x="78391" y="2823536"/>
            <a:ext cx="1731893" cy="400200"/>
          </a:xfrm>
          <a:prstGeom prst="rect">
            <a:avLst/>
          </a:prstGeom>
          <a:solidFill>
            <a:schemeClr val="accent5">
              <a:lumMod val="75000"/>
            </a:schemeClr>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CO" b="1" dirty="0">
                <a:solidFill>
                  <a:schemeClr val="lt1"/>
                </a:solidFill>
              </a:rPr>
              <a:t>Tupla</a:t>
            </a:r>
          </a:p>
        </p:txBody>
      </p:sp>
      <p:sp>
        <p:nvSpPr>
          <p:cNvPr id="5" name="Google Shape;152;p23">
            <a:extLst>
              <a:ext uri="{FF2B5EF4-FFF2-40B4-BE49-F238E27FC236}">
                <a16:creationId xmlns:a16="http://schemas.microsoft.com/office/drawing/2014/main" id="{13CCADFB-6D57-3959-84B8-3D32159B32EC}"/>
              </a:ext>
            </a:extLst>
          </p:cNvPr>
          <p:cNvSpPr txBox="1"/>
          <p:nvPr/>
        </p:nvSpPr>
        <p:spPr>
          <a:xfrm>
            <a:off x="263495" y="4179779"/>
            <a:ext cx="1731893" cy="400200"/>
          </a:xfrm>
          <a:prstGeom prst="rect">
            <a:avLst/>
          </a:prstGeom>
          <a:solidFill>
            <a:schemeClr val="accent5">
              <a:lumMod val="75000"/>
            </a:schemeClr>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dirty="0">
                <a:solidFill>
                  <a:schemeClr val="lt1"/>
                </a:solidFill>
              </a:rPr>
              <a:t>Conjunto</a:t>
            </a:r>
            <a:endParaRPr b="1" dirty="0">
              <a:solidFill>
                <a:schemeClr val="lt1"/>
              </a:solidFill>
            </a:endParaRPr>
          </a:p>
        </p:txBody>
      </p:sp>
      <p:sp>
        <p:nvSpPr>
          <p:cNvPr id="7" name="CuadroTexto 6">
            <a:extLst>
              <a:ext uri="{FF2B5EF4-FFF2-40B4-BE49-F238E27FC236}">
                <a16:creationId xmlns:a16="http://schemas.microsoft.com/office/drawing/2014/main" id="{6A39F5D5-E70C-9F52-7DE6-8BF1BF81DF7A}"/>
              </a:ext>
            </a:extLst>
          </p:cNvPr>
          <p:cNvSpPr txBox="1"/>
          <p:nvPr/>
        </p:nvSpPr>
        <p:spPr>
          <a:xfrm>
            <a:off x="2224809" y="1364611"/>
            <a:ext cx="1777581" cy="338554"/>
          </a:xfrm>
          <a:prstGeom prst="rect">
            <a:avLst/>
          </a:prstGeom>
          <a:noFill/>
        </p:spPr>
        <p:txBody>
          <a:bodyPr wrap="square">
            <a:spAutoFit/>
          </a:bodyPr>
          <a:lstStyle/>
          <a:p>
            <a:r>
              <a:rPr lang="es-CO" sz="1600" b="0" i="0" dirty="0" err="1">
                <a:solidFill>
                  <a:schemeClr val="tx1"/>
                </a:solidFill>
                <a:effectLst/>
                <a:latin typeface="Söhne Mono"/>
              </a:rPr>
              <a:t>mi_lista</a:t>
            </a:r>
            <a:r>
              <a:rPr lang="es-CO" sz="1600" b="0" i="0" dirty="0">
                <a:solidFill>
                  <a:schemeClr val="tx1"/>
                </a:solidFill>
                <a:effectLst/>
                <a:latin typeface="Söhne Mono"/>
              </a:rPr>
              <a:t> = </a:t>
            </a:r>
            <a:r>
              <a:rPr lang="es-CO" sz="1600" b="0" i="0" dirty="0">
                <a:solidFill>
                  <a:schemeClr val="accent5"/>
                </a:solidFill>
                <a:effectLst/>
                <a:latin typeface="Söhne Mono"/>
              </a:rPr>
              <a:t>[</a:t>
            </a:r>
            <a:r>
              <a:rPr lang="es-CO" sz="1600" b="0" i="0" dirty="0">
                <a:solidFill>
                  <a:schemeClr val="tx1"/>
                </a:solidFill>
                <a:effectLst/>
                <a:latin typeface="Söhne Mono"/>
              </a:rPr>
              <a:t>1, 2, 3</a:t>
            </a:r>
            <a:r>
              <a:rPr lang="es-CO" sz="1600" b="0" i="0" dirty="0">
                <a:solidFill>
                  <a:schemeClr val="accent5"/>
                </a:solidFill>
                <a:effectLst/>
                <a:latin typeface="Söhne Mono"/>
              </a:rPr>
              <a:t>]</a:t>
            </a:r>
            <a:r>
              <a:rPr lang="es-CO" sz="1600" b="0" i="0" dirty="0">
                <a:solidFill>
                  <a:schemeClr val="tx1"/>
                </a:solidFill>
                <a:effectLst/>
                <a:latin typeface="Söhne Mono"/>
              </a:rPr>
              <a:t> </a:t>
            </a:r>
            <a:endParaRPr lang="es-CO" sz="1600" dirty="0">
              <a:solidFill>
                <a:schemeClr val="tx1"/>
              </a:solidFill>
            </a:endParaRPr>
          </a:p>
        </p:txBody>
      </p:sp>
      <p:sp>
        <p:nvSpPr>
          <p:cNvPr id="9" name="CuadroTexto 8">
            <a:extLst>
              <a:ext uri="{FF2B5EF4-FFF2-40B4-BE49-F238E27FC236}">
                <a16:creationId xmlns:a16="http://schemas.microsoft.com/office/drawing/2014/main" id="{82FAF85D-8250-ADD6-1026-1F1EC4598B74}"/>
              </a:ext>
            </a:extLst>
          </p:cNvPr>
          <p:cNvSpPr txBox="1"/>
          <p:nvPr/>
        </p:nvSpPr>
        <p:spPr>
          <a:xfrm>
            <a:off x="2106263" y="2823536"/>
            <a:ext cx="2014672" cy="584775"/>
          </a:xfrm>
          <a:prstGeom prst="rect">
            <a:avLst/>
          </a:prstGeom>
          <a:noFill/>
        </p:spPr>
        <p:txBody>
          <a:bodyPr wrap="square">
            <a:spAutoFit/>
          </a:bodyPr>
          <a:lstStyle/>
          <a:p>
            <a:r>
              <a:rPr lang="es-CO" sz="1600" b="0" i="0" dirty="0" err="1">
                <a:solidFill>
                  <a:schemeClr val="tx1"/>
                </a:solidFill>
                <a:effectLst/>
                <a:latin typeface="Söhne Mono"/>
              </a:rPr>
              <a:t>mi_tupla</a:t>
            </a:r>
            <a:r>
              <a:rPr lang="es-CO" sz="1600" b="0" i="0" dirty="0">
                <a:solidFill>
                  <a:schemeClr val="tx1"/>
                </a:solidFill>
                <a:effectLst/>
                <a:latin typeface="Söhne Mono"/>
              </a:rPr>
              <a:t> = </a:t>
            </a:r>
            <a:r>
              <a:rPr lang="es-CO" sz="1600" b="0" i="0" dirty="0">
                <a:solidFill>
                  <a:srgbClr val="C00000"/>
                </a:solidFill>
                <a:effectLst/>
                <a:latin typeface="Söhne Mono"/>
              </a:rPr>
              <a:t>(</a:t>
            </a:r>
            <a:r>
              <a:rPr lang="es-CO" sz="1600" b="0" i="0" dirty="0">
                <a:solidFill>
                  <a:schemeClr val="tx1"/>
                </a:solidFill>
                <a:effectLst/>
                <a:latin typeface="Söhne Mono"/>
              </a:rPr>
              <a:t>1, 2, 3</a:t>
            </a:r>
            <a:r>
              <a:rPr lang="es-CO" sz="1600" b="0" i="0" dirty="0">
                <a:solidFill>
                  <a:srgbClr val="C00000"/>
                </a:solidFill>
                <a:effectLst/>
                <a:latin typeface="Söhne Mono"/>
              </a:rPr>
              <a:t>)</a:t>
            </a:r>
            <a:r>
              <a:rPr lang="es-CO" sz="1600" b="0" i="0" dirty="0">
                <a:solidFill>
                  <a:schemeClr val="tx1"/>
                </a:solidFill>
                <a:effectLst/>
                <a:latin typeface="Söhne Mono"/>
              </a:rPr>
              <a:t> </a:t>
            </a:r>
            <a:br>
              <a:rPr lang="es-CO" sz="1600" dirty="0">
                <a:solidFill>
                  <a:schemeClr val="tx1"/>
                </a:solidFill>
              </a:rPr>
            </a:br>
            <a:endParaRPr lang="es-CO" sz="1600" dirty="0">
              <a:solidFill>
                <a:schemeClr val="tx1"/>
              </a:solidFill>
            </a:endParaRPr>
          </a:p>
        </p:txBody>
      </p:sp>
      <p:sp>
        <p:nvSpPr>
          <p:cNvPr id="8" name="Rectangle 3">
            <a:extLst>
              <a:ext uri="{FF2B5EF4-FFF2-40B4-BE49-F238E27FC236}">
                <a16:creationId xmlns:a16="http://schemas.microsoft.com/office/drawing/2014/main" id="{1AA52C36-CDD4-324E-1AB8-7AE1F82786B3}"/>
              </a:ext>
            </a:extLst>
          </p:cNvPr>
          <p:cNvSpPr>
            <a:spLocks noChangeArrowheads="1"/>
          </p:cNvSpPr>
          <p:nvPr/>
        </p:nvSpPr>
        <p:spPr bwMode="auto">
          <a:xfrm>
            <a:off x="2353654" y="4179779"/>
            <a:ext cx="2014672" cy="8002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1600" b="0" i="0" u="none" strike="noStrike" cap="none" normalizeH="0" baseline="0" dirty="0" err="1">
                <a:ln>
                  <a:noFill/>
                </a:ln>
                <a:solidFill>
                  <a:schemeClr val="tx1"/>
                </a:solidFill>
                <a:effectLst/>
                <a:latin typeface="inherit"/>
              </a:rPr>
              <a:t>mi_conjunto</a:t>
            </a:r>
            <a:r>
              <a:rPr kumimoji="0" lang="es-CO" altLang="es-CO" sz="1600" b="0" i="0" u="none" strike="noStrike" cap="none" normalizeH="0" baseline="0" dirty="0">
                <a:ln>
                  <a:noFill/>
                </a:ln>
                <a:solidFill>
                  <a:schemeClr val="tx1"/>
                </a:solidFill>
                <a:effectLst/>
                <a:latin typeface="inherit"/>
              </a:rPr>
              <a:t> = </a:t>
            </a:r>
            <a:r>
              <a:rPr kumimoji="0" lang="es-CO" altLang="es-CO" sz="1600" b="0" i="0" u="none" strike="noStrike" cap="none" normalizeH="0" baseline="0" dirty="0">
                <a:ln>
                  <a:noFill/>
                </a:ln>
                <a:solidFill>
                  <a:srgbClr val="7030A0"/>
                </a:solidFill>
                <a:effectLst/>
                <a:latin typeface="inherit"/>
              </a:rPr>
              <a:t>{</a:t>
            </a:r>
            <a:r>
              <a:rPr kumimoji="0" lang="es-CO" altLang="es-CO" sz="1600" b="0" i="0" u="none" strike="noStrike" cap="none" normalizeH="0" baseline="0" dirty="0">
                <a:ln>
                  <a:noFill/>
                </a:ln>
                <a:solidFill>
                  <a:schemeClr val="tx1"/>
                </a:solidFill>
                <a:effectLst/>
                <a:latin typeface="inherit"/>
              </a:rPr>
              <a:t>1, 2, 3</a:t>
            </a:r>
            <a:r>
              <a:rPr kumimoji="0" lang="es-CO" altLang="es-CO" sz="1600" b="0" i="0" u="none" strike="noStrike" cap="none" normalizeH="0" baseline="0" dirty="0">
                <a:ln>
                  <a:noFill/>
                </a:ln>
                <a:solidFill>
                  <a:srgbClr val="7030A0"/>
                </a:solidFill>
                <a:effectLst/>
                <a:latin typeface="inherit"/>
              </a:rPr>
              <a:t>}</a:t>
            </a:r>
            <a:r>
              <a:rPr kumimoji="0" lang="es-CO" altLang="es-CO" sz="1600" b="0" i="0" u="none" strike="noStrike" cap="none" normalizeH="0" baseline="0" dirty="0">
                <a:ln>
                  <a:noFill/>
                </a:ln>
                <a:solidFill>
                  <a:schemeClr val="tx1"/>
                </a:solidFill>
                <a:effectLst/>
                <a:latin typeface="inherit"/>
              </a:rPr>
              <a:t> </a:t>
            </a:r>
            <a:endParaRPr kumimoji="0" lang="es-CO" altLang="es-CO"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s-CO" altLang="es-CO" sz="1800" b="0" i="0" u="none" strike="noStrike" cap="none" normalizeH="0" baseline="0" dirty="0">
                <a:ln>
                  <a:noFill/>
                </a:ln>
                <a:solidFill>
                  <a:schemeClr val="tx1"/>
                </a:solidFill>
                <a:effectLst/>
                <a:latin typeface="Arial" panose="020B0604020202020204" pitchFamily="34" charset="0"/>
              </a:rPr>
            </a:b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sp>
        <p:nvSpPr>
          <p:cNvPr id="13" name="CuadroTexto 12">
            <a:extLst>
              <a:ext uri="{FF2B5EF4-FFF2-40B4-BE49-F238E27FC236}">
                <a16:creationId xmlns:a16="http://schemas.microsoft.com/office/drawing/2014/main" id="{9A04BF9C-D105-35CB-3F1A-891DCAC5328C}"/>
              </a:ext>
            </a:extLst>
          </p:cNvPr>
          <p:cNvSpPr txBox="1"/>
          <p:nvPr/>
        </p:nvSpPr>
        <p:spPr>
          <a:xfrm>
            <a:off x="4571999" y="1056834"/>
            <a:ext cx="4292125" cy="830997"/>
          </a:xfrm>
          <a:prstGeom prst="rect">
            <a:avLst/>
          </a:prstGeom>
          <a:noFill/>
        </p:spPr>
        <p:txBody>
          <a:bodyPr wrap="square">
            <a:spAutoFit/>
          </a:bodyPr>
          <a:lstStyle/>
          <a:p>
            <a:pPr algn="just"/>
            <a:r>
              <a:rPr lang="es-MX" sz="1200" dirty="0"/>
              <a:t>Las listas son colecciones ordenadas y </a:t>
            </a:r>
            <a:r>
              <a:rPr lang="es-MX" sz="1200" b="1" dirty="0"/>
              <a:t>mutables</a:t>
            </a:r>
            <a:r>
              <a:rPr lang="es-MX" sz="1200" dirty="0"/>
              <a:t>. Esto significa que los elementos dentro de una lista pueden ser modificados, agregados, o eliminados después de la creación de la lista</a:t>
            </a:r>
            <a:endParaRPr lang="es-CO" sz="1200" dirty="0"/>
          </a:p>
        </p:txBody>
      </p:sp>
      <p:sp>
        <p:nvSpPr>
          <p:cNvPr id="16" name="CuadroTexto 15">
            <a:extLst>
              <a:ext uri="{FF2B5EF4-FFF2-40B4-BE49-F238E27FC236}">
                <a16:creationId xmlns:a16="http://schemas.microsoft.com/office/drawing/2014/main" id="{845FE62E-A711-5271-8F7E-9B0FA8E398F7}"/>
              </a:ext>
            </a:extLst>
          </p:cNvPr>
          <p:cNvSpPr txBox="1"/>
          <p:nvPr/>
        </p:nvSpPr>
        <p:spPr>
          <a:xfrm>
            <a:off x="4571999" y="2571750"/>
            <a:ext cx="4451290" cy="830997"/>
          </a:xfrm>
          <a:prstGeom prst="rect">
            <a:avLst/>
          </a:prstGeom>
          <a:noFill/>
        </p:spPr>
        <p:txBody>
          <a:bodyPr wrap="square">
            <a:spAutoFit/>
          </a:bodyPr>
          <a:lstStyle/>
          <a:p>
            <a:pPr algn="just"/>
            <a:r>
              <a:rPr lang="es-MX" sz="1200" dirty="0"/>
              <a:t>Las tuplas son colecciones ordenadas e </a:t>
            </a:r>
            <a:r>
              <a:rPr lang="es-MX" sz="1200" b="1" dirty="0"/>
              <a:t>inmutables</a:t>
            </a:r>
            <a:r>
              <a:rPr lang="es-MX" sz="1200" dirty="0"/>
              <a:t>. Una vez creada una tupla, no puedes cambiar sus elementos. Sin embargo, puedes contener listas u otras tuplas, las cuales sí pueden ser mutables.</a:t>
            </a:r>
            <a:endParaRPr lang="es-CO" sz="1200" dirty="0"/>
          </a:p>
        </p:txBody>
      </p:sp>
      <p:sp>
        <p:nvSpPr>
          <p:cNvPr id="18" name="CuadroTexto 17">
            <a:extLst>
              <a:ext uri="{FF2B5EF4-FFF2-40B4-BE49-F238E27FC236}">
                <a16:creationId xmlns:a16="http://schemas.microsoft.com/office/drawing/2014/main" id="{F74CC637-27B8-2F58-75AA-08C9F718A1B5}"/>
              </a:ext>
            </a:extLst>
          </p:cNvPr>
          <p:cNvSpPr txBox="1"/>
          <p:nvPr/>
        </p:nvSpPr>
        <p:spPr>
          <a:xfrm>
            <a:off x="4571999" y="3902825"/>
            <a:ext cx="4610456" cy="830997"/>
          </a:xfrm>
          <a:prstGeom prst="rect">
            <a:avLst/>
          </a:prstGeom>
          <a:noFill/>
        </p:spPr>
        <p:txBody>
          <a:bodyPr wrap="square">
            <a:spAutoFit/>
          </a:bodyPr>
          <a:lstStyle/>
          <a:p>
            <a:r>
              <a:rPr lang="es-MX" sz="1200" dirty="0"/>
              <a:t>Los conjuntos son colecciones </a:t>
            </a:r>
            <a:r>
              <a:rPr lang="es-MX" sz="1200" b="1" dirty="0"/>
              <a:t>no ordenadas </a:t>
            </a:r>
            <a:r>
              <a:rPr lang="es-MX" sz="1200" dirty="0"/>
              <a:t>de </a:t>
            </a:r>
            <a:r>
              <a:rPr lang="es-MX" sz="1200" b="1" dirty="0"/>
              <a:t>elementos únicos</a:t>
            </a:r>
            <a:r>
              <a:rPr lang="es-MX" sz="1200" dirty="0"/>
              <a:t>. Es decir, no pueden haber elementos duplicados dentro de un conjunto, y los elementos no mantienen un orden específico.</a:t>
            </a:r>
            <a:endParaRPr lang="es-CO" sz="1200" dirty="0"/>
          </a:p>
        </p:txBody>
      </p:sp>
      <p:sp>
        <p:nvSpPr>
          <p:cNvPr id="12" name="Google Shape;152;p23">
            <a:extLst>
              <a:ext uri="{FF2B5EF4-FFF2-40B4-BE49-F238E27FC236}">
                <a16:creationId xmlns:a16="http://schemas.microsoft.com/office/drawing/2014/main" id="{787E9B49-A18D-90EA-3F92-4AAF5DFF8425}"/>
              </a:ext>
            </a:extLst>
          </p:cNvPr>
          <p:cNvSpPr txBox="1"/>
          <p:nvPr/>
        </p:nvSpPr>
        <p:spPr>
          <a:xfrm>
            <a:off x="2455942" y="393043"/>
            <a:ext cx="2956500" cy="400200"/>
          </a:xfrm>
          <a:prstGeom prst="rect">
            <a:avLst/>
          </a:prstGeom>
          <a:solidFill>
            <a:srgbClr val="38761D"/>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dirty="0">
                <a:solidFill>
                  <a:schemeClr val="lt1"/>
                </a:solidFill>
              </a:rPr>
              <a:t>Estructura de datos</a:t>
            </a:r>
            <a:endParaRPr b="1" dirty="0">
              <a:solidFill>
                <a:schemeClr val="lt1"/>
              </a:solidFill>
            </a:endParaRPr>
          </a:p>
        </p:txBody>
      </p:sp>
    </p:spTree>
    <p:extLst>
      <p:ext uri="{BB962C8B-B14F-4D97-AF65-F5344CB8AC3E}">
        <p14:creationId xmlns:p14="http://schemas.microsoft.com/office/powerpoint/2010/main" val="30502301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3"/>
          <p:cNvSpPr txBox="1">
            <a:spLocks noGrp="1"/>
          </p:cNvSpPr>
          <p:nvPr>
            <p:ph type="title"/>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152" name="Google Shape;152;p23"/>
          <p:cNvSpPr txBox="1"/>
          <p:nvPr/>
        </p:nvSpPr>
        <p:spPr>
          <a:xfrm>
            <a:off x="165273" y="1381488"/>
            <a:ext cx="1731893" cy="400200"/>
          </a:xfrm>
          <a:prstGeom prst="rect">
            <a:avLst/>
          </a:prstGeom>
          <a:solidFill>
            <a:schemeClr val="accent5">
              <a:lumMod val="75000"/>
            </a:schemeClr>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dirty="0">
                <a:solidFill>
                  <a:schemeClr val="lt1"/>
                </a:solidFill>
              </a:rPr>
              <a:t>Lista</a:t>
            </a:r>
            <a:endParaRPr b="1" dirty="0">
              <a:solidFill>
                <a:schemeClr val="lt1"/>
              </a:solidFill>
            </a:endParaRPr>
          </a:p>
        </p:txBody>
      </p:sp>
      <p:sp>
        <p:nvSpPr>
          <p:cNvPr id="4" name="Google Shape;152;p23">
            <a:extLst>
              <a:ext uri="{FF2B5EF4-FFF2-40B4-BE49-F238E27FC236}">
                <a16:creationId xmlns:a16="http://schemas.microsoft.com/office/drawing/2014/main" id="{6A29B943-7CAC-EF5B-BB07-B3CF142DCC19}"/>
              </a:ext>
            </a:extLst>
          </p:cNvPr>
          <p:cNvSpPr txBox="1"/>
          <p:nvPr/>
        </p:nvSpPr>
        <p:spPr>
          <a:xfrm>
            <a:off x="78391" y="2823536"/>
            <a:ext cx="1731893" cy="400200"/>
          </a:xfrm>
          <a:prstGeom prst="rect">
            <a:avLst/>
          </a:prstGeom>
          <a:solidFill>
            <a:schemeClr val="accent5">
              <a:lumMod val="75000"/>
            </a:schemeClr>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CO" b="1" dirty="0">
                <a:solidFill>
                  <a:schemeClr val="lt1"/>
                </a:solidFill>
              </a:rPr>
              <a:t>Tupla</a:t>
            </a:r>
          </a:p>
        </p:txBody>
      </p:sp>
      <p:sp>
        <p:nvSpPr>
          <p:cNvPr id="5" name="Google Shape;152;p23">
            <a:extLst>
              <a:ext uri="{FF2B5EF4-FFF2-40B4-BE49-F238E27FC236}">
                <a16:creationId xmlns:a16="http://schemas.microsoft.com/office/drawing/2014/main" id="{13CCADFB-6D57-3959-84B8-3D32159B32EC}"/>
              </a:ext>
            </a:extLst>
          </p:cNvPr>
          <p:cNvSpPr txBox="1"/>
          <p:nvPr/>
        </p:nvSpPr>
        <p:spPr>
          <a:xfrm>
            <a:off x="263495" y="4179779"/>
            <a:ext cx="1731893" cy="400200"/>
          </a:xfrm>
          <a:prstGeom prst="rect">
            <a:avLst/>
          </a:prstGeom>
          <a:solidFill>
            <a:schemeClr val="accent5">
              <a:lumMod val="75000"/>
            </a:schemeClr>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dirty="0">
                <a:solidFill>
                  <a:schemeClr val="lt1"/>
                </a:solidFill>
              </a:rPr>
              <a:t>Conjunto</a:t>
            </a:r>
            <a:endParaRPr b="1" dirty="0">
              <a:solidFill>
                <a:schemeClr val="lt1"/>
              </a:solidFill>
            </a:endParaRPr>
          </a:p>
        </p:txBody>
      </p:sp>
      <p:sp>
        <p:nvSpPr>
          <p:cNvPr id="7" name="CuadroTexto 6">
            <a:extLst>
              <a:ext uri="{FF2B5EF4-FFF2-40B4-BE49-F238E27FC236}">
                <a16:creationId xmlns:a16="http://schemas.microsoft.com/office/drawing/2014/main" id="{6A39F5D5-E70C-9F52-7DE6-8BF1BF81DF7A}"/>
              </a:ext>
            </a:extLst>
          </p:cNvPr>
          <p:cNvSpPr txBox="1"/>
          <p:nvPr/>
        </p:nvSpPr>
        <p:spPr>
          <a:xfrm>
            <a:off x="2224809" y="1364611"/>
            <a:ext cx="1777581" cy="338554"/>
          </a:xfrm>
          <a:prstGeom prst="rect">
            <a:avLst/>
          </a:prstGeom>
          <a:noFill/>
        </p:spPr>
        <p:txBody>
          <a:bodyPr wrap="square">
            <a:spAutoFit/>
          </a:bodyPr>
          <a:lstStyle/>
          <a:p>
            <a:r>
              <a:rPr lang="es-CO" sz="1600" b="0" i="0" dirty="0" err="1">
                <a:solidFill>
                  <a:schemeClr val="tx1"/>
                </a:solidFill>
                <a:effectLst/>
                <a:latin typeface="Söhne Mono"/>
              </a:rPr>
              <a:t>mi_lista</a:t>
            </a:r>
            <a:r>
              <a:rPr lang="es-CO" sz="1600" b="0" i="0" dirty="0">
                <a:solidFill>
                  <a:schemeClr val="tx1"/>
                </a:solidFill>
                <a:effectLst/>
                <a:latin typeface="Söhne Mono"/>
              </a:rPr>
              <a:t> = </a:t>
            </a:r>
            <a:r>
              <a:rPr lang="es-CO" sz="1600" b="0" i="0" dirty="0">
                <a:solidFill>
                  <a:schemeClr val="accent5"/>
                </a:solidFill>
                <a:effectLst/>
                <a:latin typeface="Söhne Mono"/>
              </a:rPr>
              <a:t>[</a:t>
            </a:r>
            <a:r>
              <a:rPr lang="es-CO" sz="1600" b="0" i="0" dirty="0">
                <a:solidFill>
                  <a:schemeClr val="tx1"/>
                </a:solidFill>
                <a:effectLst/>
                <a:latin typeface="Söhne Mono"/>
              </a:rPr>
              <a:t>1, 2, 3</a:t>
            </a:r>
            <a:r>
              <a:rPr lang="es-CO" sz="1600" b="0" i="0" dirty="0">
                <a:solidFill>
                  <a:schemeClr val="accent5"/>
                </a:solidFill>
                <a:effectLst/>
                <a:latin typeface="Söhne Mono"/>
              </a:rPr>
              <a:t>]</a:t>
            </a:r>
            <a:r>
              <a:rPr lang="es-CO" sz="1600" b="0" i="0" dirty="0">
                <a:solidFill>
                  <a:schemeClr val="tx1"/>
                </a:solidFill>
                <a:effectLst/>
                <a:latin typeface="Söhne Mono"/>
              </a:rPr>
              <a:t> </a:t>
            </a:r>
            <a:endParaRPr lang="es-CO" sz="1600" dirty="0">
              <a:solidFill>
                <a:schemeClr val="tx1"/>
              </a:solidFill>
            </a:endParaRPr>
          </a:p>
        </p:txBody>
      </p:sp>
      <p:sp>
        <p:nvSpPr>
          <p:cNvPr id="9" name="CuadroTexto 8">
            <a:extLst>
              <a:ext uri="{FF2B5EF4-FFF2-40B4-BE49-F238E27FC236}">
                <a16:creationId xmlns:a16="http://schemas.microsoft.com/office/drawing/2014/main" id="{82FAF85D-8250-ADD6-1026-1F1EC4598B74}"/>
              </a:ext>
            </a:extLst>
          </p:cNvPr>
          <p:cNvSpPr txBox="1"/>
          <p:nvPr/>
        </p:nvSpPr>
        <p:spPr>
          <a:xfrm>
            <a:off x="2106263" y="2823536"/>
            <a:ext cx="2014672" cy="584775"/>
          </a:xfrm>
          <a:prstGeom prst="rect">
            <a:avLst/>
          </a:prstGeom>
          <a:noFill/>
        </p:spPr>
        <p:txBody>
          <a:bodyPr wrap="square">
            <a:spAutoFit/>
          </a:bodyPr>
          <a:lstStyle/>
          <a:p>
            <a:r>
              <a:rPr lang="es-CO" sz="1600" b="0" i="0" dirty="0" err="1">
                <a:solidFill>
                  <a:schemeClr val="tx1"/>
                </a:solidFill>
                <a:effectLst/>
                <a:latin typeface="Söhne Mono"/>
              </a:rPr>
              <a:t>mi_tupla</a:t>
            </a:r>
            <a:r>
              <a:rPr lang="es-CO" sz="1600" b="0" i="0" dirty="0">
                <a:solidFill>
                  <a:schemeClr val="tx1"/>
                </a:solidFill>
                <a:effectLst/>
                <a:latin typeface="Söhne Mono"/>
              </a:rPr>
              <a:t> = </a:t>
            </a:r>
            <a:r>
              <a:rPr lang="es-CO" sz="1600" b="0" i="0" dirty="0">
                <a:solidFill>
                  <a:srgbClr val="C00000"/>
                </a:solidFill>
                <a:effectLst/>
                <a:latin typeface="Söhne Mono"/>
              </a:rPr>
              <a:t>(</a:t>
            </a:r>
            <a:r>
              <a:rPr lang="es-CO" sz="1600" b="0" i="0" dirty="0">
                <a:solidFill>
                  <a:schemeClr val="tx1"/>
                </a:solidFill>
                <a:effectLst/>
                <a:latin typeface="Söhne Mono"/>
              </a:rPr>
              <a:t>1, 2, 3</a:t>
            </a:r>
            <a:r>
              <a:rPr lang="es-CO" sz="1600" b="0" i="0" dirty="0">
                <a:solidFill>
                  <a:srgbClr val="C00000"/>
                </a:solidFill>
                <a:effectLst/>
                <a:latin typeface="Söhne Mono"/>
              </a:rPr>
              <a:t>)</a:t>
            </a:r>
            <a:r>
              <a:rPr lang="es-CO" sz="1600" b="0" i="0" dirty="0">
                <a:solidFill>
                  <a:schemeClr val="tx1"/>
                </a:solidFill>
                <a:effectLst/>
                <a:latin typeface="Söhne Mono"/>
              </a:rPr>
              <a:t> </a:t>
            </a:r>
            <a:br>
              <a:rPr lang="es-CO" sz="1600" dirty="0">
                <a:solidFill>
                  <a:schemeClr val="tx1"/>
                </a:solidFill>
              </a:rPr>
            </a:br>
            <a:endParaRPr lang="es-CO" sz="1600" dirty="0">
              <a:solidFill>
                <a:schemeClr val="tx1"/>
              </a:solidFill>
            </a:endParaRPr>
          </a:p>
        </p:txBody>
      </p:sp>
      <p:sp>
        <p:nvSpPr>
          <p:cNvPr id="8" name="Rectangle 3">
            <a:extLst>
              <a:ext uri="{FF2B5EF4-FFF2-40B4-BE49-F238E27FC236}">
                <a16:creationId xmlns:a16="http://schemas.microsoft.com/office/drawing/2014/main" id="{1AA52C36-CDD4-324E-1AB8-7AE1F82786B3}"/>
              </a:ext>
            </a:extLst>
          </p:cNvPr>
          <p:cNvSpPr>
            <a:spLocks noChangeArrowheads="1"/>
          </p:cNvSpPr>
          <p:nvPr/>
        </p:nvSpPr>
        <p:spPr bwMode="auto">
          <a:xfrm>
            <a:off x="2353654" y="4179779"/>
            <a:ext cx="2014672" cy="80021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1600" b="0" i="0" u="none" strike="noStrike" cap="none" normalizeH="0" baseline="0" dirty="0" err="1">
                <a:ln>
                  <a:noFill/>
                </a:ln>
                <a:solidFill>
                  <a:schemeClr val="tx1"/>
                </a:solidFill>
                <a:effectLst/>
                <a:latin typeface="inherit"/>
              </a:rPr>
              <a:t>mi_conjunto</a:t>
            </a:r>
            <a:r>
              <a:rPr kumimoji="0" lang="es-CO" altLang="es-CO" sz="1600" b="0" i="0" u="none" strike="noStrike" cap="none" normalizeH="0" baseline="0" dirty="0">
                <a:ln>
                  <a:noFill/>
                </a:ln>
                <a:solidFill>
                  <a:schemeClr val="tx1"/>
                </a:solidFill>
                <a:effectLst/>
                <a:latin typeface="inherit"/>
              </a:rPr>
              <a:t> = </a:t>
            </a:r>
            <a:r>
              <a:rPr kumimoji="0" lang="es-CO" altLang="es-CO" sz="1600" b="0" i="0" u="none" strike="noStrike" cap="none" normalizeH="0" baseline="0" dirty="0">
                <a:ln>
                  <a:noFill/>
                </a:ln>
                <a:solidFill>
                  <a:srgbClr val="7030A0"/>
                </a:solidFill>
                <a:effectLst/>
                <a:latin typeface="inherit"/>
              </a:rPr>
              <a:t>{</a:t>
            </a:r>
            <a:r>
              <a:rPr kumimoji="0" lang="es-CO" altLang="es-CO" sz="1600" b="0" i="0" u="none" strike="noStrike" cap="none" normalizeH="0" baseline="0" dirty="0">
                <a:ln>
                  <a:noFill/>
                </a:ln>
                <a:solidFill>
                  <a:schemeClr val="tx1"/>
                </a:solidFill>
                <a:effectLst/>
                <a:latin typeface="inherit"/>
              </a:rPr>
              <a:t>1, 2, 3</a:t>
            </a:r>
            <a:r>
              <a:rPr kumimoji="0" lang="es-CO" altLang="es-CO" sz="1600" b="0" i="0" u="none" strike="noStrike" cap="none" normalizeH="0" baseline="0" dirty="0">
                <a:ln>
                  <a:noFill/>
                </a:ln>
                <a:solidFill>
                  <a:srgbClr val="7030A0"/>
                </a:solidFill>
                <a:effectLst/>
                <a:latin typeface="inherit"/>
              </a:rPr>
              <a:t>}</a:t>
            </a:r>
            <a:r>
              <a:rPr kumimoji="0" lang="es-CO" altLang="es-CO" sz="1600" b="0" i="0" u="none" strike="noStrike" cap="none" normalizeH="0" baseline="0" dirty="0">
                <a:ln>
                  <a:noFill/>
                </a:ln>
                <a:solidFill>
                  <a:schemeClr val="tx1"/>
                </a:solidFill>
                <a:effectLst/>
                <a:latin typeface="inherit"/>
              </a:rPr>
              <a:t> </a:t>
            </a:r>
            <a:endParaRPr kumimoji="0" lang="es-CO" altLang="es-CO"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s-CO" altLang="es-CO" sz="1800" b="0" i="0" u="none" strike="noStrike" cap="none" normalizeH="0" baseline="0" dirty="0">
                <a:ln>
                  <a:noFill/>
                </a:ln>
                <a:solidFill>
                  <a:schemeClr val="tx1"/>
                </a:solidFill>
                <a:effectLst/>
                <a:latin typeface="Arial" panose="020B0604020202020204" pitchFamily="34" charset="0"/>
              </a:rPr>
            </a:b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sp>
        <p:nvSpPr>
          <p:cNvPr id="13" name="CuadroTexto 12">
            <a:extLst>
              <a:ext uri="{FF2B5EF4-FFF2-40B4-BE49-F238E27FC236}">
                <a16:creationId xmlns:a16="http://schemas.microsoft.com/office/drawing/2014/main" id="{9A04BF9C-D105-35CB-3F1A-891DCAC5328C}"/>
              </a:ext>
            </a:extLst>
          </p:cNvPr>
          <p:cNvSpPr txBox="1"/>
          <p:nvPr/>
        </p:nvSpPr>
        <p:spPr>
          <a:xfrm>
            <a:off x="4571999" y="1056834"/>
            <a:ext cx="4292125" cy="830997"/>
          </a:xfrm>
          <a:prstGeom prst="rect">
            <a:avLst/>
          </a:prstGeom>
          <a:noFill/>
        </p:spPr>
        <p:txBody>
          <a:bodyPr wrap="square">
            <a:spAutoFit/>
          </a:bodyPr>
          <a:lstStyle/>
          <a:p>
            <a:pPr algn="just"/>
            <a:r>
              <a:rPr lang="es-MX" sz="1200" dirty="0"/>
              <a:t>Las listas son colecciones ordenadas y </a:t>
            </a:r>
            <a:r>
              <a:rPr lang="es-MX" sz="1200" b="1" dirty="0"/>
              <a:t>mutables</a:t>
            </a:r>
            <a:r>
              <a:rPr lang="es-MX" sz="1200" dirty="0"/>
              <a:t>. Esto significa que los elementos dentro de una lista pueden ser modificados, agregados, o eliminados después de la creación de la lista</a:t>
            </a:r>
            <a:endParaRPr lang="es-CO" sz="1200" dirty="0"/>
          </a:p>
        </p:txBody>
      </p:sp>
      <p:sp>
        <p:nvSpPr>
          <p:cNvPr id="16" name="CuadroTexto 15">
            <a:extLst>
              <a:ext uri="{FF2B5EF4-FFF2-40B4-BE49-F238E27FC236}">
                <a16:creationId xmlns:a16="http://schemas.microsoft.com/office/drawing/2014/main" id="{845FE62E-A711-5271-8F7E-9B0FA8E398F7}"/>
              </a:ext>
            </a:extLst>
          </p:cNvPr>
          <p:cNvSpPr txBox="1"/>
          <p:nvPr/>
        </p:nvSpPr>
        <p:spPr>
          <a:xfrm>
            <a:off x="4571999" y="2571750"/>
            <a:ext cx="4451290" cy="830997"/>
          </a:xfrm>
          <a:prstGeom prst="rect">
            <a:avLst/>
          </a:prstGeom>
          <a:noFill/>
        </p:spPr>
        <p:txBody>
          <a:bodyPr wrap="square">
            <a:spAutoFit/>
          </a:bodyPr>
          <a:lstStyle/>
          <a:p>
            <a:pPr algn="just"/>
            <a:r>
              <a:rPr lang="es-MX" sz="1200" dirty="0"/>
              <a:t>Las tuplas son colecciones ordenadas e </a:t>
            </a:r>
            <a:r>
              <a:rPr lang="es-MX" sz="1200" b="1" dirty="0"/>
              <a:t>inmutables</a:t>
            </a:r>
            <a:r>
              <a:rPr lang="es-MX" sz="1200" dirty="0"/>
              <a:t>. Una vez creada una tupla, no puedes cambiar sus elementos. Sin embargo, puedes contener listas u otras tuplas, las cuales sí pueden ser mutables.</a:t>
            </a:r>
            <a:endParaRPr lang="es-CO" sz="1200" dirty="0"/>
          </a:p>
        </p:txBody>
      </p:sp>
      <p:sp>
        <p:nvSpPr>
          <p:cNvPr id="18" name="CuadroTexto 17">
            <a:extLst>
              <a:ext uri="{FF2B5EF4-FFF2-40B4-BE49-F238E27FC236}">
                <a16:creationId xmlns:a16="http://schemas.microsoft.com/office/drawing/2014/main" id="{F74CC637-27B8-2F58-75AA-08C9F718A1B5}"/>
              </a:ext>
            </a:extLst>
          </p:cNvPr>
          <p:cNvSpPr txBox="1"/>
          <p:nvPr/>
        </p:nvSpPr>
        <p:spPr>
          <a:xfrm>
            <a:off x="4571999" y="3902825"/>
            <a:ext cx="4610456" cy="830997"/>
          </a:xfrm>
          <a:prstGeom prst="rect">
            <a:avLst/>
          </a:prstGeom>
          <a:noFill/>
        </p:spPr>
        <p:txBody>
          <a:bodyPr wrap="square">
            <a:spAutoFit/>
          </a:bodyPr>
          <a:lstStyle/>
          <a:p>
            <a:r>
              <a:rPr lang="es-MX" sz="1200" dirty="0"/>
              <a:t>Los conjuntos son colecciones </a:t>
            </a:r>
            <a:r>
              <a:rPr lang="es-MX" sz="1200" b="1" dirty="0"/>
              <a:t>no ordenadas </a:t>
            </a:r>
            <a:r>
              <a:rPr lang="es-MX" sz="1200" dirty="0"/>
              <a:t>de </a:t>
            </a:r>
            <a:r>
              <a:rPr lang="es-MX" sz="1200" b="1" dirty="0"/>
              <a:t>elementos únicos</a:t>
            </a:r>
            <a:r>
              <a:rPr lang="es-MX" sz="1200" dirty="0"/>
              <a:t>. Es decir, no pueden haber elementos duplicados dentro de un conjunto, y los elementos no mantienen un orden específico.</a:t>
            </a:r>
            <a:endParaRPr lang="es-CO" sz="1200" dirty="0"/>
          </a:p>
        </p:txBody>
      </p:sp>
      <p:sp>
        <p:nvSpPr>
          <p:cNvPr id="12" name="Google Shape;152;p23">
            <a:extLst>
              <a:ext uri="{FF2B5EF4-FFF2-40B4-BE49-F238E27FC236}">
                <a16:creationId xmlns:a16="http://schemas.microsoft.com/office/drawing/2014/main" id="{787E9B49-A18D-90EA-3F92-4AAF5DFF8425}"/>
              </a:ext>
            </a:extLst>
          </p:cNvPr>
          <p:cNvSpPr txBox="1"/>
          <p:nvPr/>
        </p:nvSpPr>
        <p:spPr>
          <a:xfrm>
            <a:off x="2455942" y="393043"/>
            <a:ext cx="2956500" cy="400200"/>
          </a:xfrm>
          <a:prstGeom prst="rect">
            <a:avLst/>
          </a:prstGeom>
          <a:solidFill>
            <a:srgbClr val="38761D"/>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dirty="0">
                <a:solidFill>
                  <a:schemeClr val="lt1"/>
                </a:solidFill>
              </a:rPr>
              <a:t>Estructura de datos</a:t>
            </a:r>
            <a:endParaRPr b="1" dirty="0">
              <a:solidFill>
                <a:schemeClr val="lt1"/>
              </a:solidFill>
            </a:endParaRPr>
          </a:p>
        </p:txBody>
      </p:sp>
      <p:pic>
        <p:nvPicPr>
          <p:cNvPr id="1026" name="Picture 2" descr="Listas en Python - Somos Hackers de la Programación">
            <a:extLst>
              <a:ext uri="{FF2B5EF4-FFF2-40B4-BE49-F238E27FC236}">
                <a16:creationId xmlns:a16="http://schemas.microsoft.com/office/drawing/2014/main" id="{BA1E4E0F-B223-19E8-F05F-49A3116748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25245"/>
            <a:ext cx="9144000" cy="3875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80796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7"/>
          <p:cNvSpPr txBox="1">
            <a:spLocks noGrp="1"/>
          </p:cNvSpPr>
          <p:nvPr>
            <p:ph type="title"/>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181" name="Google Shape;181;p27"/>
          <p:cNvSpPr txBox="1"/>
          <p:nvPr/>
        </p:nvSpPr>
        <p:spPr>
          <a:xfrm>
            <a:off x="2498275" y="492725"/>
            <a:ext cx="2956500" cy="400200"/>
          </a:xfrm>
          <a:prstGeom prst="rect">
            <a:avLst/>
          </a:prstGeom>
          <a:solidFill>
            <a:schemeClr val="accen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dirty="0">
                <a:solidFill>
                  <a:schemeClr val="lt1"/>
                </a:solidFill>
              </a:rPr>
              <a:t>Diccionarios</a:t>
            </a:r>
            <a:endParaRPr b="1" dirty="0">
              <a:solidFill>
                <a:schemeClr val="lt1"/>
              </a:solidFill>
            </a:endParaRPr>
          </a:p>
        </p:txBody>
      </p:sp>
      <p:sp>
        <p:nvSpPr>
          <p:cNvPr id="182" name="Google Shape;182;p27"/>
          <p:cNvSpPr txBox="1">
            <a:spLocks noGrp="1"/>
          </p:cNvSpPr>
          <p:nvPr>
            <p:ph type="body" idx="1"/>
          </p:nvPr>
        </p:nvSpPr>
        <p:spPr>
          <a:xfrm>
            <a:off x="220050" y="1228675"/>
            <a:ext cx="8703900" cy="3645900"/>
          </a:xfrm>
          <a:prstGeom prst="rect">
            <a:avLst/>
          </a:prstGeom>
        </p:spPr>
        <p:txBody>
          <a:bodyPr spcFirstLastPara="1" wrap="square" lIns="91425" tIns="91425" rIns="91425" bIns="91425" anchor="t" anchorCtr="0">
            <a:normAutofit/>
          </a:bodyPr>
          <a:lstStyle/>
          <a:p>
            <a:pPr marL="0" lvl="0" indent="0" algn="l" rtl="0">
              <a:lnSpc>
                <a:spcPct val="135714"/>
              </a:lnSpc>
              <a:spcBef>
                <a:spcPts val="0"/>
              </a:spcBef>
              <a:spcAft>
                <a:spcPts val="0"/>
              </a:spcAft>
              <a:buNone/>
            </a:pPr>
            <a:endParaRPr sz="1050" dirty="0">
              <a:solidFill>
                <a:srgbClr val="008000"/>
              </a:solidFill>
              <a:highlight>
                <a:srgbClr val="FFFFFE"/>
              </a:highlight>
              <a:latin typeface="Impact"/>
              <a:ea typeface="Impact"/>
              <a:cs typeface="Impact"/>
              <a:sym typeface="Impact"/>
            </a:endParaRPr>
          </a:p>
          <a:p>
            <a:pPr marL="0" lvl="0" indent="0" algn="l" rtl="0">
              <a:lnSpc>
                <a:spcPct val="135714"/>
              </a:lnSpc>
              <a:spcBef>
                <a:spcPts val="0"/>
              </a:spcBef>
              <a:spcAft>
                <a:spcPts val="0"/>
              </a:spcAft>
              <a:buNone/>
            </a:pPr>
            <a:endParaRPr sz="1050" dirty="0">
              <a:solidFill>
                <a:srgbClr val="008000"/>
              </a:solidFill>
              <a:highlight>
                <a:srgbClr val="FFFFF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dirty="0">
              <a:solidFill>
                <a:srgbClr val="008000"/>
              </a:solidFill>
              <a:highlight>
                <a:srgbClr val="FFFFF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b="1" dirty="0">
              <a:solidFill>
                <a:srgbClr val="008000"/>
              </a:solidFill>
              <a:highlight>
                <a:srgbClr val="FFFFF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dirty="0">
              <a:solidFill>
                <a:srgbClr val="000000"/>
              </a:solidFill>
              <a:highlight>
                <a:srgbClr val="FFFFF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dirty="0">
              <a:solidFill>
                <a:srgbClr val="000000"/>
              </a:solidFill>
              <a:highlight>
                <a:srgbClr val="FFFFF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dirty="0">
              <a:solidFill>
                <a:srgbClr val="AF00DB"/>
              </a:solidFill>
              <a:highlight>
                <a:srgbClr val="FFFFFE"/>
              </a:highlight>
              <a:latin typeface="Courier New"/>
              <a:ea typeface="Courier New"/>
              <a:cs typeface="Courier New"/>
              <a:sym typeface="Courier New"/>
            </a:endParaRPr>
          </a:p>
        </p:txBody>
      </p:sp>
      <p:pic>
        <p:nvPicPr>
          <p:cNvPr id="2" name="Imagen 1">
            <a:extLst>
              <a:ext uri="{FF2B5EF4-FFF2-40B4-BE49-F238E27FC236}">
                <a16:creationId xmlns:a16="http://schemas.microsoft.com/office/drawing/2014/main" id="{B7DADC0C-B5ED-B9E7-DE54-D64CA9AF8E9D}"/>
              </a:ext>
            </a:extLst>
          </p:cNvPr>
          <p:cNvPicPr>
            <a:picLocks noChangeAspect="1"/>
          </p:cNvPicPr>
          <p:nvPr/>
        </p:nvPicPr>
        <p:blipFill rotWithShape="1">
          <a:blip r:embed="rId3"/>
          <a:srcRect t="30461"/>
          <a:stretch/>
        </p:blipFill>
        <p:spPr>
          <a:xfrm>
            <a:off x="4201805" y="3122921"/>
            <a:ext cx="4722145" cy="1889582"/>
          </a:xfrm>
          <a:prstGeom prst="rect">
            <a:avLst/>
          </a:prstGeom>
        </p:spPr>
      </p:pic>
      <p:pic>
        <p:nvPicPr>
          <p:cNvPr id="3" name="Imagen 2">
            <a:extLst>
              <a:ext uri="{FF2B5EF4-FFF2-40B4-BE49-F238E27FC236}">
                <a16:creationId xmlns:a16="http://schemas.microsoft.com/office/drawing/2014/main" id="{DFA3C6A9-8D70-2B0C-EFE5-4FA701894527}"/>
              </a:ext>
            </a:extLst>
          </p:cNvPr>
          <p:cNvPicPr>
            <a:picLocks noChangeAspect="1"/>
          </p:cNvPicPr>
          <p:nvPr/>
        </p:nvPicPr>
        <p:blipFill>
          <a:blip r:embed="rId4"/>
          <a:stretch>
            <a:fillRect/>
          </a:stretch>
        </p:blipFill>
        <p:spPr>
          <a:xfrm>
            <a:off x="1601378" y="1171481"/>
            <a:ext cx="4261658" cy="1592346"/>
          </a:xfrm>
          <a:prstGeom prst="rect">
            <a:avLst/>
          </a:prstGeom>
        </p:spPr>
      </p:pic>
      <p:pic>
        <p:nvPicPr>
          <p:cNvPr id="7" name="Imagen 6">
            <a:extLst>
              <a:ext uri="{FF2B5EF4-FFF2-40B4-BE49-F238E27FC236}">
                <a16:creationId xmlns:a16="http://schemas.microsoft.com/office/drawing/2014/main" id="{131F7721-5F50-AFE9-8BF9-5465595ACDF8}"/>
              </a:ext>
            </a:extLst>
          </p:cNvPr>
          <p:cNvPicPr>
            <a:picLocks noChangeAspect="1"/>
          </p:cNvPicPr>
          <p:nvPr/>
        </p:nvPicPr>
        <p:blipFill rotWithShape="1">
          <a:blip r:embed="rId3"/>
          <a:srcRect b="68822"/>
          <a:stretch/>
        </p:blipFill>
        <p:spPr>
          <a:xfrm>
            <a:off x="121340" y="3851325"/>
            <a:ext cx="4080465" cy="732085"/>
          </a:xfrm>
          <a:prstGeom prst="rect">
            <a:avLst/>
          </a:prstGeom>
        </p:spPr>
      </p:pic>
    </p:spTree>
    <p:extLst>
      <p:ext uri="{BB962C8B-B14F-4D97-AF65-F5344CB8AC3E}">
        <p14:creationId xmlns:p14="http://schemas.microsoft.com/office/powerpoint/2010/main" val="7403915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0"/>
          <p:cNvSpPr txBox="1">
            <a:spLocks noGrp="1"/>
          </p:cNvSpPr>
          <p:nvPr>
            <p:ph type="title"/>
          </p:nvPr>
        </p:nvSpPr>
        <p:spPr>
          <a:xfrm>
            <a:off x="95600" y="1164675"/>
            <a:ext cx="22125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t>Secuenciales</a:t>
            </a:r>
            <a:endParaRPr b="1"/>
          </a:p>
        </p:txBody>
      </p:sp>
      <p:pic>
        <p:nvPicPr>
          <p:cNvPr id="111" name="Google Shape;111;p20"/>
          <p:cNvPicPr preferRelativeResize="0"/>
          <p:nvPr/>
        </p:nvPicPr>
        <p:blipFill>
          <a:blip r:embed="rId3">
            <a:alphaModFix/>
          </a:blip>
          <a:stretch>
            <a:fillRect/>
          </a:stretch>
        </p:blipFill>
        <p:spPr>
          <a:xfrm>
            <a:off x="204250" y="1619675"/>
            <a:ext cx="1752600" cy="1371600"/>
          </a:xfrm>
          <a:prstGeom prst="rect">
            <a:avLst/>
          </a:prstGeom>
          <a:noFill/>
          <a:ln w="9525" cap="flat" cmpd="sng">
            <a:solidFill>
              <a:schemeClr val="dk1"/>
            </a:solidFill>
            <a:prstDash val="solid"/>
            <a:round/>
            <a:headEnd type="none" w="sm" len="sm"/>
            <a:tailEnd type="none" w="sm" len="sm"/>
          </a:ln>
        </p:spPr>
      </p:pic>
      <p:sp>
        <p:nvSpPr>
          <p:cNvPr id="112" name="Google Shape;112;p20"/>
          <p:cNvSpPr txBox="1">
            <a:spLocks noGrp="1"/>
          </p:cNvSpPr>
          <p:nvPr>
            <p:ph type="title"/>
          </p:nvPr>
        </p:nvSpPr>
        <p:spPr>
          <a:xfrm>
            <a:off x="6885338" y="2259525"/>
            <a:ext cx="22125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t>Repetitivos</a:t>
            </a:r>
            <a:endParaRPr b="1"/>
          </a:p>
        </p:txBody>
      </p:sp>
      <p:sp>
        <p:nvSpPr>
          <p:cNvPr id="113" name="Google Shape;113;p20"/>
          <p:cNvSpPr txBox="1">
            <a:spLocks noGrp="1"/>
          </p:cNvSpPr>
          <p:nvPr>
            <p:ph type="title"/>
          </p:nvPr>
        </p:nvSpPr>
        <p:spPr>
          <a:xfrm>
            <a:off x="3384600" y="1450375"/>
            <a:ext cx="2787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b="1"/>
              <a:t>Condiciónales</a:t>
            </a:r>
            <a:endParaRPr b="1"/>
          </a:p>
        </p:txBody>
      </p:sp>
      <p:pic>
        <p:nvPicPr>
          <p:cNvPr id="114" name="Google Shape;114;p20"/>
          <p:cNvPicPr preferRelativeResize="0"/>
          <p:nvPr/>
        </p:nvPicPr>
        <p:blipFill>
          <a:blip r:embed="rId4">
            <a:alphaModFix/>
          </a:blip>
          <a:stretch>
            <a:fillRect/>
          </a:stretch>
        </p:blipFill>
        <p:spPr>
          <a:xfrm>
            <a:off x="3390688" y="2023075"/>
            <a:ext cx="2200275" cy="1771650"/>
          </a:xfrm>
          <a:prstGeom prst="rect">
            <a:avLst/>
          </a:prstGeom>
          <a:noFill/>
          <a:ln w="9525" cap="flat" cmpd="sng">
            <a:solidFill>
              <a:schemeClr val="dk1"/>
            </a:solidFill>
            <a:prstDash val="solid"/>
            <a:round/>
            <a:headEnd type="none" w="sm" len="sm"/>
            <a:tailEnd type="none" w="sm" len="sm"/>
          </a:ln>
        </p:spPr>
      </p:pic>
      <p:pic>
        <p:nvPicPr>
          <p:cNvPr id="115" name="Google Shape;115;p20"/>
          <p:cNvPicPr preferRelativeResize="0"/>
          <p:nvPr/>
        </p:nvPicPr>
        <p:blipFill>
          <a:blip r:embed="rId5">
            <a:alphaModFix/>
          </a:blip>
          <a:stretch>
            <a:fillRect/>
          </a:stretch>
        </p:blipFill>
        <p:spPr>
          <a:xfrm>
            <a:off x="7024800" y="2832225"/>
            <a:ext cx="1933575" cy="2238375"/>
          </a:xfrm>
          <a:prstGeom prst="rect">
            <a:avLst/>
          </a:prstGeom>
          <a:noFill/>
          <a:ln w="9525" cap="flat" cmpd="sng">
            <a:solidFill>
              <a:schemeClr val="dk1"/>
            </a:solidFill>
            <a:prstDash val="solid"/>
            <a:round/>
            <a:headEnd type="none" w="sm" len="sm"/>
            <a:tailEnd type="none" w="sm" len="sm"/>
          </a:ln>
        </p:spPr>
      </p:pic>
      <p:sp>
        <p:nvSpPr>
          <p:cNvPr id="116" name="Google Shape;116;p20"/>
          <p:cNvSpPr txBox="1">
            <a:spLocks noGrp="1"/>
          </p:cNvSpPr>
          <p:nvPr>
            <p:ph type="title"/>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dirty="0"/>
              <a:t>Python</a:t>
            </a:r>
            <a:endParaRPr dirty="0"/>
          </a:p>
        </p:txBody>
      </p:sp>
      <p:sp>
        <p:nvSpPr>
          <p:cNvPr id="117" name="Google Shape;117;p20"/>
          <p:cNvSpPr txBox="1"/>
          <p:nvPr/>
        </p:nvSpPr>
        <p:spPr>
          <a:xfrm>
            <a:off x="2498275" y="492725"/>
            <a:ext cx="2956500" cy="400200"/>
          </a:xfrm>
          <a:prstGeom prst="rect">
            <a:avLst/>
          </a:prstGeom>
          <a:solidFill>
            <a:srgbClr val="990000"/>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dirty="0">
                <a:solidFill>
                  <a:schemeClr val="lt1"/>
                </a:solidFill>
              </a:rPr>
              <a:t>Alternativas para programar</a:t>
            </a:r>
            <a:endParaRPr b="1" dirty="0">
              <a:solidFill>
                <a:schemeClr val="lt1"/>
              </a:solidFill>
            </a:endParaRPr>
          </a:p>
        </p:txBody>
      </p:sp>
      <mc:AlternateContent xmlns:mc="http://schemas.openxmlformats.org/markup-compatibility/2006" xmlns:p14="http://schemas.microsoft.com/office/powerpoint/2010/main">
        <mc:Choice Requires="p14">
          <p:contentPart p14:bwMode="auto" r:id="rId6">
            <p14:nvContentPartPr>
              <p14:cNvPr id="2" name="Entrada de lápiz 1">
                <a:extLst>
                  <a:ext uri="{FF2B5EF4-FFF2-40B4-BE49-F238E27FC236}">
                    <a16:creationId xmlns:a16="http://schemas.microsoft.com/office/drawing/2014/main" id="{E2119F34-F789-472B-FF46-5EE253742B84}"/>
                  </a:ext>
                </a:extLst>
              </p14:cNvPr>
              <p14:cNvContentPartPr/>
              <p14:nvPr/>
            </p14:nvContentPartPr>
            <p14:xfrm>
              <a:off x="1557360" y="1300320"/>
              <a:ext cx="5934240" cy="2333880"/>
            </p14:xfrm>
          </p:contentPart>
        </mc:Choice>
        <mc:Fallback xmlns="">
          <p:pic>
            <p:nvPicPr>
              <p:cNvPr id="2" name="Entrada de lápiz 1">
                <a:extLst>
                  <a:ext uri="{FF2B5EF4-FFF2-40B4-BE49-F238E27FC236}">
                    <a16:creationId xmlns:a16="http://schemas.microsoft.com/office/drawing/2014/main" id="{E2119F34-F789-472B-FF46-5EE253742B84}"/>
                  </a:ext>
                </a:extLst>
              </p:cNvPr>
              <p:cNvPicPr/>
              <p:nvPr/>
            </p:nvPicPr>
            <p:blipFill>
              <a:blip r:embed="rId7"/>
              <a:stretch>
                <a:fillRect/>
              </a:stretch>
            </p:blipFill>
            <p:spPr>
              <a:xfrm>
                <a:off x="1548000" y="1290960"/>
                <a:ext cx="5952960" cy="2352600"/>
              </a:xfrm>
              <a:prstGeom prst="rect">
                <a:avLst/>
              </a:prstGeom>
            </p:spPr>
          </p:pic>
        </mc:Fallback>
      </mc:AlternateContent>
    </p:spTree>
    <p:extLst>
      <p:ext uri="{BB962C8B-B14F-4D97-AF65-F5344CB8AC3E}">
        <p14:creationId xmlns:p14="http://schemas.microsoft.com/office/powerpoint/2010/main" val="20342562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7"/>
          <p:cNvSpPr txBox="1">
            <a:spLocks noGrp="1"/>
          </p:cNvSpPr>
          <p:nvPr>
            <p:ph type="title"/>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181" name="Google Shape;181;p27"/>
          <p:cNvSpPr txBox="1"/>
          <p:nvPr/>
        </p:nvSpPr>
        <p:spPr>
          <a:xfrm>
            <a:off x="2498275" y="492725"/>
            <a:ext cx="2956500" cy="400200"/>
          </a:xfrm>
          <a:prstGeom prst="rect">
            <a:avLst/>
          </a:prstGeom>
          <a:solidFill>
            <a:schemeClr val="accen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dirty="0">
                <a:solidFill>
                  <a:schemeClr val="lt1"/>
                </a:solidFill>
              </a:rPr>
              <a:t>Condicionales</a:t>
            </a:r>
            <a:endParaRPr b="1" dirty="0">
              <a:solidFill>
                <a:schemeClr val="lt1"/>
              </a:solidFill>
            </a:endParaRPr>
          </a:p>
        </p:txBody>
      </p:sp>
      <p:sp>
        <p:nvSpPr>
          <p:cNvPr id="182" name="Google Shape;182;p27"/>
          <p:cNvSpPr txBox="1">
            <a:spLocks noGrp="1"/>
          </p:cNvSpPr>
          <p:nvPr>
            <p:ph type="body" idx="1"/>
          </p:nvPr>
        </p:nvSpPr>
        <p:spPr>
          <a:xfrm>
            <a:off x="220050" y="1228675"/>
            <a:ext cx="8703900" cy="3645900"/>
          </a:xfrm>
          <a:prstGeom prst="rect">
            <a:avLst/>
          </a:prstGeom>
        </p:spPr>
        <p:txBody>
          <a:bodyPr spcFirstLastPara="1" wrap="square" lIns="91425" tIns="91425" rIns="91425" bIns="91425" anchor="t" anchorCtr="0">
            <a:normAutofit/>
          </a:bodyPr>
          <a:lstStyle/>
          <a:p>
            <a:pPr marL="0" lvl="0" indent="0" algn="l" rtl="0">
              <a:lnSpc>
                <a:spcPct val="135714"/>
              </a:lnSpc>
              <a:spcBef>
                <a:spcPts val="0"/>
              </a:spcBef>
              <a:spcAft>
                <a:spcPts val="0"/>
              </a:spcAft>
              <a:buNone/>
            </a:pPr>
            <a:endParaRPr sz="1050" dirty="0">
              <a:solidFill>
                <a:srgbClr val="008000"/>
              </a:solidFill>
              <a:highlight>
                <a:srgbClr val="FFFFFE"/>
              </a:highlight>
              <a:latin typeface="Impact"/>
              <a:ea typeface="Impact"/>
              <a:cs typeface="Impact"/>
              <a:sym typeface="Impact"/>
            </a:endParaRPr>
          </a:p>
          <a:p>
            <a:pPr marL="0" lvl="0" indent="0" algn="l" rtl="0">
              <a:lnSpc>
                <a:spcPct val="135714"/>
              </a:lnSpc>
              <a:spcBef>
                <a:spcPts val="0"/>
              </a:spcBef>
              <a:spcAft>
                <a:spcPts val="0"/>
              </a:spcAft>
              <a:buNone/>
            </a:pPr>
            <a:endParaRPr sz="1050" dirty="0">
              <a:solidFill>
                <a:srgbClr val="008000"/>
              </a:solidFill>
              <a:highlight>
                <a:srgbClr val="FFFFF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dirty="0">
              <a:solidFill>
                <a:srgbClr val="008000"/>
              </a:solidFill>
              <a:highlight>
                <a:srgbClr val="FFFFF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b="1" dirty="0">
              <a:solidFill>
                <a:srgbClr val="008000"/>
              </a:solidFill>
              <a:highlight>
                <a:srgbClr val="FFFFF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dirty="0">
              <a:solidFill>
                <a:srgbClr val="000000"/>
              </a:solidFill>
              <a:highlight>
                <a:srgbClr val="FFFFF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dirty="0">
              <a:solidFill>
                <a:srgbClr val="000000"/>
              </a:solidFill>
              <a:highlight>
                <a:srgbClr val="FFFFF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dirty="0">
              <a:solidFill>
                <a:srgbClr val="AF00DB"/>
              </a:solidFill>
              <a:highlight>
                <a:srgbClr val="FFFFFE"/>
              </a:highlight>
              <a:latin typeface="Courier New"/>
              <a:ea typeface="Courier New"/>
              <a:cs typeface="Courier New"/>
              <a:sym typeface="Courier New"/>
            </a:endParaRPr>
          </a:p>
        </p:txBody>
      </p:sp>
      <p:sp>
        <p:nvSpPr>
          <p:cNvPr id="2" name="CuadroTexto 1">
            <a:extLst>
              <a:ext uri="{FF2B5EF4-FFF2-40B4-BE49-F238E27FC236}">
                <a16:creationId xmlns:a16="http://schemas.microsoft.com/office/drawing/2014/main" id="{618C612B-91E6-50C0-9E5F-47629CAD26F3}"/>
              </a:ext>
            </a:extLst>
          </p:cNvPr>
          <p:cNvSpPr txBox="1"/>
          <p:nvPr/>
        </p:nvSpPr>
        <p:spPr>
          <a:xfrm>
            <a:off x="220050" y="1312325"/>
            <a:ext cx="2401468" cy="3662541"/>
          </a:xfrm>
          <a:prstGeom prst="rect">
            <a:avLst/>
          </a:prstGeom>
          <a:noFill/>
        </p:spPr>
        <p:txBody>
          <a:bodyPr wrap="square" rtlCol="0">
            <a:spAutoFit/>
          </a:bodyPr>
          <a:lstStyle/>
          <a:p>
            <a:r>
              <a:rPr lang="es-MX" sz="2400" b="1" dirty="0" err="1"/>
              <a:t>if</a:t>
            </a:r>
            <a:r>
              <a:rPr lang="es-MX" sz="2400" b="1" dirty="0"/>
              <a:t> </a:t>
            </a:r>
            <a:r>
              <a:rPr lang="es-MX" sz="1100" dirty="0"/>
              <a:t>primera condición</a:t>
            </a:r>
          </a:p>
          <a:p>
            <a:endParaRPr lang="es-MX" sz="2400" b="1" dirty="0"/>
          </a:p>
          <a:p>
            <a:endParaRPr lang="es-MX" sz="2400" b="1" dirty="0"/>
          </a:p>
          <a:p>
            <a:endParaRPr lang="es-MX" sz="2400" b="1" dirty="0"/>
          </a:p>
          <a:p>
            <a:r>
              <a:rPr lang="es-MX" sz="2400" b="1" dirty="0" err="1"/>
              <a:t>elif</a:t>
            </a:r>
            <a:r>
              <a:rPr lang="es-MX" sz="2400" b="1" dirty="0"/>
              <a:t> </a:t>
            </a:r>
            <a:r>
              <a:rPr lang="es-MX" sz="1100" dirty="0"/>
              <a:t>resto de condiciones</a:t>
            </a:r>
          </a:p>
          <a:p>
            <a:endParaRPr lang="es-MX" sz="2400" b="1" dirty="0"/>
          </a:p>
          <a:p>
            <a:endParaRPr lang="es-MX" sz="2400" b="1" dirty="0"/>
          </a:p>
          <a:p>
            <a:endParaRPr lang="es-MX" sz="2400" b="1" dirty="0"/>
          </a:p>
          <a:p>
            <a:r>
              <a:rPr lang="es-MX" sz="2400" b="1" dirty="0" err="1"/>
              <a:t>else</a:t>
            </a:r>
            <a:r>
              <a:rPr lang="es-MX" sz="2400" b="1" dirty="0"/>
              <a:t> </a:t>
            </a:r>
            <a:r>
              <a:rPr lang="es-MX" sz="1100" dirty="0"/>
              <a:t>cuando no se cumple las anteriores</a:t>
            </a:r>
            <a:endParaRPr lang="es-CO" sz="2400" dirty="0"/>
          </a:p>
        </p:txBody>
      </p:sp>
      <p:pic>
        <p:nvPicPr>
          <p:cNvPr id="6" name="Imagen 5">
            <a:extLst>
              <a:ext uri="{FF2B5EF4-FFF2-40B4-BE49-F238E27FC236}">
                <a16:creationId xmlns:a16="http://schemas.microsoft.com/office/drawing/2014/main" id="{15D2B827-F4EB-38DF-6796-2304EB115E4C}"/>
              </a:ext>
            </a:extLst>
          </p:cNvPr>
          <p:cNvPicPr>
            <a:picLocks noChangeAspect="1"/>
          </p:cNvPicPr>
          <p:nvPr/>
        </p:nvPicPr>
        <p:blipFill>
          <a:blip r:embed="rId3"/>
          <a:stretch>
            <a:fillRect/>
          </a:stretch>
        </p:blipFill>
        <p:spPr>
          <a:xfrm>
            <a:off x="7138014" y="3557070"/>
            <a:ext cx="1609725" cy="1171575"/>
          </a:xfrm>
          <a:prstGeom prst="rect">
            <a:avLst/>
          </a:prstGeom>
        </p:spPr>
      </p:pic>
      <p:pic>
        <p:nvPicPr>
          <p:cNvPr id="10" name="Imagen 9">
            <a:extLst>
              <a:ext uri="{FF2B5EF4-FFF2-40B4-BE49-F238E27FC236}">
                <a16:creationId xmlns:a16="http://schemas.microsoft.com/office/drawing/2014/main" id="{4E13492D-CEF6-DE3E-E41F-2DD9A23B1C94}"/>
              </a:ext>
            </a:extLst>
          </p:cNvPr>
          <p:cNvPicPr>
            <a:picLocks noChangeAspect="1"/>
          </p:cNvPicPr>
          <p:nvPr/>
        </p:nvPicPr>
        <p:blipFill>
          <a:blip r:embed="rId4"/>
          <a:stretch>
            <a:fillRect/>
          </a:stretch>
        </p:blipFill>
        <p:spPr>
          <a:xfrm>
            <a:off x="6202999" y="1710271"/>
            <a:ext cx="1409700" cy="1181100"/>
          </a:xfrm>
          <a:prstGeom prst="rect">
            <a:avLst/>
          </a:prstGeom>
        </p:spPr>
      </p:pic>
      <p:sp>
        <p:nvSpPr>
          <p:cNvPr id="15" name="CuadroTexto 14">
            <a:extLst>
              <a:ext uri="{FF2B5EF4-FFF2-40B4-BE49-F238E27FC236}">
                <a16:creationId xmlns:a16="http://schemas.microsoft.com/office/drawing/2014/main" id="{64D29183-52AC-3A3D-08EA-0D856770F57C}"/>
              </a:ext>
            </a:extLst>
          </p:cNvPr>
          <p:cNvSpPr txBox="1"/>
          <p:nvPr/>
        </p:nvSpPr>
        <p:spPr>
          <a:xfrm>
            <a:off x="2869660" y="2300821"/>
            <a:ext cx="4610910" cy="1569660"/>
          </a:xfrm>
          <a:prstGeom prst="rect">
            <a:avLst/>
          </a:prstGeom>
          <a:noFill/>
        </p:spPr>
        <p:txBody>
          <a:bodyPr wrap="square">
            <a:spAutoFit/>
          </a:bodyPr>
          <a:lstStyle/>
          <a:p>
            <a:r>
              <a:rPr lang="es-CO" sz="2400" b="1" dirty="0">
                <a:solidFill>
                  <a:schemeClr val="accent5">
                    <a:lumMod val="75000"/>
                  </a:schemeClr>
                </a:solidFill>
              </a:rPr>
              <a:t>nota</a:t>
            </a:r>
            <a:r>
              <a:rPr lang="es-CO" sz="2400" b="1" dirty="0">
                <a:solidFill>
                  <a:srgbClr val="C00000"/>
                </a:solidFill>
              </a:rPr>
              <a:t>: 3</a:t>
            </a:r>
          </a:p>
          <a:p>
            <a:endParaRPr lang="es-CO" sz="2400" b="1" dirty="0">
              <a:solidFill>
                <a:srgbClr val="C00000"/>
              </a:solidFill>
            </a:endParaRPr>
          </a:p>
          <a:p>
            <a:r>
              <a:rPr lang="es-CO" sz="2400" b="1" dirty="0" err="1">
                <a:solidFill>
                  <a:srgbClr val="C00000"/>
                </a:solidFill>
              </a:rPr>
              <a:t>if</a:t>
            </a:r>
            <a:r>
              <a:rPr lang="es-CO" sz="2400" dirty="0"/>
              <a:t> </a:t>
            </a:r>
            <a:r>
              <a:rPr lang="es-CO" sz="2400" b="1" dirty="0">
                <a:solidFill>
                  <a:schemeClr val="accent5">
                    <a:lumMod val="75000"/>
                  </a:schemeClr>
                </a:solidFill>
              </a:rPr>
              <a:t>nota</a:t>
            </a:r>
            <a:r>
              <a:rPr lang="es-CO" sz="2400" dirty="0"/>
              <a:t> </a:t>
            </a:r>
            <a:r>
              <a:rPr lang="es-CO" sz="2400" dirty="0">
                <a:solidFill>
                  <a:schemeClr val="accent6">
                    <a:lumMod val="50000"/>
                  </a:schemeClr>
                </a:solidFill>
              </a:rPr>
              <a:t>&lt; 5</a:t>
            </a:r>
            <a:r>
              <a:rPr lang="es-CO" sz="2400" b="1" dirty="0"/>
              <a:t>:</a:t>
            </a:r>
          </a:p>
          <a:p>
            <a:r>
              <a:rPr lang="es-CO" sz="2400" b="1" dirty="0"/>
              <a:t>  </a:t>
            </a:r>
            <a:r>
              <a:rPr lang="es-CO" sz="2400" b="1" dirty="0" err="1"/>
              <a:t>print</a:t>
            </a:r>
            <a:r>
              <a:rPr lang="es-CO" sz="2400" b="1" dirty="0"/>
              <a:t>("Mal")</a:t>
            </a:r>
          </a:p>
        </p:txBody>
      </p:sp>
      <mc:AlternateContent xmlns:mc="http://schemas.openxmlformats.org/markup-compatibility/2006" xmlns:p14="http://schemas.microsoft.com/office/powerpoint/2010/main">
        <mc:Choice Requires="p14">
          <p:contentPart p14:bwMode="auto" r:id="rId5">
            <p14:nvContentPartPr>
              <p14:cNvPr id="3" name="Entrada de lápiz 2">
                <a:extLst>
                  <a:ext uri="{FF2B5EF4-FFF2-40B4-BE49-F238E27FC236}">
                    <a16:creationId xmlns:a16="http://schemas.microsoft.com/office/drawing/2014/main" id="{714770F8-6D8B-6C9C-A204-5E54AF7D76DC}"/>
                  </a:ext>
                </a:extLst>
              </p14:cNvPr>
              <p14:cNvContentPartPr/>
              <p14:nvPr/>
            </p14:nvContentPartPr>
            <p14:xfrm>
              <a:off x="176040" y="1219320"/>
              <a:ext cx="8030160" cy="3429360"/>
            </p14:xfrm>
          </p:contentPart>
        </mc:Choice>
        <mc:Fallback xmlns="">
          <p:pic>
            <p:nvPicPr>
              <p:cNvPr id="3" name="Entrada de lápiz 2">
                <a:extLst>
                  <a:ext uri="{FF2B5EF4-FFF2-40B4-BE49-F238E27FC236}">
                    <a16:creationId xmlns:a16="http://schemas.microsoft.com/office/drawing/2014/main" id="{714770F8-6D8B-6C9C-A204-5E54AF7D76DC}"/>
                  </a:ext>
                </a:extLst>
              </p:cNvPr>
              <p:cNvPicPr/>
              <p:nvPr/>
            </p:nvPicPr>
            <p:blipFill>
              <a:blip r:embed="rId6"/>
              <a:stretch>
                <a:fillRect/>
              </a:stretch>
            </p:blipFill>
            <p:spPr>
              <a:xfrm>
                <a:off x="166680" y="1209960"/>
                <a:ext cx="8048880" cy="3448080"/>
              </a:xfrm>
              <a:prstGeom prst="rect">
                <a:avLst/>
              </a:prstGeom>
            </p:spPr>
          </p:pic>
        </mc:Fallback>
      </mc:AlternateContent>
    </p:spTree>
    <p:extLst>
      <p:ext uri="{BB962C8B-B14F-4D97-AF65-F5344CB8AC3E}">
        <p14:creationId xmlns:p14="http://schemas.microsoft.com/office/powerpoint/2010/main" val="36496257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37CCC3A7-FDAD-9304-0802-0CD06D24F2EF}"/>
              </a:ext>
            </a:extLst>
          </p:cNvPr>
          <p:cNvSpPr>
            <a:spLocks noGrp="1"/>
          </p:cNvSpPr>
          <p:nvPr>
            <p:ph type="body" idx="1"/>
          </p:nvPr>
        </p:nvSpPr>
        <p:spPr/>
        <p:txBody>
          <a:bodyPr>
            <a:normAutofit fontScale="85000" lnSpcReduction="20000"/>
          </a:bodyPr>
          <a:lstStyle/>
          <a:p>
            <a:pPr marL="114300" indent="0">
              <a:buNone/>
            </a:pPr>
            <a:r>
              <a:rPr lang="es-MX" b="1" dirty="0">
                <a:solidFill>
                  <a:schemeClr val="tx1"/>
                </a:solidFill>
              </a:rPr>
              <a:t>Se debe clasificar la edad de una persona en diferentes categorías:</a:t>
            </a:r>
          </a:p>
          <a:p>
            <a:pPr marL="114300" indent="0">
              <a:buNone/>
            </a:pPr>
            <a:endParaRPr lang="es-MX" dirty="0">
              <a:solidFill>
                <a:schemeClr val="tx1"/>
              </a:solidFill>
            </a:endParaRPr>
          </a:p>
          <a:p>
            <a:pPr marL="114300" indent="0">
              <a:buNone/>
            </a:pPr>
            <a:r>
              <a:rPr lang="es-MX" b="1" dirty="0">
                <a:solidFill>
                  <a:schemeClr val="tx1"/>
                </a:solidFill>
              </a:rPr>
              <a:t>Infante</a:t>
            </a:r>
            <a:r>
              <a:rPr lang="es-MX" dirty="0">
                <a:solidFill>
                  <a:schemeClr val="tx1"/>
                </a:solidFill>
              </a:rPr>
              <a:t>: Si la edad es menor a 2 años.</a:t>
            </a:r>
          </a:p>
          <a:p>
            <a:pPr marL="114300" indent="0">
              <a:buNone/>
            </a:pPr>
            <a:r>
              <a:rPr lang="es-MX" b="1" dirty="0">
                <a:solidFill>
                  <a:schemeClr val="tx1"/>
                </a:solidFill>
              </a:rPr>
              <a:t>Niño</a:t>
            </a:r>
            <a:r>
              <a:rPr lang="es-MX" dirty="0">
                <a:solidFill>
                  <a:schemeClr val="tx1"/>
                </a:solidFill>
              </a:rPr>
              <a:t>: Si la edad está entre 2 y 12 años.</a:t>
            </a:r>
          </a:p>
          <a:p>
            <a:pPr marL="114300" indent="0">
              <a:buNone/>
            </a:pPr>
            <a:r>
              <a:rPr lang="es-MX" b="1" dirty="0">
                <a:solidFill>
                  <a:schemeClr val="tx1"/>
                </a:solidFill>
              </a:rPr>
              <a:t>Adolescente</a:t>
            </a:r>
            <a:r>
              <a:rPr lang="es-MX" dirty="0">
                <a:solidFill>
                  <a:schemeClr val="tx1"/>
                </a:solidFill>
              </a:rPr>
              <a:t>: Si la edad está entre 13 y 17 años.</a:t>
            </a:r>
          </a:p>
          <a:p>
            <a:pPr marL="114300" indent="0">
              <a:buNone/>
            </a:pPr>
            <a:r>
              <a:rPr lang="es-MX" b="1" dirty="0">
                <a:solidFill>
                  <a:schemeClr val="tx1"/>
                </a:solidFill>
              </a:rPr>
              <a:t>Adulto</a:t>
            </a:r>
            <a:r>
              <a:rPr lang="es-MX" dirty="0">
                <a:solidFill>
                  <a:schemeClr val="tx1"/>
                </a:solidFill>
              </a:rPr>
              <a:t>: Si la edad está entre 18 y 64 años.</a:t>
            </a:r>
          </a:p>
          <a:p>
            <a:pPr marL="114300" indent="0">
              <a:buNone/>
            </a:pPr>
            <a:r>
              <a:rPr lang="es-MX" b="1" dirty="0">
                <a:solidFill>
                  <a:schemeClr val="tx1"/>
                </a:solidFill>
              </a:rPr>
              <a:t>Senior</a:t>
            </a:r>
            <a:r>
              <a:rPr lang="es-MX" dirty="0">
                <a:solidFill>
                  <a:schemeClr val="tx1"/>
                </a:solidFill>
              </a:rPr>
              <a:t>: Si la edad es 65 años o más.</a:t>
            </a:r>
          </a:p>
          <a:p>
            <a:pPr marL="114300" indent="0">
              <a:buNone/>
            </a:pPr>
            <a:endParaRPr lang="es-MX" dirty="0">
              <a:solidFill>
                <a:schemeClr val="tx1"/>
              </a:solidFill>
            </a:endParaRPr>
          </a:p>
          <a:p>
            <a:pPr marL="114300" indent="0">
              <a:buNone/>
            </a:pPr>
            <a:r>
              <a:rPr lang="es-MX" b="1" dirty="0">
                <a:solidFill>
                  <a:schemeClr val="tx1"/>
                </a:solidFill>
              </a:rPr>
              <a:t>Escribe un programa en Python que:</a:t>
            </a:r>
          </a:p>
          <a:p>
            <a:pPr marL="114300" indent="0">
              <a:buNone/>
            </a:pPr>
            <a:endParaRPr lang="es-MX" dirty="0">
              <a:solidFill>
                <a:schemeClr val="tx1"/>
              </a:solidFill>
            </a:endParaRPr>
          </a:p>
          <a:p>
            <a:pPr>
              <a:buFont typeface="+mj-lt"/>
              <a:buAutoNum type="arabicPeriod"/>
            </a:pPr>
            <a:r>
              <a:rPr lang="es-MX" b="1" dirty="0">
                <a:solidFill>
                  <a:schemeClr val="tx1"/>
                </a:solidFill>
              </a:rPr>
              <a:t>Pida al usuario ingresar la edad de la persona.</a:t>
            </a:r>
          </a:p>
          <a:p>
            <a:pPr>
              <a:buFont typeface="+mj-lt"/>
              <a:buAutoNum type="arabicPeriod"/>
            </a:pPr>
            <a:r>
              <a:rPr lang="es-MX" b="1" dirty="0">
                <a:solidFill>
                  <a:schemeClr val="tx1"/>
                </a:solidFill>
              </a:rPr>
              <a:t>Determine en qué categoría de edad se encuentra la persona según los criterios dados.</a:t>
            </a:r>
          </a:p>
          <a:p>
            <a:pPr>
              <a:buFont typeface="+mj-lt"/>
              <a:buAutoNum type="arabicPeriod"/>
            </a:pPr>
            <a:r>
              <a:rPr lang="es-MX" b="1" dirty="0">
                <a:solidFill>
                  <a:schemeClr val="tx1"/>
                </a:solidFill>
              </a:rPr>
              <a:t>Imprima un mensaje indicando la categoría de edad de la persona.</a:t>
            </a:r>
            <a:endParaRPr lang="es-CO" b="1" dirty="0">
              <a:solidFill>
                <a:schemeClr val="tx1"/>
              </a:solidFill>
            </a:endParaRPr>
          </a:p>
        </p:txBody>
      </p:sp>
      <p:sp>
        <p:nvSpPr>
          <p:cNvPr id="4" name="Título 1">
            <a:extLst>
              <a:ext uri="{FF2B5EF4-FFF2-40B4-BE49-F238E27FC236}">
                <a16:creationId xmlns:a16="http://schemas.microsoft.com/office/drawing/2014/main" id="{137DE182-F8F1-9A32-62A2-AD3E5AFDA555}"/>
              </a:ext>
            </a:extLst>
          </p:cNvPr>
          <p:cNvSpPr txBox="1">
            <a:spLocks/>
          </p:cNvSpPr>
          <p:nvPr/>
        </p:nvSpPr>
        <p:spPr>
          <a:xfrm>
            <a:off x="311700" y="204280"/>
            <a:ext cx="8520600" cy="1017725"/>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s-MX" sz="6000" b="1" dirty="0">
                <a:solidFill>
                  <a:schemeClr val="accent1">
                    <a:lumMod val="50000"/>
                  </a:schemeClr>
                </a:solidFill>
                <a:latin typeface="Aharoni" panose="02010803020104030203" pitchFamily="2" charset="-79"/>
                <a:cs typeface="Aharoni" panose="02010803020104030203" pitchFamily="2" charset="-79"/>
              </a:rPr>
              <a:t>Ejercicio 3</a:t>
            </a:r>
            <a:r>
              <a:rPr lang="es-MX" sz="6000" b="1" dirty="0">
                <a:solidFill>
                  <a:schemeClr val="accent1">
                    <a:lumMod val="50000"/>
                  </a:schemeClr>
                </a:solidFill>
              </a:rPr>
              <a:t>	 </a:t>
            </a:r>
            <a:endParaRPr lang="es-CO" sz="6000" b="1" dirty="0">
              <a:solidFill>
                <a:schemeClr val="accent1">
                  <a:lumMod val="50000"/>
                </a:schemeClr>
              </a:solidFill>
            </a:endParaRPr>
          </a:p>
        </p:txBody>
      </p:sp>
      <p:pic>
        <p:nvPicPr>
          <p:cNvPr id="8194" name="Picture 2" descr="100 Gifs mas graciosos que describen el dia dia de un programador  informatico">
            <a:extLst>
              <a:ext uri="{FF2B5EF4-FFF2-40B4-BE49-F238E27FC236}">
                <a16:creationId xmlns:a16="http://schemas.microsoft.com/office/drawing/2014/main" id="{3622A1E3-EAEB-5A5D-2BA1-13815CA8AB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57977" y="1771650"/>
            <a:ext cx="2828925"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60413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7"/>
          <p:cNvSpPr txBox="1">
            <a:spLocks noGrp="1"/>
          </p:cNvSpPr>
          <p:nvPr>
            <p:ph type="title"/>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181" name="Google Shape;181;p27"/>
          <p:cNvSpPr txBox="1"/>
          <p:nvPr/>
        </p:nvSpPr>
        <p:spPr>
          <a:xfrm>
            <a:off x="2498275" y="492725"/>
            <a:ext cx="2956500" cy="400200"/>
          </a:xfrm>
          <a:prstGeom prst="rect">
            <a:avLst/>
          </a:prstGeom>
          <a:solidFill>
            <a:schemeClr val="accen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a:solidFill>
                  <a:schemeClr val="lt1"/>
                </a:solidFill>
              </a:rPr>
              <a:t>Bucles</a:t>
            </a:r>
            <a:endParaRPr b="1" dirty="0">
              <a:solidFill>
                <a:schemeClr val="lt1"/>
              </a:solidFill>
            </a:endParaRPr>
          </a:p>
        </p:txBody>
      </p:sp>
      <p:sp>
        <p:nvSpPr>
          <p:cNvPr id="6" name="CuadroTexto 5">
            <a:extLst>
              <a:ext uri="{FF2B5EF4-FFF2-40B4-BE49-F238E27FC236}">
                <a16:creationId xmlns:a16="http://schemas.microsoft.com/office/drawing/2014/main" id="{49EB0D46-6B10-C729-31B2-89225E3197E7}"/>
              </a:ext>
            </a:extLst>
          </p:cNvPr>
          <p:cNvSpPr txBox="1"/>
          <p:nvPr/>
        </p:nvSpPr>
        <p:spPr>
          <a:xfrm>
            <a:off x="5549875" y="492725"/>
            <a:ext cx="3433864" cy="738664"/>
          </a:xfrm>
          <a:prstGeom prst="rect">
            <a:avLst/>
          </a:prstGeom>
          <a:noFill/>
        </p:spPr>
        <p:txBody>
          <a:bodyPr wrap="square">
            <a:spAutoFit/>
          </a:bodyPr>
          <a:lstStyle/>
          <a:p>
            <a:pPr algn="just"/>
            <a:r>
              <a:rPr lang="es-MX" dirty="0"/>
              <a:t>son estructuras de control que repiten un bloque de código múltiples veces hasta que se cumple una condición específica</a:t>
            </a:r>
            <a:endParaRPr lang="es-CO" dirty="0"/>
          </a:p>
        </p:txBody>
      </p:sp>
      <p:pic>
        <p:nvPicPr>
          <p:cNvPr id="5" name="Imagen 4">
            <a:extLst>
              <a:ext uri="{FF2B5EF4-FFF2-40B4-BE49-F238E27FC236}">
                <a16:creationId xmlns:a16="http://schemas.microsoft.com/office/drawing/2014/main" id="{2812F335-4185-2439-6A8B-33F7D4A931F5}"/>
              </a:ext>
            </a:extLst>
          </p:cNvPr>
          <p:cNvPicPr>
            <a:picLocks noChangeAspect="1"/>
          </p:cNvPicPr>
          <p:nvPr/>
        </p:nvPicPr>
        <p:blipFill>
          <a:blip r:embed="rId3"/>
          <a:stretch>
            <a:fillRect/>
          </a:stretch>
        </p:blipFill>
        <p:spPr>
          <a:xfrm>
            <a:off x="274041" y="2073943"/>
            <a:ext cx="1752600" cy="933450"/>
          </a:xfrm>
          <a:prstGeom prst="rect">
            <a:avLst/>
          </a:prstGeom>
        </p:spPr>
      </p:pic>
      <p:sp>
        <p:nvSpPr>
          <p:cNvPr id="7" name="CuadroTexto 6">
            <a:extLst>
              <a:ext uri="{FF2B5EF4-FFF2-40B4-BE49-F238E27FC236}">
                <a16:creationId xmlns:a16="http://schemas.microsoft.com/office/drawing/2014/main" id="{23F5FCE2-5F59-DFC1-E9DA-C34C6622F4D5}"/>
              </a:ext>
            </a:extLst>
          </p:cNvPr>
          <p:cNvSpPr txBox="1"/>
          <p:nvPr/>
        </p:nvSpPr>
        <p:spPr>
          <a:xfrm>
            <a:off x="172701" y="3254293"/>
            <a:ext cx="8466087" cy="1815882"/>
          </a:xfrm>
          <a:prstGeom prst="rect">
            <a:avLst/>
          </a:prstGeom>
          <a:noFill/>
        </p:spPr>
        <p:txBody>
          <a:bodyPr wrap="square">
            <a:spAutoFit/>
          </a:bodyPr>
          <a:lstStyle/>
          <a:p>
            <a:pPr algn="just"/>
            <a:r>
              <a:rPr lang="es-MX" b="1" dirty="0">
                <a:solidFill>
                  <a:srgbClr val="002060"/>
                </a:solidFill>
              </a:rPr>
              <a:t>Iteración</a:t>
            </a:r>
            <a:r>
              <a:rPr lang="es-MX" dirty="0"/>
              <a:t>: Tanto </a:t>
            </a:r>
            <a:r>
              <a:rPr lang="es-MX" b="1" dirty="0" err="1"/>
              <a:t>for</a:t>
            </a:r>
            <a:r>
              <a:rPr lang="es-MX" dirty="0"/>
              <a:t> como </a:t>
            </a:r>
            <a:r>
              <a:rPr lang="es-MX" b="1" dirty="0" err="1"/>
              <a:t>while</a:t>
            </a:r>
            <a:r>
              <a:rPr lang="es-MX" dirty="0"/>
              <a:t> repiten un bloque de código varias veces, pero la forma en que deciden continuar o detener el bucle es diferente.</a:t>
            </a:r>
          </a:p>
          <a:p>
            <a:pPr algn="just"/>
            <a:endParaRPr lang="es-MX" dirty="0"/>
          </a:p>
          <a:p>
            <a:pPr algn="just"/>
            <a:r>
              <a:rPr lang="es-MX" b="1" dirty="0">
                <a:solidFill>
                  <a:srgbClr val="002060"/>
                </a:solidFill>
              </a:rPr>
              <a:t>Condición de parada</a:t>
            </a:r>
            <a:r>
              <a:rPr lang="es-MX" dirty="0"/>
              <a:t>: Para </a:t>
            </a:r>
            <a:r>
              <a:rPr lang="es-MX" b="1" dirty="0" err="1"/>
              <a:t>for</a:t>
            </a:r>
            <a:r>
              <a:rPr lang="es-MX" dirty="0"/>
              <a:t>, generalmente es alcanzar el final de una secuencia. Para </a:t>
            </a:r>
            <a:r>
              <a:rPr lang="es-MX" b="1" dirty="0" err="1"/>
              <a:t>while</a:t>
            </a:r>
            <a:r>
              <a:rPr lang="es-MX" dirty="0"/>
              <a:t>, es cuando una condición específica deja de ser verdadera.</a:t>
            </a:r>
          </a:p>
          <a:p>
            <a:pPr algn="just"/>
            <a:endParaRPr lang="es-MX" dirty="0"/>
          </a:p>
          <a:p>
            <a:pPr algn="just"/>
            <a:r>
              <a:rPr lang="es-MX" b="1" dirty="0">
                <a:solidFill>
                  <a:srgbClr val="002060"/>
                </a:solidFill>
              </a:rPr>
              <a:t>Uso común</a:t>
            </a:r>
            <a:r>
              <a:rPr lang="es-MX" dirty="0"/>
              <a:t>: </a:t>
            </a:r>
            <a:r>
              <a:rPr lang="es-MX" b="1" dirty="0" err="1"/>
              <a:t>for</a:t>
            </a:r>
            <a:r>
              <a:rPr lang="es-MX" dirty="0"/>
              <a:t> es útil cuando sabes de antemano cuántas veces necesitas iterar, mientras que </a:t>
            </a:r>
            <a:r>
              <a:rPr lang="es-MX" b="1" dirty="0" err="1"/>
              <a:t>while</a:t>
            </a:r>
            <a:r>
              <a:rPr lang="es-MX" dirty="0"/>
              <a:t> es ideal cuando quieres continuar hasta que se cumpla o deje de cumplir una condición.</a:t>
            </a:r>
            <a:endParaRPr lang="es-CO" dirty="0"/>
          </a:p>
        </p:txBody>
      </p:sp>
      <p:sp>
        <p:nvSpPr>
          <p:cNvPr id="3" name="CuadroTexto 2">
            <a:extLst>
              <a:ext uri="{FF2B5EF4-FFF2-40B4-BE49-F238E27FC236}">
                <a16:creationId xmlns:a16="http://schemas.microsoft.com/office/drawing/2014/main" id="{3DE23436-B21D-C3B7-202C-21C9099BAFC5}"/>
              </a:ext>
            </a:extLst>
          </p:cNvPr>
          <p:cNvSpPr txBox="1"/>
          <p:nvPr/>
        </p:nvSpPr>
        <p:spPr>
          <a:xfrm>
            <a:off x="348163" y="1017575"/>
            <a:ext cx="2202873" cy="400110"/>
          </a:xfrm>
          <a:prstGeom prst="rect">
            <a:avLst/>
          </a:prstGeom>
          <a:noFill/>
        </p:spPr>
        <p:txBody>
          <a:bodyPr wrap="square" rtlCol="0">
            <a:spAutoFit/>
          </a:bodyPr>
          <a:lstStyle/>
          <a:p>
            <a:r>
              <a:rPr lang="es-MX" sz="2000" b="1" dirty="0" err="1"/>
              <a:t>while</a:t>
            </a:r>
            <a:endParaRPr lang="es-CO" b="1" dirty="0"/>
          </a:p>
        </p:txBody>
      </p:sp>
      <p:sp>
        <p:nvSpPr>
          <p:cNvPr id="9" name="CuadroTexto 8">
            <a:extLst>
              <a:ext uri="{FF2B5EF4-FFF2-40B4-BE49-F238E27FC236}">
                <a16:creationId xmlns:a16="http://schemas.microsoft.com/office/drawing/2014/main" id="{54C183BA-D0A4-01DE-EB62-0D227A234613}"/>
              </a:ext>
            </a:extLst>
          </p:cNvPr>
          <p:cNvSpPr txBox="1"/>
          <p:nvPr/>
        </p:nvSpPr>
        <p:spPr>
          <a:xfrm>
            <a:off x="4879571" y="1504267"/>
            <a:ext cx="2202873" cy="400110"/>
          </a:xfrm>
          <a:prstGeom prst="rect">
            <a:avLst/>
          </a:prstGeom>
          <a:noFill/>
        </p:spPr>
        <p:txBody>
          <a:bodyPr wrap="square" rtlCol="0">
            <a:spAutoFit/>
          </a:bodyPr>
          <a:lstStyle/>
          <a:p>
            <a:r>
              <a:rPr lang="es-MX" sz="2000" b="1" dirty="0" err="1"/>
              <a:t>for</a:t>
            </a:r>
            <a:endParaRPr lang="es-CO" b="1" dirty="0"/>
          </a:p>
        </p:txBody>
      </p:sp>
      <p:pic>
        <p:nvPicPr>
          <p:cNvPr id="8" name="Imagen 7">
            <a:extLst>
              <a:ext uri="{FF2B5EF4-FFF2-40B4-BE49-F238E27FC236}">
                <a16:creationId xmlns:a16="http://schemas.microsoft.com/office/drawing/2014/main" id="{537D355F-EC71-E077-095E-3CEBA7A2D842}"/>
              </a:ext>
            </a:extLst>
          </p:cNvPr>
          <p:cNvPicPr>
            <a:picLocks noChangeAspect="1"/>
          </p:cNvPicPr>
          <p:nvPr/>
        </p:nvPicPr>
        <p:blipFill>
          <a:blip r:embed="rId4"/>
          <a:stretch>
            <a:fillRect/>
          </a:stretch>
        </p:blipFill>
        <p:spPr>
          <a:xfrm>
            <a:off x="5454775" y="1586354"/>
            <a:ext cx="2771775" cy="476250"/>
          </a:xfrm>
          <a:prstGeom prst="rect">
            <a:avLst/>
          </a:prstGeom>
        </p:spPr>
      </p:pic>
      <p:pic>
        <p:nvPicPr>
          <p:cNvPr id="11" name="Imagen 10">
            <a:extLst>
              <a:ext uri="{FF2B5EF4-FFF2-40B4-BE49-F238E27FC236}">
                <a16:creationId xmlns:a16="http://schemas.microsoft.com/office/drawing/2014/main" id="{F7E79307-5AA9-2098-FC61-268EF21174F3}"/>
              </a:ext>
            </a:extLst>
          </p:cNvPr>
          <p:cNvPicPr>
            <a:picLocks noChangeAspect="1"/>
          </p:cNvPicPr>
          <p:nvPr/>
        </p:nvPicPr>
        <p:blipFill>
          <a:blip r:embed="rId5"/>
          <a:stretch>
            <a:fillRect/>
          </a:stretch>
        </p:blipFill>
        <p:spPr>
          <a:xfrm>
            <a:off x="1212623" y="1156098"/>
            <a:ext cx="2867025" cy="485775"/>
          </a:xfrm>
          <a:prstGeom prst="rect">
            <a:avLst/>
          </a:prstGeom>
        </p:spPr>
      </p:pic>
      <p:pic>
        <p:nvPicPr>
          <p:cNvPr id="13" name="Imagen 12">
            <a:extLst>
              <a:ext uri="{FF2B5EF4-FFF2-40B4-BE49-F238E27FC236}">
                <a16:creationId xmlns:a16="http://schemas.microsoft.com/office/drawing/2014/main" id="{668FC277-984F-4639-FEF4-8DCAF9D78FEB}"/>
              </a:ext>
            </a:extLst>
          </p:cNvPr>
          <p:cNvPicPr>
            <a:picLocks noChangeAspect="1"/>
          </p:cNvPicPr>
          <p:nvPr/>
        </p:nvPicPr>
        <p:blipFill>
          <a:blip r:embed="rId6"/>
          <a:stretch>
            <a:fillRect/>
          </a:stretch>
        </p:blipFill>
        <p:spPr>
          <a:xfrm>
            <a:off x="5454775" y="2367559"/>
            <a:ext cx="2266950" cy="476250"/>
          </a:xfrm>
          <a:prstGeom prst="rect">
            <a:avLst/>
          </a:prstGeom>
        </p:spPr>
      </p:pic>
    </p:spTree>
    <p:extLst>
      <p:ext uri="{BB962C8B-B14F-4D97-AF65-F5344CB8AC3E}">
        <p14:creationId xmlns:p14="http://schemas.microsoft.com/office/powerpoint/2010/main" val="34831132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7"/>
          <p:cNvSpPr txBox="1">
            <a:spLocks noGrp="1"/>
          </p:cNvSpPr>
          <p:nvPr>
            <p:ph type="title"/>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181" name="Google Shape;181;p27"/>
          <p:cNvSpPr txBox="1"/>
          <p:nvPr/>
        </p:nvSpPr>
        <p:spPr>
          <a:xfrm>
            <a:off x="2498275" y="492725"/>
            <a:ext cx="2956500" cy="400200"/>
          </a:xfrm>
          <a:prstGeom prst="rect">
            <a:avLst/>
          </a:prstGeom>
          <a:solidFill>
            <a:schemeClr val="accen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dirty="0">
                <a:solidFill>
                  <a:schemeClr val="lt1"/>
                </a:solidFill>
              </a:rPr>
              <a:t>Funciones</a:t>
            </a:r>
            <a:endParaRPr b="1" dirty="0">
              <a:solidFill>
                <a:schemeClr val="lt1"/>
              </a:solidFill>
            </a:endParaRPr>
          </a:p>
        </p:txBody>
      </p:sp>
      <p:pic>
        <p:nvPicPr>
          <p:cNvPr id="4" name="Imagen 3">
            <a:extLst>
              <a:ext uri="{FF2B5EF4-FFF2-40B4-BE49-F238E27FC236}">
                <a16:creationId xmlns:a16="http://schemas.microsoft.com/office/drawing/2014/main" id="{3AE0036C-6608-1F4A-D413-571A7DD27016}"/>
              </a:ext>
            </a:extLst>
          </p:cNvPr>
          <p:cNvPicPr>
            <a:picLocks noChangeAspect="1"/>
          </p:cNvPicPr>
          <p:nvPr/>
        </p:nvPicPr>
        <p:blipFill>
          <a:blip r:embed="rId3"/>
          <a:stretch>
            <a:fillRect/>
          </a:stretch>
        </p:blipFill>
        <p:spPr>
          <a:xfrm>
            <a:off x="258087" y="1475415"/>
            <a:ext cx="3990975" cy="971550"/>
          </a:xfrm>
          <a:prstGeom prst="rect">
            <a:avLst/>
          </a:prstGeom>
        </p:spPr>
      </p:pic>
      <p:sp>
        <p:nvSpPr>
          <p:cNvPr id="15" name="CuadroTexto 14">
            <a:extLst>
              <a:ext uri="{FF2B5EF4-FFF2-40B4-BE49-F238E27FC236}">
                <a16:creationId xmlns:a16="http://schemas.microsoft.com/office/drawing/2014/main" id="{73F3A169-FD1B-885F-72EC-0CAD0972B82C}"/>
              </a:ext>
            </a:extLst>
          </p:cNvPr>
          <p:cNvSpPr txBox="1"/>
          <p:nvPr/>
        </p:nvSpPr>
        <p:spPr>
          <a:xfrm>
            <a:off x="4535586" y="952195"/>
            <a:ext cx="4608414" cy="523220"/>
          </a:xfrm>
          <a:prstGeom prst="rect">
            <a:avLst/>
          </a:prstGeom>
          <a:noFill/>
        </p:spPr>
        <p:txBody>
          <a:bodyPr wrap="square">
            <a:spAutoFit/>
          </a:bodyPr>
          <a:lstStyle/>
          <a:p>
            <a:r>
              <a:rPr lang="es-MX" dirty="0"/>
              <a:t>Una función es un bloque de código organizado y reutilizable que realiza una acción específica.</a:t>
            </a:r>
            <a:endParaRPr lang="es-CO" dirty="0"/>
          </a:p>
        </p:txBody>
      </p:sp>
      <p:pic>
        <p:nvPicPr>
          <p:cNvPr id="14" name="Imagen 13">
            <a:extLst>
              <a:ext uri="{FF2B5EF4-FFF2-40B4-BE49-F238E27FC236}">
                <a16:creationId xmlns:a16="http://schemas.microsoft.com/office/drawing/2014/main" id="{B0A385D2-D8E2-A5BF-8C02-41048B12DF96}"/>
              </a:ext>
            </a:extLst>
          </p:cNvPr>
          <p:cNvPicPr>
            <a:picLocks noChangeAspect="1"/>
          </p:cNvPicPr>
          <p:nvPr/>
        </p:nvPicPr>
        <p:blipFill>
          <a:blip r:embed="rId4"/>
          <a:stretch>
            <a:fillRect/>
          </a:stretch>
        </p:blipFill>
        <p:spPr>
          <a:xfrm>
            <a:off x="5357670" y="3820493"/>
            <a:ext cx="2591527" cy="904335"/>
          </a:xfrm>
          <a:prstGeom prst="rect">
            <a:avLst/>
          </a:prstGeom>
        </p:spPr>
      </p:pic>
      <p:pic>
        <p:nvPicPr>
          <p:cNvPr id="19" name="Imagen 18">
            <a:extLst>
              <a:ext uri="{FF2B5EF4-FFF2-40B4-BE49-F238E27FC236}">
                <a16:creationId xmlns:a16="http://schemas.microsoft.com/office/drawing/2014/main" id="{6F45569E-89B6-267F-19EF-36F31480C415}"/>
              </a:ext>
            </a:extLst>
          </p:cNvPr>
          <p:cNvPicPr>
            <a:picLocks noChangeAspect="1"/>
          </p:cNvPicPr>
          <p:nvPr/>
        </p:nvPicPr>
        <p:blipFill>
          <a:blip r:embed="rId5"/>
          <a:stretch>
            <a:fillRect/>
          </a:stretch>
        </p:blipFill>
        <p:spPr>
          <a:xfrm>
            <a:off x="764505" y="3113545"/>
            <a:ext cx="2486025" cy="771525"/>
          </a:xfrm>
          <a:prstGeom prst="rect">
            <a:avLst/>
          </a:prstGeom>
        </p:spPr>
      </p:pic>
    </p:spTree>
    <p:extLst>
      <p:ext uri="{BB962C8B-B14F-4D97-AF65-F5344CB8AC3E}">
        <p14:creationId xmlns:p14="http://schemas.microsoft.com/office/powerpoint/2010/main" val="22660405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0;p27">
            <a:extLst>
              <a:ext uri="{FF2B5EF4-FFF2-40B4-BE49-F238E27FC236}">
                <a16:creationId xmlns:a16="http://schemas.microsoft.com/office/drawing/2014/main" id="{EC458EA5-A445-2D70-B402-BD2B2C7BF938}"/>
              </a:ext>
            </a:extLst>
          </p:cNvPr>
          <p:cNvSpPr txBox="1">
            <a:spLocks/>
          </p:cNvSpPr>
          <p:nvPr/>
        </p:nvSpPr>
        <p:spPr>
          <a:xfrm>
            <a:off x="-76200" y="73325"/>
            <a:ext cx="3051600" cy="572700"/>
          </a:xfrm>
          <a:prstGeom prst="rect">
            <a:avLst/>
          </a:prstGeom>
          <a:solidFill>
            <a:schemeClr val="accent4"/>
          </a:solid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s-US"/>
              <a:t>Python</a:t>
            </a:r>
          </a:p>
        </p:txBody>
      </p:sp>
      <p:sp>
        <p:nvSpPr>
          <p:cNvPr id="5" name="Google Shape;181;p27">
            <a:extLst>
              <a:ext uri="{FF2B5EF4-FFF2-40B4-BE49-F238E27FC236}">
                <a16:creationId xmlns:a16="http://schemas.microsoft.com/office/drawing/2014/main" id="{8CF3E0F4-15C3-D9A4-19C3-3D6D2BE055D5}"/>
              </a:ext>
            </a:extLst>
          </p:cNvPr>
          <p:cNvSpPr txBox="1"/>
          <p:nvPr/>
        </p:nvSpPr>
        <p:spPr>
          <a:xfrm>
            <a:off x="2498275" y="492725"/>
            <a:ext cx="2956500" cy="400200"/>
          </a:xfrm>
          <a:prstGeom prst="rect">
            <a:avLst/>
          </a:prstGeom>
          <a:solidFill>
            <a:schemeClr val="accen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dirty="0">
                <a:solidFill>
                  <a:schemeClr val="lt1"/>
                </a:solidFill>
              </a:rPr>
              <a:t>Otras estructuras de control</a:t>
            </a:r>
            <a:endParaRPr b="1" dirty="0">
              <a:solidFill>
                <a:schemeClr val="lt1"/>
              </a:solidFill>
            </a:endParaRPr>
          </a:p>
        </p:txBody>
      </p:sp>
      <p:sp>
        <p:nvSpPr>
          <p:cNvPr id="6" name="CuadroTexto 5">
            <a:extLst>
              <a:ext uri="{FF2B5EF4-FFF2-40B4-BE49-F238E27FC236}">
                <a16:creationId xmlns:a16="http://schemas.microsoft.com/office/drawing/2014/main" id="{FBAE6F1F-067D-68BB-594F-4B3859518D17}"/>
              </a:ext>
            </a:extLst>
          </p:cNvPr>
          <p:cNvSpPr txBox="1"/>
          <p:nvPr/>
        </p:nvSpPr>
        <p:spPr>
          <a:xfrm>
            <a:off x="4535586" y="952195"/>
            <a:ext cx="4608414" cy="523220"/>
          </a:xfrm>
          <a:prstGeom prst="rect">
            <a:avLst/>
          </a:prstGeom>
          <a:noFill/>
        </p:spPr>
        <p:txBody>
          <a:bodyPr wrap="square">
            <a:spAutoFit/>
          </a:bodyPr>
          <a:lstStyle/>
          <a:p>
            <a:r>
              <a:rPr lang="es-US" dirty="0"/>
              <a:t>específicamente para </a:t>
            </a:r>
            <a:r>
              <a:rPr lang="es-US" b="1" dirty="0"/>
              <a:t>manejo de errores (excepciones)</a:t>
            </a:r>
            <a:r>
              <a:rPr lang="es-US" dirty="0"/>
              <a:t>.</a:t>
            </a:r>
            <a:endParaRPr lang="es-CO" dirty="0"/>
          </a:p>
        </p:txBody>
      </p:sp>
      <p:pic>
        <p:nvPicPr>
          <p:cNvPr id="8" name="Imagen 7">
            <a:extLst>
              <a:ext uri="{FF2B5EF4-FFF2-40B4-BE49-F238E27FC236}">
                <a16:creationId xmlns:a16="http://schemas.microsoft.com/office/drawing/2014/main" id="{89493F3F-5717-9519-2B62-46689D9BB413}"/>
              </a:ext>
            </a:extLst>
          </p:cNvPr>
          <p:cNvPicPr>
            <a:picLocks noChangeAspect="1"/>
          </p:cNvPicPr>
          <p:nvPr/>
        </p:nvPicPr>
        <p:blipFill>
          <a:blip r:embed="rId2"/>
          <a:stretch>
            <a:fillRect/>
          </a:stretch>
        </p:blipFill>
        <p:spPr>
          <a:xfrm>
            <a:off x="579840" y="2426872"/>
            <a:ext cx="6259953" cy="1065153"/>
          </a:xfrm>
          <a:prstGeom prst="rect">
            <a:avLst/>
          </a:prstGeom>
        </p:spPr>
      </p:pic>
      <p:pic>
        <p:nvPicPr>
          <p:cNvPr id="11" name="Imagen 10">
            <a:extLst>
              <a:ext uri="{FF2B5EF4-FFF2-40B4-BE49-F238E27FC236}">
                <a16:creationId xmlns:a16="http://schemas.microsoft.com/office/drawing/2014/main" id="{BE48F68C-1757-5300-C330-FD743B75B6CA}"/>
              </a:ext>
            </a:extLst>
          </p:cNvPr>
          <p:cNvPicPr>
            <a:picLocks noChangeAspect="1"/>
          </p:cNvPicPr>
          <p:nvPr/>
        </p:nvPicPr>
        <p:blipFill>
          <a:blip r:embed="rId3"/>
          <a:stretch>
            <a:fillRect/>
          </a:stretch>
        </p:blipFill>
        <p:spPr>
          <a:xfrm>
            <a:off x="891150" y="3807245"/>
            <a:ext cx="4563626" cy="642412"/>
          </a:xfrm>
          <a:prstGeom prst="rect">
            <a:avLst/>
          </a:prstGeom>
        </p:spPr>
      </p:pic>
      <p:pic>
        <p:nvPicPr>
          <p:cNvPr id="13" name="Imagen 12">
            <a:extLst>
              <a:ext uri="{FF2B5EF4-FFF2-40B4-BE49-F238E27FC236}">
                <a16:creationId xmlns:a16="http://schemas.microsoft.com/office/drawing/2014/main" id="{549B1946-6DDF-5F14-15C4-65E17446EB85}"/>
              </a:ext>
            </a:extLst>
          </p:cNvPr>
          <p:cNvPicPr>
            <a:picLocks noChangeAspect="1"/>
          </p:cNvPicPr>
          <p:nvPr/>
        </p:nvPicPr>
        <p:blipFill>
          <a:blip r:embed="rId4"/>
          <a:stretch>
            <a:fillRect/>
          </a:stretch>
        </p:blipFill>
        <p:spPr>
          <a:xfrm>
            <a:off x="579840" y="1644368"/>
            <a:ext cx="5410669" cy="624894"/>
          </a:xfrm>
          <a:prstGeom prst="rect">
            <a:avLst/>
          </a:prstGeom>
        </p:spPr>
      </p:pic>
    </p:spTree>
    <p:extLst>
      <p:ext uri="{BB962C8B-B14F-4D97-AF65-F5344CB8AC3E}">
        <p14:creationId xmlns:p14="http://schemas.microsoft.com/office/powerpoint/2010/main" val="16920785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37CCC3A7-FDAD-9304-0802-0CD06D24F2EF}"/>
              </a:ext>
            </a:extLst>
          </p:cNvPr>
          <p:cNvSpPr>
            <a:spLocks noGrp="1"/>
          </p:cNvSpPr>
          <p:nvPr>
            <p:ph type="body" idx="1"/>
          </p:nvPr>
        </p:nvSpPr>
        <p:spPr>
          <a:xfrm>
            <a:off x="311700" y="1446177"/>
            <a:ext cx="4842927" cy="3416400"/>
          </a:xfrm>
        </p:spPr>
        <p:txBody>
          <a:bodyPr>
            <a:normAutofit fontScale="92500" lnSpcReduction="20000"/>
          </a:bodyPr>
          <a:lstStyle/>
          <a:p>
            <a:r>
              <a:rPr lang="es-MX" b="1" dirty="0">
                <a:solidFill>
                  <a:schemeClr val="tx1"/>
                </a:solidFill>
              </a:rPr>
              <a:t>Desarrollar una función en Python que convierta temperaturas de grados Celsius a grados Fahrenheit, aplicando la fórmula matemática para esta conversión</a:t>
            </a:r>
          </a:p>
          <a:p>
            <a:endParaRPr lang="es-MX" b="1" dirty="0">
              <a:solidFill>
                <a:schemeClr val="tx1"/>
              </a:solidFill>
            </a:endParaRPr>
          </a:p>
          <a:p>
            <a:r>
              <a:rPr lang="es-MX" b="1" dirty="0">
                <a:solidFill>
                  <a:schemeClr val="tx1"/>
                </a:solidFill>
              </a:rPr>
              <a:t>Realice la aplicación de la función con 20 grados Celsius, y que imprima el siguiente mensaje automáticamente. </a:t>
            </a:r>
          </a:p>
          <a:p>
            <a:pPr marL="114300" indent="0">
              <a:buNone/>
            </a:pPr>
            <a:endParaRPr lang="es-MX" b="1" dirty="0">
              <a:solidFill>
                <a:schemeClr val="tx1"/>
              </a:solidFill>
            </a:endParaRPr>
          </a:p>
          <a:p>
            <a:pPr marL="114300" indent="0">
              <a:buNone/>
            </a:pPr>
            <a:r>
              <a:rPr lang="es-CO" b="1" dirty="0">
                <a:solidFill>
                  <a:schemeClr val="accent5"/>
                </a:solidFill>
              </a:rPr>
              <a:t>20 grados Celsius son 68.0 grados Fahrenheit.</a:t>
            </a:r>
          </a:p>
        </p:txBody>
      </p:sp>
      <p:sp>
        <p:nvSpPr>
          <p:cNvPr id="4" name="Título 1">
            <a:extLst>
              <a:ext uri="{FF2B5EF4-FFF2-40B4-BE49-F238E27FC236}">
                <a16:creationId xmlns:a16="http://schemas.microsoft.com/office/drawing/2014/main" id="{137DE182-F8F1-9A32-62A2-AD3E5AFDA555}"/>
              </a:ext>
            </a:extLst>
          </p:cNvPr>
          <p:cNvSpPr txBox="1">
            <a:spLocks/>
          </p:cNvSpPr>
          <p:nvPr/>
        </p:nvSpPr>
        <p:spPr>
          <a:xfrm>
            <a:off x="311700" y="204280"/>
            <a:ext cx="8520600" cy="1017725"/>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s-MX" sz="6000" b="1" dirty="0">
                <a:solidFill>
                  <a:schemeClr val="accent1">
                    <a:lumMod val="50000"/>
                  </a:schemeClr>
                </a:solidFill>
                <a:latin typeface="Aharoni" panose="02010803020104030203" pitchFamily="2" charset="-79"/>
                <a:cs typeface="Aharoni" panose="02010803020104030203" pitchFamily="2" charset="-79"/>
              </a:rPr>
              <a:t>Ejercicio 4</a:t>
            </a:r>
            <a:r>
              <a:rPr lang="es-MX" sz="6000" b="1" dirty="0">
                <a:solidFill>
                  <a:schemeClr val="accent1">
                    <a:lumMod val="50000"/>
                  </a:schemeClr>
                </a:solidFill>
              </a:rPr>
              <a:t>	 </a:t>
            </a:r>
            <a:endParaRPr lang="es-CO" sz="6000" b="1" dirty="0">
              <a:solidFill>
                <a:schemeClr val="accent1">
                  <a:lumMod val="50000"/>
                </a:schemeClr>
              </a:solidFill>
            </a:endParaRPr>
          </a:p>
        </p:txBody>
      </p:sp>
      <p:pic>
        <p:nvPicPr>
          <p:cNvPr id="10242" name="Picture 2" descr="Programación Neurolingüistica 2 | Mind Map">
            <a:extLst>
              <a:ext uri="{FF2B5EF4-FFF2-40B4-BE49-F238E27FC236}">
                <a16:creationId xmlns:a16="http://schemas.microsoft.com/office/drawing/2014/main" id="{5C9073D0-547D-1425-20D0-043DC83335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7112" y="1630377"/>
            <a:ext cx="2857500" cy="304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20571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459263-BF4F-2FD0-1F33-AD825A2A4AF2}"/>
              </a:ext>
            </a:extLst>
          </p:cNvPr>
          <p:cNvSpPr>
            <a:spLocks noGrp="1"/>
          </p:cNvSpPr>
          <p:nvPr>
            <p:ph type="title"/>
          </p:nvPr>
        </p:nvSpPr>
        <p:spPr>
          <a:xfrm>
            <a:off x="485990" y="761954"/>
            <a:ext cx="1622032" cy="572700"/>
          </a:xfrm>
        </p:spPr>
        <p:txBody>
          <a:bodyPr>
            <a:normAutofit/>
          </a:bodyPr>
          <a:lstStyle/>
          <a:p>
            <a:r>
              <a:rPr lang="es-ES" sz="1600" b="1" dirty="0"/>
              <a:t>Pseudocódigo </a:t>
            </a:r>
            <a:endParaRPr lang="es-US" sz="1600" b="1" dirty="0"/>
          </a:p>
        </p:txBody>
      </p:sp>
      <p:sp>
        <p:nvSpPr>
          <p:cNvPr id="5" name="CuadroTexto 4">
            <a:extLst>
              <a:ext uri="{FF2B5EF4-FFF2-40B4-BE49-F238E27FC236}">
                <a16:creationId xmlns:a16="http://schemas.microsoft.com/office/drawing/2014/main" id="{D57AC979-7F49-B4E4-91C5-C556CCF3C393}"/>
              </a:ext>
            </a:extLst>
          </p:cNvPr>
          <p:cNvSpPr txBox="1"/>
          <p:nvPr/>
        </p:nvSpPr>
        <p:spPr>
          <a:xfrm>
            <a:off x="161798" y="1221410"/>
            <a:ext cx="2798759" cy="938719"/>
          </a:xfrm>
          <a:prstGeom prst="rect">
            <a:avLst/>
          </a:prstGeom>
          <a:noFill/>
        </p:spPr>
        <p:txBody>
          <a:bodyPr wrap="square">
            <a:spAutoFit/>
          </a:bodyPr>
          <a:lstStyle/>
          <a:p>
            <a:r>
              <a:rPr lang="es-ES" sz="1100" dirty="0"/>
              <a:t>El pseudocódigo es como una lista de instrucciones escritas en un lenguaje simple y humano, que se parece a la programación, pero sin seguir reglas estrictas. Es un borrador o una guía.</a:t>
            </a:r>
            <a:endParaRPr lang="es-US" sz="1100" dirty="0"/>
          </a:p>
        </p:txBody>
      </p:sp>
      <p:pic>
        <p:nvPicPr>
          <p:cNvPr id="7" name="Imagen 6">
            <a:extLst>
              <a:ext uri="{FF2B5EF4-FFF2-40B4-BE49-F238E27FC236}">
                <a16:creationId xmlns:a16="http://schemas.microsoft.com/office/drawing/2014/main" id="{69253933-A2F8-FECA-65AF-F2F54A0A31D2}"/>
              </a:ext>
            </a:extLst>
          </p:cNvPr>
          <p:cNvPicPr>
            <a:picLocks noChangeAspect="1"/>
          </p:cNvPicPr>
          <p:nvPr/>
        </p:nvPicPr>
        <p:blipFill>
          <a:blip r:embed="rId2"/>
          <a:stretch>
            <a:fillRect/>
          </a:stretch>
        </p:blipFill>
        <p:spPr>
          <a:xfrm>
            <a:off x="274224" y="2333235"/>
            <a:ext cx="2461480" cy="1877152"/>
          </a:xfrm>
          <a:prstGeom prst="rect">
            <a:avLst/>
          </a:prstGeom>
        </p:spPr>
      </p:pic>
      <p:sp>
        <p:nvSpPr>
          <p:cNvPr id="8" name="Título 1">
            <a:extLst>
              <a:ext uri="{FF2B5EF4-FFF2-40B4-BE49-F238E27FC236}">
                <a16:creationId xmlns:a16="http://schemas.microsoft.com/office/drawing/2014/main" id="{A7D1268C-C3FF-2404-FFC5-CE61DFFD05AD}"/>
              </a:ext>
            </a:extLst>
          </p:cNvPr>
          <p:cNvSpPr txBox="1">
            <a:spLocks/>
          </p:cNvSpPr>
          <p:nvPr/>
        </p:nvSpPr>
        <p:spPr>
          <a:xfrm>
            <a:off x="3484618" y="445025"/>
            <a:ext cx="2230442" cy="5727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s-ES" sz="1600" b="1" dirty="0"/>
              <a:t>Diagrama de flujo </a:t>
            </a:r>
            <a:endParaRPr lang="es-US" sz="1600" b="1" dirty="0"/>
          </a:p>
        </p:txBody>
      </p:sp>
      <p:sp>
        <p:nvSpPr>
          <p:cNvPr id="9" name="CuadroTexto 8">
            <a:extLst>
              <a:ext uri="{FF2B5EF4-FFF2-40B4-BE49-F238E27FC236}">
                <a16:creationId xmlns:a16="http://schemas.microsoft.com/office/drawing/2014/main" id="{8E8A2425-8FE6-C36E-8FE8-86A5835B1FD3}"/>
              </a:ext>
            </a:extLst>
          </p:cNvPr>
          <p:cNvSpPr txBox="1"/>
          <p:nvPr/>
        </p:nvSpPr>
        <p:spPr>
          <a:xfrm>
            <a:off x="3134847" y="1024932"/>
            <a:ext cx="3126047" cy="1107996"/>
          </a:xfrm>
          <a:prstGeom prst="rect">
            <a:avLst/>
          </a:prstGeom>
          <a:noFill/>
        </p:spPr>
        <p:txBody>
          <a:bodyPr wrap="square">
            <a:spAutoFit/>
          </a:bodyPr>
          <a:lstStyle/>
          <a:p>
            <a:r>
              <a:rPr lang="es-ES" sz="1100" dirty="0"/>
              <a:t>Un </a:t>
            </a:r>
            <a:r>
              <a:rPr lang="es-ES" sz="1100" b="1" dirty="0"/>
              <a:t>diagrama de flujo</a:t>
            </a:r>
            <a:r>
              <a:rPr lang="es-ES" sz="1100" dirty="0"/>
              <a:t> es la representación gráfica de esas mismas instrucciones. Usa formas geométricas conectadas por flechas para mostrar el orden de los pasos y las decisiones que se toman. Es ideal para ver el "flujo" del proceso de un vistazo.</a:t>
            </a:r>
          </a:p>
        </p:txBody>
      </p:sp>
      <p:sp>
        <p:nvSpPr>
          <p:cNvPr id="10" name="Título 1">
            <a:extLst>
              <a:ext uri="{FF2B5EF4-FFF2-40B4-BE49-F238E27FC236}">
                <a16:creationId xmlns:a16="http://schemas.microsoft.com/office/drawing/2014/main" id="{8888067B-ED09-45DC-711B-D17200D484D5}"/>
              </a:ext>
            </a:extLst>
          </p:cNvPr>
          <p:cNvSpPr txBox="1">
            <a:spLocks/>
          </p:cNvSpPr>
          <p:nvPr/>
        </p:nvSpPr>
        <p:spPr>
          <a:xfrm>
            <a:off x="6537615" y="445025"/>
            <a:ext cx="1622032" cy="5727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s-ES" sz="1600" b="1" dirty="0"/>
              <a:t>Código </a:t>
            </a:r>
            <a:endParaRPr lang="es-US" sz="1600" b="1" dirty="0"/>
          </a:p>
        </p:txBody>
      </p:sp>
      <p:sp>
        <p:nvSpPr>
          <p:cNvPr id="11" name="CuadroTexto 10">
            <a:extLst>
              <a:ext uri="{FF2B5EF4-FFF2-40B4-BE49-F238E27FC236}">
                <a16:creationId xmlns:a16="http://schemas.microsoft.com/office/drawing/2014/main" id="{B81B3FCF-D8D4-E493-E652-03DF98999D94}"/>
              </a:ext>
            </a:extLst>
          </p:cNvPr>
          <p:cNvSpPr txBox="1"/>
          <p:nvPr/>
        </p:nvSpPr>
        <p:spPr>
          <a:xfrm>
            <a:off x="6537615" y="1017725"/>
            <a:ext cx="2444587" cy="1107996"/>
          </a:xfrm>
          <a:prstGeom prst="rect">
            <a:avLst/>
          </a:prstGeom>
          <a:noFill/>
        </p:spPr>
        <p:txBody>
          <a:bodyPr wrap="square">
            <a:spAutoFit/>
          </a:bodyPr>
          <a:lstStyle/>
          <a:p>
            <a:r>
              <a:rPr lang="es-ES" sz="1100" dirty="0"/>
              <a:t>El </a:t>
            </a:r>
            <a:r>
              <a:rPr lang="es-ES" sz="1100" b="1" dirty="0"/>
              <a:t>código</a:t>
            </a:r>
            <a:r>
              <a:rPr lang="es-ES" sz="1100" dirty="0"/>
              <a:t> es la traducción final de tus instrucciones a un lenguaje que la computadora entiende directamente. En este caso, Python. Es preciso y sigue reglas de sintaxis estrictas.</a:t>
            </a:r>
          </a:p>
        </p:txBody>
      </p:sp>
      <p:pic>
        <p:nvPicPr>
          <p:cNvPr id="13" name="Imagen 12">
            <a:extLst>
              <a:ext uri="{FF2B5EF4-FFF2-40B4-BE49-F238E27FC236}">
                <a16:creationId xmlns:a16="http://schemas.microsoft.com/office/drawing/2014/main" id="{40C1D98B-D894-464F-A2CB-A032AB33695D}"/>
              </a:ext>
            </a:extLst>
          </p:cNvPr>
          <p:cNvPicPr>
            <a:picLocks noChangeAspect="1"/>
          </p:cNvPicPr>
          <p:nvPr/>
        </p:nvPicPr>
        <p:blipFill>
          <a:blip r:embed="rId3"/>
          <a:stretch>
            <a:fillRect/>
          </a:stretch>
        </p:blipFill>
        <p:spPr>
          <a:xfrm>
            <a:off x="6260892" y="2529144"/>
            <a:ext cx="3452004" cy="1596631"/>
          </a:xfrm>
          <a:prstGeom prst="rect">
            <a:avLst/>
          </a:prstGeom>
        </p:spPr>
      </p:pic>
      <p:pic>
        <p:nvPicPr>
          <p:cNvPr id="14" name="Imagen 13">
            <a:extLst>
              <a:ext uri="{FF2B5EF4-FFF2-40B4-BE49-F238E27FC236}">
                <a16:creationId xmlns:a16="http://schemas.microsoft.com/office/drawing/2014/main" id="{E34E1485-2589-DB2A-AFAA-04DD5B209844}"/>
              </a:ext>
            </a:extLst>
          </p:cNvPr>
          <p:cNvPicPr>
            <a:picLocks noChangeAspect="1"/>
          </p:cNvPicPr>
          <p:nvPr/>
        </p:nvPicPr>
        <p:blipFill>
          <a:blip r:embed="rId4"/>
          <a:stretch>
            <a:fillRect/>
          </a:stretch>
        </p:blipFill>
        <p:spPr>
          <a:xfrm>
            <a:off x="3282251" y="2181088"/>
            <a:ext cx="2292741" cy="2292741"/>
          </a:xfrm>
          <a:prstGeom prst="rect">
            <a:avLst/>
          </a:prstGeom>
        </p:spPr>
      </p:pic>
    </p:spTree>
    <p:extLst>
      <p:ext uri="{BB962C8B-B14F-4D97-AF65-F5344CB8AC3E}">
        <p14:creationId xmlns:p14="http://schemas.microsoft.com/office/powerpoint/2010/main" val="2871105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7"/>
          <p:cNvSpPr txBox="1">
            <a:spLocks noGrp="1"/>
          </p:cNvSpPr>
          <p:nvPr>
            <p:ph type="title"/>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181" name="Google Shape;181;p27"/>
          <p:cNvSpPr txBox="1"/>
          <p:nvPr/>
        </p:nvSpPr>
        <p:spPr>
          <a:xfrm>
            <a:off x="2498275" y="492725"/>
            <a:ext cx="2956500" cy="400200"/>
          </a:xfrm>
          <a:prstGeom prst="rect">
            <a:avLst/>
          </a:prstGeom>
          <a:solidFill>
            <a:schemeClr val="accen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dirty="0">
                <a:solidFill>
                  <a:schemeClr val="lt1"/>
                </a:solidFill>
              </a:rPr>
              <a:t>Librerias</a:t>
            </a:r>
            <a:endParaRPr b="1" dirty="0">
              <a:solidFill>
                <a:schemeClr val="lt1"/>
              </a:solidFill>
            </a:endParaRPr>
          </a:p>
        </p:txBody>
      </p:sp>
      <p:grpSp>
        <p:nvGrpSpPr>
          <p:cNvPr id="4" name="Grupo 3">
            <a:extLst>
              <a:ext uri="{FF2B5EF4-FFF2-40B4-BE49-F238E27FC236}">
                <a16:creationId xmlns:a16="http://schemas.microsoft.com/office/drawing/2014/main" id="{985668A6-E6B0-2A64-4E0A-4B2E7B1FFF49}"/>
              </a:ext>
            </a:extLst>
          </p:cNvPr>
          <p:cNvGrpSpPr/>
          <p:nvPr/>
        </p:nvGrpSpPr>
        <p:grpSpPr>
          <a:xfrm>
            <a:off x="846306" y="993734"/>
            <a:ext cx="7480571" cy="4076441"/>
            <a:chOff x="846306" y="993734"/>
            <a:chExt cx="7480571" cy="4076441"/>
          </a:xfrm>
        </p:grpSpPr>
        <p:pic>
          <p:nvPicPr>
            <p:cNvPr id="2" name="Imagen 1">
              <a:extLst>
                <a:ext uri="{FF2B5EF4-FFF2-40B4-BE49-F238E27FC236}">
                  <a16:creationId xmlns:a16="http://schemas.microsoft.com/office/drawing/2014/main" id="{72C97DBF-05D7-B270-7560-72C705207807}"/>
                </a:ext>
              </a:extLst>
            </p:cNvPr>
            <p:cNvPicPr>
              <a:picLocks noChangeAspect="1"/>
            </p:cNvPicPr>
            <p:nvPr/>
          </p:nvPicPr>
          <p:blipFill>
            <a:blip r:embed="rId3"/>
            <a:stretch>
              <a:fillRect/>
            </a:stretch>
          </p:blipFill>
          <p:spPr>
            <a:xfrm>
              <a:off x="1075266" y="993734"/>
              <a:ext cx="7251611" cy="4076441"/>
            </a:xfrm>
            <a:prstGeom prst="rect">
              <a:avLst/>
            </a:prstGeom>
          </p:spPr>
        </p:pic>
        <p:sp>
          <p:nvSpPr>
            <p:cNvPr id="3" name="Rectángulo 2">
              <a:extLst>
                <a:ext uri="{FF2B5EF4-FFF2-40B4-BE49-F238E27FC236}">
                  <a16:creationId xmlns:a16="http://schemas.microsoft.com/office/drawing/2014/main" id="{67D7FCB5-0CC4-EE14-F80E-F34274452B43}"/>
                </a:ext>
              </a:extLst>
            </p:cNvPr>
            <p:cNvSpPr/>
            <p:nvPr/>
          </p:nvSpPr>
          <p:spPr>
            <a:xfrm>
              <a:off x="846306" y="4581728"/>
              <a:ext cx="2052537" cy="4884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grpSp>
    </p:spTree>
    <p:extLst>
      <p:ext uri="{BB962C8B-B14F-4D97-AF65-F5344CB8AC3E}">
        <p14:creationId xmlns:p14="http://schemas.microsoft.com/office/powerpoint/2010/main" val="6772017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7"/>
          <p:cNvSpPr txBox="1">
            <a:spLocks noGrp="1"/>
          </p:cNvSpPr>
          <p:nvPr>
            <p:ph type="title"/>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181" name="Google Shape;181;p27"/>
          <p:cNvSpPr txBox="1"/>
          <p:nvPr/>
        </p:nvSpPr>
        <p:spPr>
          <a:xfrm>
            <a:off x="2498275" y="492725"/>
            <a:ext cx="2956500" cy="400200"/>
          </a:xfrm>
          <a:prstGeom prst="rect">
            <a:avLst/>
          </a:prstGeom>
          <a:solidFill>
            <a:schemeClr val="accen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dirty="0">
                <a:solidFill>
                  <a:schemeClr val="lt1"/>
                </a:solidFill>
              </a:rPr>
              <a:t>Librerias</a:t>
            </a:r>
            <a:endParaRPr b="1" dirty="0">
              <a:solidFill>
                <a:schemeClr val="lt1"/>
              </a:solidFill>
            </a:endParaRPr>
          </a:p>
        </p:txBody>
      </p:sp>
      <p:pic>
        <p:nvPicPr>
          <p:cNvPr id="6" name="Imagen 5">
            <a:extLst>
              <a:ext uri="{FF2B5EF4-FFF2-40B4-BE49-F238E27FC236}">
                <a16:creationId xmlns:a16="http://schemas.microsoft.com/office/drawing/2014/main" id="{546E73C4-9194-F9C3-5455-EA0F2A1CD057}"/>
              </a:ext>
            </a:extLst>
          </p:cNvPr>
          <p:cNvPicPr>
            <a:picLocks noChangeAspect="1"/>
          </p:cNvPicPr>
          <p:nvPr/>
        </p:nvPicPr>
        <p:blipFill>
          <a:blip r:embed="rId3"/>
          <a:stretch>
            <a:fillRect/>
          </a:stretch>
        </p:blipFill>
        <p:spPr>
          <a:xfrm>
            <a:off x="1067813" y="2231687"/>
            <a:ext cx="1695450" cy="304800"/>
          </a:xfrm>
          <a:prstGeom prst="rect">
            <a:avLst/>
          </a:prstGeom>
        </p:spPr>
      </p:pic>
      <p:pic>
        <p:nvPicPr>
          <p:cNvPr id="8" name="Imagen 7">
            <a:extLst>
              <a:ext uri="{FF2B5EF4-FFF2-40B4-BE49-F238E27FC236}">
                <a16:creationId xmlns:a16="http://schemas.microsoft.com/office/drawing/2014/main" id="{50D557A4-FC1A-6D43-2A1F-DAFFF2544D18}"/>
              </a:ext>
            </a:extLst>
          </p:cNvPr>
          <p:cNvPicPr>
            <a:picLocks noChangeAspect="1"/>
          </p:cNvPicPr>
          <p:nvPr/>
        </p:nvPicPr>
        <p:blipFill>
          <a:blip r:embed="rId4"/>
          <a:stretch>
            <a:fillRect/>
          </a:stretch>
        </p:blipFill>
        <p:spPr>
          <a:xfrm>
            <a:off x="1067813" y="1699098"/>
            <a:ext cx="1619250" cy="266700"/>
          </a:xfrm>
          <a:prstGeom prst="rect">
            <a:avLst/>
          </a:prstGeom>
        </p:spPr>
      </p:pic>
      <p:pic>
        <p:nvPicPr>
          <p:cNvPr id="10" name="Imagen 9">
            <a:extLst>
              <a:ext uri="{FF2B5EF4-FFF2-40B4-BE49-F238E27FC236}">
                <a16:creationId xmlns:a16="http://schemas.microsoft.com/office/drawing/2014/main" id="{203CCB63-1045-D71E-3021-EE5B5259CE29}"/>
              </a:ext>
            </a:extLst>
          </p:cNvPr>
          <p:cNvPicPr>
            <a:picLocks noChangeAspect="1"/>
          </p:cNvPicPr>
          <p:nvPr/>
        </p:nvPicPr>
        <p:blipFill>
          <a:blip r:embed="rId5"/>
          <a:stretch>
            <a:fillRect/>
          </a:stretch>
        </p:blipFill>
        <p:spPr>
          <a:xfrm>
            <a:off x="1046270" y="2802376"/>
            <a:ext cx="2609850" cy="238125"/>
          </a:xfrm>
          <a:prstGeom prst="rect">
            <a:avLst/>
          </a:prstGeom>
        </p:spPr>
      </p:pic>
      <p:pic>
        <p:nvPicPr>
          <p:cNvPr id="12" name="Imagen 11">
            <a:extLst>
              <a:ext uri="{FF2B5EF4-FFF2-40B4-BE49-F238E27FC236}">
                <a16:creationId xmlns:a16="http://schemas.microsoft.com/office/drawing/2014/main" id="{BA35E209-1B52-54F7-78EC-6A4349B1E1DB}"/>
              </a:ext>
            </a:extLst>
          </p:cNvPr>
          <p:cNvPicPr>
            <a:picLocks noChangeAspect="1"/>
          </p:cNvPicPr>
          <p:nvPr/>
        </p:nvPicPr>
        <p:blipFill>
          <a:blip r:embed="rId6"/>
          <a:stretch>
            <a:fillRect/>
          </a:stretch>
        </p:blipFill>
        <p:spPr>
          <a:xfrm>
            <a:off x="1046270" y="4618262"/>
            <a:ext cx="2238375" cy="304800"/>
          </a:xfrm>
          <a:prstGeom prst="rect">
            <a:avLst/>
          </a:prstGeom>
        </p:spPr>
      </p:pic>
      <p:pic>
        <p:nvPicPr>
          <p:cNvPr id="14" name="Imagen 13">
            <a:extLst>
              <a:ext uri="{FF2B5EF4-FFF2-40B4-BE49-F238E27FC236}">
                <a16:creationId xmlns:a16="http://schemas.microsoft.com/office/drawing/2014/main" id="{9BDA5895-0CDC-8B94-725C-42D78695E4B4}"/>
              </a:ext>
            </a:extLst>
          </p:cNvPr>
          <p:cNvPicPr>
            <a:picLocks noChangeAspect="1"/>
          </p:cNvPicPr>
          <p:nvPr/>
        </p:nvPicPr>
        <p:blipFill>
          <a:blip r:embed="rId7"/>
          <a:stretch>
            <a:fillRect/>
          </a:stretch>
        </p:blipFill>
        <p:spPr>
          <a:xfrm>
            <a:off x="1067813" y="3400756"/>
            <a:ext cx="1838325" cy="285750"/>
          </a:xfrm>
          <a:prstGeom prst="rect">
            <a:avLst/>
          </a:prstGeom>
        </p:spPr>
      </p:pic>
      <p:pic>
        <p:nvPicPr>
          <p:cNvPr id="16" name="Imagen 15">
            <a:extLst>
              <a:ext uri="{FF2B5EF4-FFF2-40B4-BE49-F238E27FC236}">
                <a16:creationId xmlns:a16="http://schemas.microsoft.com/office/drawing/2014/main" id="{B858A3E6-B6FD-2AE6-6F9B-CABC03910334}"/>
              </a:ext>
            </a:extLst>
          </p:cNvPr>
          <p:cNvPicPr>
            <a:picLocks noChangeAspect="1"/>
          </p:cNvPicPr>
          <p:nvPr/>
        </p:nvPicPr>
        <p:blipFill>
          <a:blip r:embed="rId8"/>
          <a:stretch>
            <a:fillRect/>
          </a:stretch>
        </p:blipFill>
        <p:spPr>
          <a:xfrm>
            <a:off x="1067813" y="4046761"/>
            <a:ext cx="2000250" cy="276225"/>
          </a:xfrm>
          <a:prstGeom prst="rect">
            <a:avLst/>
          </a:prstGeom>
        </p:spPr>
      </p:pic>
      <p:pic>
        <p:nvPicPr>
          <p:cNvPr id="1026" name="Picture 2" descr="Gifs animados y bibliotecas | Biblogtecarios">
            <a:extLst>
              <a:ext uri="{FF2B5EF4-FFF2-40B4-BE49-F238E27FC236}">
                <a16:creationId xmlns:a16="http://schemas.microsoft.com/office/drawing/2014/main" id="{D8C88B23-AFBC-C1B0-C57E-05056BDC442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08361" y="1965798"/>
            <a:ext cx="4047112" cy="2282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34364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DA307B-491C-4C84-4859-83BC8B5D03D4}"/>
              </a:ext>
            </a:extLst>
          </p:cNvPr>
          <p:cNvSpPr>
            <a:spLocks noGrp="1"/>
          </p:cNvSpPr>
          <p:nvPr>
            <p:ph type="title"/>
          </p:nvPr>
        </p:nvSpPr>
        <p:spPr>
          <a:xfrm>
            <a:off x="311700" y="77821"/>
            <a:ext cx="8520600" cy="939904"/>
          </a:xfrm>
        </p:spPr>
        <p:txBody>
          <a:bodyPr>
            <a:normAutofit fontScale="90000"/>
          </a:bodyPr>
          <a:lstStyle/>
          <a:p>
            <a:pPr algn="ctr"/>
            <a:r>
              <a:rPr lang="es-MX" sz="5400" b="1" dirty="0"/>
              <a:t>Recordar temas</a:t>
            </a:r>
            <a:endParaRPr lang="es-CO" sz="5400" b="1" dirty="0"/>
          </a:p>
        </p:txBody>
      </p:sp>
      <p:sp>
        <p:nvSpPr>
          <p:cNvPr id="3" name="Marcador de texto 2">
            <a:extLst>
              <a:ext uri="{FF2B5EF4-FFF2-40B4-BE49-F238E27FC236}">
                <a16:creationId xmlns:a16="http://schemas.microsoft.com/office/drawing/2014/main" id="{7DDAB81E-2002-770E-C9D5-395EB8B3CA30}"/>
              </a:ext>
            </a:extLst>
          </p:cNvPr>
          <p:cNvSpPr>
            <a:spLocks noGrp="1"/>
          </p:cNvSpPr>
          <p:nvPr>
            <p:ph type="body" idx="1"/>
          </p:nvPr>
        </p:nvSpPr>
        <p:spPr>
          <a:xfrm>
            <a:off x="311700" y="1152475"/>
            <a:ext cx="8520600" cy="523220"/>
          </a:xfrm>
        </p:spPr>
        <p:txBody>
          <a:bodyPr/>
          <a:lstStyle/>
          <a:p>
            <a:pPr marL="114300" indent="0">
              <a:buNone/>
            </a:pPr>
            <a:r>
              <a:rPr lang="es-MX" b="1" dirty="0">
                <a:solidFill>
                  <a:srgbClr val="C00000"/>
                </a:solidFill>
              </a:rPr>
              <a:t>Qué conceptos y estructuras hemos visto hasta el momento…</a:t>
            </a:r>
            <a:endParaRPr lang="es-CO" b="1" dirty="0">
              <a:solidFill>
                <a:srgbClr val="C00000"/>
              </a:solidFill>
            </a:endParaRPr>
          </a:p>
        </p:txBody>
      </p:sp>
      <p:sp>
        <p:nvSpPr>
          <p:cNvPr id="4" name="CuadroTexto 3">
            <a:extLst>
              <a:ext uri="{FF2B5EF4-FFF2-40B4-BE49-F238E27FC236}">
                <a16:creationId xmlns:a16="http://schemas.microsoft.com/office/drawing/2014/main" id="{081321D2-9EA5-10CC-0AE2-C65C4C85DB60}"/>
              </a:ext>
            </a:extLst>
          </p:cNvPr>
          <p:cNvSpPr txBox="1"/>
          <p:nvPr/>
        </p:nvSpPr>
        <p:spPr>
          <a:xfrm>
            <a:off x="603529" y="3066006"/>
            <a:ext cx="1711653" cy="307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s-MX" b="1" dirty="0"/>
              <a:t>3 tipos de datos</a:t>
            </a:r>
            <a:endParaRPr lang="es-CO" b="1" dirty="0"/>
          </a:p>
        </p:txBody>
      </p:sp>
      <p:sp>
        <p:nvSpPr>
          <p:cNvPr id="5" name="CuadroTexto 4">
            <a:extLst>
              <a:ext uri="{FF2B5EF4-FFF2-40B4-BE49-F238E27FC236}">
                <a16:creationId xmlns:a16="http://schemas.microsoft.com/office/drawing/2014/main" id="{A34DCDC4-6A11-07F7-291C-B8C99D6F4968}"/>
              </a:ext>
            </a:extLst>
          </p:cNvPr>
          <p:cNvSpPr txBox="1"/>
          <p:nvPr/>
        </p:nvSpPr>
        <p:spPr>
          <a:xfrm>
            <a:off x="3800687" y="3991025"/>
            <a:ext cx="1711653" cy="52322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pPr algn="ctr"/>
            <a:r>
              <a:rPr lang="es-MX" b="1" dirty="0"/>
              <a:t>4 estructuras de datos</a:t>
            </a:r>
            <a:endParaRPr lang="es-CO" b="1" dirty="0"/>
          </a:p>
        </p:txBody>
      </p:sp>
      <p:sp>
        <p:nvSpPr>
          <p:cNvPr id="6" name="CuadroTexto 5">
            <a:extLst>
              <a:ext uri="{FF2B5EF4-FFF2-40B4-BE49-F238E27FC236}">
                <a16:creationId xmlns:a16="http://schemas.microsoft.com/office/drawing/2014/main" id="{FFA889EB-3BCD-0343-8BD7-44FA2041ED34}"/>
              </a:ext>
            </a:extLst>
          </p:cNvPr>
          <p:cNvSpPr txBox="1"/>
          <p:nvPr/>
        </p:nvSpPr>
        <p:spPr>
          <a:xfrm>
            <a:off x="6495249" y="2938961"/>
            <a:ext cx="1711653" cy="30777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algn="ctr"/>
            <a:r>
              <a:rPr lang="es-MX" b="1" dirty="0"/>
              <a:t>2 control de flujos</a:t>
            </a:r>
            <a:endParaRPr lang="es-CO" b="1" dirty="0"/>
          </a:p>
        </p:txBody>
      </p:sp>
      <p:sp>
        <p:nvSpPr>
          <p:cNvPr id="7" name="CuadroTexto 6">
            <a:extLst>
              <a:ext uri="{FF2B5EF4-FFF2-40B4-BE49-F238E27FC236}">
                <a16:creationId xmlns:a16="http://schemas.microsoft.com/office/drawing/2014/main" id="{A2695EE2-1BFE-8174-BB79-B9487878EC57}"/>
              </a:ext>
            </a:extLst>
          </p:cNvPr>
          <p:cNvSpPr txBox="1"/>
          <p:nvPr/>
        </p:nvSpPr>
        <p:spPr>
          <a:xfrm>
            <a:off x="3349972" y="2070237"/>
            <a:ext cx="1711653" cy="52322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wrap="square" rtlCol="0">
            <a:spAutoFit/>
          </a:bodyPr>
          <a:lstStyle/>
          <a:p>
            <a:pPr algn="ctr"/>
            <a:r>
              <a:rPr lang="es-MX" b="1" dirty="0"/>
              <a:t>Funciones predefinidas</a:t>
            </a:r>
            <a:endParaRPr lang="es-CO" b="1" dirty="0"/>
          </a:p>
        </p:txBody>
      </p:sp>
    </p:spTree>
    <p:extLst>
      <p:ext uri="{BB962C8B-B14F-4D97-AF65-F5344CB8AC3E}">
        <p14:creationId xmlns:p14="http://schemas.microsoft.com/office/powerpoint/2010/main" val="3646304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 sz="6600" b="1">
                <a:latin typeface="Impact"/>
                <a:ea typeface="Impact"/>
                <a:cs typeface="Impact"/>
                <a:sym typeface="Impact"/>
              </a:rPr>
              <a:t>Importar datos</a:t>
            </a:r>
            <a:endParaRPr sz="6600" b="1">
              <a:latin typeface="Impact"/>
              <a:ea typeface="Impact"/>
              <a:cs typeface="Impact"/>
              <a:sym typeface="Impact"/>
            </a:endParaRPr>
          </a:p>
        </p:txBody>
      </p:sp>
      <p:pic>
        <p:nvPicPr>
          <p:cNvPr id="161" name="Google Shape;161;p24"/>
          <p:cNvPicPr preferRelativeResize="0"/>
          <p:nvPr/>
        </p:nvPicPr>
        <p:blipFill>
          <a:blip r:embed="rId3">
            <a:alphaModFix/>
          </a:blip>
          <a:stretch>
            <a:fillRect/>
          </a:stretch>
        </p:blipFill>
        <p:spPr>
          <a:xfrm>
            <a:off x="2399975" y="2797175"/>
            <a:ext cx="4706585" cy="20415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5"/>
          <p:cNvSpPr txBox="1">
            <a:spLocks noGrp="1"/>
          </p:cNvSpPr>
          <p:nvPr>
            <p:ph type="title"/>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167" name="Google Shape;167;p25"/>
          <p:cNvSpPr txBox="1"/>
          <p:nvPr/>
        </p:nvSpPr>
        <p:spPr>
          <a:xfrm>
            <a:off x="2498275" y="492725"/>
            <a:ext cx="2956500" cy="400200"/>
          </a:xfrm>
          <a:prstGeom prst="rect">
            <a:avLst/>
          </a:prstGeom>
          <a:solidFill>
            <a:schemeClr val="accen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a:solidFill>
                  <a:schemeClr val="lt1"/>
                </a:solidFill>
              </a:rPr>
              <a:t>Importar datos - Opción 1</a:t>
            </a:r>
            <a:endParaRPr b="1">
              <a:solidFill>
                <a:schemeClr val="lt1"/>
              </a:solidFill>
            </a:endParaRPr>
          </a:p>
        </p:txBody>
      </p:sp>
      <p:sp>
        <p:nvSpPr>
          <p:cNvPr id="168" name="Google Shape;168;p25"/>
          <p:cNvSpPr txBox="1">
            <a:spLocks noGrp="1"/>
          </p:cNvSpPr>
          <p:nvPr>
            <p:ph type="body" idx="1"/>
          </p:nvPr>
        </p:nvSpPr>
        <p:spPr>
          <a:xfrm>
            <a:off x="311700" y="1228675"/>
            <a:ext cx="8520600" cy="3645900"/>
          </a:xfrm>
          <a:prstGeom prst="rect">
            <a:avLst/>
          </a:prstGeom>
        </p:spPr>
        <p:txBody>
          <a:bodyPr spcFirstLastPara="1" wrap="square" lIns="91425" tIns="91425" rIns="91425" bIns="91425" anchor="t" anchorCtr="0">
            <a:normAutofit/>
          </a:bodyPr>
          <a:lstStyle/>
          <a:p>
            <a:pPr marL="0" lvl="0" indent="0" algn="l" rtl="0">
              <a:lnSpc>
                <a:spcPct val="135714"/>
              </a:lnSpc>
              <a:spcBef>
                <a:spcPts val="0"/>
              </a:spcBef>
              <a:spcAft>
                <a:spcPts val="0"/>
              </a:spcAft>
              <a:buNone/>
            </a:pPr>
            <a:r>
              <a:rPr lang="es" sz="1050" dirty="0">
                <a:solidFill>
                  <a:srgbClr val="008000"/>
                </a:solidFill>
                <a:highlight>
                  <a:srgbClr val="FFFFFE"/>
                </a:highlight>
                <a:latin typeface="Times New Roman" panose="02020603050405020304" pitchFamily="18" charset="0"/>
                <a:ea typeface="Impact"/>
                <a:cs typeface="Times New Roman" panose="02020603050405020304" pitchFamily="18" charset="0"/>
                <a:sym typeface="Impact"/>
              </a:rPr>
              <a:t>Google Colaboratory</a:t>
            </a:r>
            <a:endParaRPr sz="1050" dirty="0">
              <a:solidFill>
                <a:srgbClr val="008000"/>
              </a:solidFill>
              <a:highlight>
                <a:srgbClr val="FFFFFE"/>
              </a:highlight>
              <a:latin typeface="Times New Roman" panose="02020603050405020304" pitchFamily="18" charset="0"/>
              <a:ea typeface="Impact"/>
              <a:cs typeface="Times New Roman" panose="02020603050405020304" pitchFamily="18" charset="0"/>
              <a:sym typeface="Impact"/>
            </a:endParaRPr>
          </a:p>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#Importar librería de pandas</a:t>
            </a:r>
            <a:endParaRPr sz="1050" b="1"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rgbClr val="AF00DB"/>
                </a:solidFill>
                <a:highlight>
                  <a:srgbClr val="FFFFFE"/>
                </a:highlight>
                <a:latin typeface="Times New Roman" panose="02020603050405020304" pitchFamily="18" charset="0"/>
                <a:ea typeface="Courier New"/>
                <a:cs typeface="Times New Roman" panose="02020603050405020304" pitchFamily="18" charset="0"/>
                <a:sym typeface="Courier New"/>
              </a:rPr>
              <a:t>import</a:t>
            </a:r>
            <a:r>
              <a:rPr lang="es"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rPr>
              <a:t> pandas </a:t>
            </a:r>
            <a:r>
              <a:rPr lang="es" sz="1050" dirty="0">
                <a:solidFill>
                  <a:srgbClr val="AF00DB"/>
                </a:solidFill>
                <a:highlight>
                  <a:srgbClr val="FFFFFE"/>
                </a:highlight>
                <a:latin typeface="Times New Roman" panose="02020603050405020304" pitchFamily="18" charset="0"/>
                <a:ea typeface="Courier New"/>
                <a:cs typeface="Times New Roman" panose="02020603050405020304" pitchFamily="18" charset="0"/>
                <a:sym typeface="Courier New"/>
              </a:rPr>
              <a:t>as</a:t>
            </a:r>
            <a:r>
              <a:rPr lang="es"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rPr>
              <a:t> pd</a:t>
            </a:r>
            <a:endParaRPr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endParaRPr sz="1050" dirty="0">
              <a:solidFill>
                <a:srgbClr val="008000"/>
              </a:solidFill>
              <a:highlight>
                <a:srgbClr val="FFFFFE"/>
              </a:highlight>
              <a:latin typeface="Times New Roman" panose="02020603050405020304" pitchFamily="18" charset="0"/>
              <a:ea typeface="Impact"/>
              <a:cs typeface="Times New Roman" panose="02020603050405020304" pitchFamily="18" charset="0"/>
              <a:sym typeface="Impact"/>
            </a:endParaRPr>
          </a:p>
          <a:p>
            <a:pPr marL="0" lvl="0" indent="0" algn="l" rtl="0">
              <a:lnSpc>
                <a:spcPct val="135714"/>
              </a:lnSpc>
              <a:spcBef>
                <a:spcPts val="0"/>
              </a:spcBef>
              <a:spcAft>
                <a:spcPts val="0"/>
              </a:spcAft>
              <a:buNone/>
            </a:pPr>
            <a:endParaRPr sz="1050" dirty="0">
              <a:solidFill>
                <a:srgbClr val="008000"/>
              </a:solidFill>
              <a:highlight>
                <a:srgbClr val="FFFFFE"/>
              </a:highlight>
              <a:latin typeface="Times New Roman" panose="02020603050405020304" pitchFamily="18" charset="0"/>
              <a:ea typeface="Impact"/>
              <a:cs typeface="Times New Roman" panose="02020603050405020304" pitchFamily="18" charset="0"/>
              <a:sym typeface="Impact"/>
            </a:endParaRPr>
          </a:p>
          <a:p>
            <a:pPr marL="0" lvl="0" indent="0" algn="l" rtl="0">
              <a:lnSpc>
                <a:spcPct val="135714"/>
              </a:lnSpc>
              <a:spcBef>
                <a:spcPts val="0"/>
              </a:spcBef>
              <a:spcAft>
                <a:spcPts val="0"/>
              </a:spcAft>
              <a:buNone/>
            </a:pPr>
            <a:r>
              <a:rPr lang="es" sz="1200" b="1" dirty="0">
                <a:solidFill>
                  <a:schemeClr val="accent1"/>
                </a:solidFill>
                <a:highlight>
                  <a:srgbClr val="FFFFFF"/>
                </a:highlight>
                <a:latin typeface="Times New Roman" panose="02020603050405020304" pitchFamily="18" charset="0"/>
                <a:ea typeface="Roboto"/>
                <a:cs typeface="Times New Roman" panose="02020603050405020304" pitchFamily="18" charset="0"/>
                <a:sym typeface="Roboto"/>
              </a:rPr>
              <a:t>Opción 1. Cargar desde la carpeta de trabajo de drive</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#Conectar el drive</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rgbClr val="AF00DB"/>
                </a:solidFill>
                <a:highlight>
                  <a:srgbClr val="FFFFFE"/>
                </a:highlight>
                <a:latin typeface="Times New Roman" panose="02020603050405020304" pitchFamily="18" charset="0"/>
                <a:ea typeface="Courier New"/>
                <a:cs typeface="Times New Roman" panose="02020603050405020304" pitchFamily="18" charset="0"/>
                <a:sym typeface="Courier New"/>
              </a:rPr>
              <a:t>from</a:t>
            </a:r>
            <a:r>
              <a:rPr lang="es"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rPr>
              <a:t> google.colab </a:t>
            </a:r>
            <a:r>
              <a:rPr lang="es" sz="1050" dirty="0">
                <a:solidFill>
                  <a:srgbClr val="AF00DB"/>
                </a:solidFill>
                <a:highlight>
                  <a:srgbClr val="FFFFFE"/>
                </a:highlight>
                <a:latin typeface="Times New Roman" panose="02020603050405020304" pitchFamily="18" charset="0"/>
                <a:ea typeface="Courier New"/>
                <a:cs typeface="Times New Roman" panose="02020603050405020304" pitchFamily="18" charset="0"/>
                <a:sym typeface="Courier New"/>
              </a:rPr>
              <a:t>import</a:t>
            </a:r>
            <a:r>
              <a:rPr lang="es"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rPr>
              <a:t> files</a:t>
            </a:r>
            <a:endParaRPr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endParaRPr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#Buscar el archivo y copiar la ruta y pegarla en el código</a:t>
            </a:r>
            <a:endParaRPr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rPr>
              <a:t>datos = pd.read_excel(</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"/content/drive/MyDrive/PYTHON/DATA/Poblacion_pais.xlsx"</a:t>
            </a:r>
            <a:r>
              <a:rPr lang="es"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rPr>
              <a:t>datos</a:t>
            </a:r>
            <a:endParaRPr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endParaRPr sz="1050" dirty="0">
              <a:solidFill>
                <a:srgbClr val="000000"/>
              </a:solidFill>
              <a:highlight>
                <a:srgbClr val="FFFFF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dirty="0">
              <a:solidFill>
                <a:srgbClr val="000000"/>
              </a:solidFill>
              <a:highlight>
                <a:srgbClr val="FFFFF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dirty="0">
              <a:solidFill>
                <a:srgbClr val="AF00DB"/>
              </a:solidFill>
              <a:highlight>
                <a:srgbClr val="FFFFFE"/>
              </a:highlight>
              <a:latin typeface="Courier New"/>
              <a:ea typeface="Courier New"/>
              <a:cs typeface="Courier New"/>
              <a:sym typeface="Courier New"/>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6"/>
          <p:cNvSpPr txBox="1">
            <a:spLocks noGrp="1"/>
          </p:cNvSpPr>
          <p:nvPr>
            <p:ph type="title"/>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174" name="Google Shape;174;p26"/>
          <p:cNvSpPr txBox="1"/>
          <p:nvPr/>
        </p:nvSpPr>
        <p:spPr>
          <a:xfrm>
            <a:off x="2498275" y="492725"/>
            <a:ext cx="2956500" cy="400200"/>
          </a:xfrm>
          <a:prstGeom prst="rect">
            <a:avLst/>
          </a:prstGeom>
          <a:solidFill>
            <a:schemeClr val="accen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a:solidFill>
                  <a:schemeClr val="lt1"/>
                </a:solidFill>
              </a:rPr>
              <a:t>Importar datos - Opción 2</a:t>
            </a:r>
            <a:endParaRPr b="1">
              <a:solidFill>
                <a:schemeClr val="lt1"/>
              </a:solidFill>
            </a:endParaRPr>
          </a:p>
        </p:txBody>
      </p:sp>
      <p:sp>
        <p:nvSpPr>
          <p:cNvPr id="175" name="Google Shape;175;p26"/>
          <p:cNvSpPr txBox="1">
            <a:spLocks noGrp="1"/>
          </p:cNvSpPr>
          <p:nvPr>
            <p:ph type="body" idx="1"/>
          </p:nvPr>
        </p:nvSpPr>
        <p:spPr>
          <a:xfrm>
            <a:off x="311700" y="1228675"/>
            <a:ext cx="8520600" cy="3645900"/>
          </a:xfrm>
          <a:prstGeom prst="rect">
            <a:avLst/>
          </a:prstGeom>
        </p:spPr>
        <p:txBody>
          <a:bodyPr spcFirstLastPara="1" wrap="square" lIns="91425" tIns="91425" rIns="91425" bIns="91425" anchor="t" anchorCtr="0">
            <a:normAutofit/>
          </a:bodyPr>
          <a:lstStyle/>
          <a:p>
            <a:pPr marL="0" lvl="0" indent="0" algn="l" rtl="0">
              <a:lnSpc>
                <a:spcPct val="135714"/>
              </a:lnSpc>
              <a:spcBef>
                <a:spcPts val="0"/>
              </a:spcBef>
              <a:spcAft>
                <a:spcPts val="0"/>
              </a:spcAft>
              <a:buNone/>
            </a:pPr>
            <a:r>
              <a:rPr lang="es" sz="1050" dirty="0">
                <a:solidFill>
                  <a:srgbClr val="008000"/>
                </a:solidFill>
                <a:highlight>
                  <a:srgbClr val="FFFFFE"/>
                </a:highlight>
                <a:latin typeface="Times New Roman" panose="02020603050405020304" pitchFamily="18" charset="0"/>
                <a:ea typeface="Impact"/>
                <a:cs typeface="Times New Roman" panose="02020603050405020304" pitchFamily="18" charset="0"/>
                <a:sym typeface="Impact"/>
              </a:rPr>
              <a:t>Google Colaboratory</a:t>
            </a:r>
            <a:endParaRPr sz="1050" dirty="0">
              <a:solidFill>
                <a:srgbClr val="008000"/>
              </a:solidFill>
              <a:highlight>
                <a:srgbClr val="FFFFFE"/>
              </a:highlight>
              <a:latin typeface="Times New Roman" panose="02020603050405020304" pitchFamily="18" charset="0"/>
              <a:ea typeface="Impact"/>
              <a:cs typeface="Times New Roman" panose="02020603050405020304" pitchFamily="18" charset="0"/>
              <a:sym typeface="Impact"/>
            </a:endParaRPr>
          </a:p>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#Importar librería de pandas</a:t>
            </a:r>
            <a:endParaRPr sz="1050" b="1"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rgbClr val="AF00DB"/>
                </a:solidFill>
                <a:highlight>
                  <a:srgbClr val="FFFFFE"/>
                </a:highlight>
                <a:latin typeface="Times New Roman" panose="02020603050405020304" pitchFamily="18" charset="0"/>
                <a:ea typeface="Courier New"/>
                <a:cs typeface="Times New Roman" panose="02020603050405020304" pitchFamily="18" charset="0"/>
                <a:sym typeface="Courier New"/>
              </a:rPr>
              <a:t>import</a:t>
            </a:r>
            <a:r>
              <a:rPr lang="es"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rPr>
              <a:t> pandas </a:t>
            </a:r>
            <a:r>
              <a:rPr lang="es" sz="1050" dirty="0">
                <a:solidFill>
                  <a:srgbClr val="AF00DB"/>
                </a:solidFill>
                <a:highlight>
                  <a:srgbClr val="FFFFFE"/>
                </a:highlight>
                <a:latin typeface="Times New Roman" panose="02020603050405020304" pitchFamily="18" charset="0"/>
                <a:ea typeface="Courier New"/>
                <a:cs typeface="Times New Roman" panose="02020603050405020304" pitchFamily="18" charset="0"/>
                <a:sym typeface="Courier New"/>
              </a:rPr>
              <a:t>as</a:t>
            </a:r>
            <a:r>
              <a:rPr lang="es"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rPr>
              <a:t> pd</a:t>
            </a:r>
            <a:endParaRPr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endParaRPr sz="1050" dirty="0">
              <a:solidFill>
                <a:srgbClr val="008000"/>
              </a:solidFill>
              <a:highlight>
                <a:srgbClr val="FFFFFE"/>
              </a:highlight>
              <a:latin typeface="Times New Roman" panose="02020603050405020304" pitchFamily="18" charset="0"/>
              <a:ea typeface="Impact"/>
              <a:cs typeface="Times New Roman" panose="02020603050405020304" pitchFamily="18" charset="0"/>
              <a:sym typeface="Impact"/>
            </a:endParaRPr>
          </a:p>
          <a:p>
            <a:pPr marL="0" lvl="0" indent="0" algn="l" rtl="0">
              <a:lnSpc>
                <a:spcPct val="135714"/>
              </a:lnSpc>
              <a:spcBef>
                <a:spcPts val="0"/>
              </a:spcBef>
              <a:spcAft>
                <a:spcPts val="0"/>
              </a:spcAft>
              <a:buNone/>
            </a:pPr>
            <a:r>
              <a:rPr lang="es" sz="1200" b="1" dirty="0">
                <a:solidFill>
                  <a:schemeClr val="accent1"/>
                </a:solidFill>
                <a:highlight>
                  <a:srgbClr val="FFFFFF"/>
                </a:highlight>
                <a:latin typeface="Times New Roman" panose="02020603050405020304" pitchFamily="18" charset="0"/>
                <a:ea typeface="Roboto"/>
                <a:cs typeface="Times New Roman" panose="02020603050405020304" pitchFamily="18" charset="0"/>
                <a:sym typeface="Roboto"/>
              </a:rPr>
              <a:t>Opción 2. Cargar desde computador</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#Importar datos desde el computador</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rgbClr val="AF00DB"/>
                </a:solidFill>
                <a:highlight>
                  <a:srgbClr val="FFFFFE"/>
                </a:highlight>
                <a:latin typeface="Times New Roman" panose="02020603050405020304" pitchFamily="18" charset="0"/>
                <a:ea typeface="Courier New"/>
                <a:cs typeface="Times New Roman" panose="02020603050405020304" pitchFamily="18" charset="0"/>
                <a:sym typeface="Courier New"/>
              </a:rPr>
              <a:t>from</a:t>
            </a:r>
            <a:r>
              <a:rPr lang="es"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rPr>
              <a:t> google.colab </a:t>
            </a:r>
            <a:r>
              <a:rPr lang="es" sz="1050" dirty="0">
                <a:solidFill>
                  <a:srgbClr val="AF00DB"/>
                </a:solidFill>
                <a:highlight>
                  <a:srgbClr val="FFFFFE"/>
                </a:highlight>
                <a:latin typeface="Times New Roman" panose="02020603050405020304" pitchFamily="18" charset="0"/>
                <a:ea typeface="Courier New"/>
                <a:cs typeface="Times New Roman" panose="02020603050405020304" pitchFamily="18" charset="0"/>
                <a:sym typeface="Courier New"/>
              </a:rPr>
              <a:t>import</a:t>
            </a:r>
            <a:r>
              <a:rPr lang="es"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rPr>
              <a:t> files</a:t>
            </a:r>
            <a:endParaRPr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rPr>
              <a:t>files.upload()</a:t>
            </a:r>
          </a:p>
          <a:p>
            <a:pPr marL="0" lvl="0" indent="0" algn="l" rtl="0">
              <a:lnSpc>
                <a:spcPct val="135714"/>
              </a:lnSpc>
              <a:spcBef>
                <a:spcPts val="0"/>
              </a:spcBef>
              <a:spcAft>
                <a:spcPts val="0"/>
              </a:spcAft>
              <a:buNone/>
            </a:pP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#Traer los datos que se han subido a la nube con el nombre exacto del documento y el formato del mismo </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rPr>
              <a:t>datos = pd.read_excel(</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"Poblacion_pais.xlsx"</a:t>
            </a:r>
            <a:r>
              <a:rPr lang="es"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rPr>
              <a:t>datos</a:t>
            </a:r>
            <a:endParaRPr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endParaRPr sz="1050" b="1" dirty="0">
              <a:solidFill>
                <a:srgbClr val="008000"/>
              </a:solidFill>
              <a:highlight>
                <a:srgbClr val="FFFFF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dirty="0">
              <a:solidFill>
                <a:srgbClr val="000000"/>
              </a:solidFill>
              <a:highlight>
                <a:srgbClr val="FFFFF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dirty="0">
              <a:solidFill>
                <a:srgbClr val="000000"/>
              </a:solidFill>
              <a:highlight>
                <a:srgbClr val="FFFFF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dirty="0">
              <a:solidFill>
                <a:srgbClr val="AF00DB"/>
              </a:solidFill>
              <a:highlight>
                <a:srgbClr val="FFFFFE"/>
              </a:highlight>
              <a:latin typeface="Courier New"/>
              <a:ea typeface="Courier New"/>
              <a:cs typeface="Courier New"/>
              <a:sym typeface="Courier New"/>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7"/>
          <p:cNvSpPr txBox="1">
            <a:spLocks noGrp="1"/>
          </p:cNvSpPr>
          <p:nvPr>
            <p:ph type="title"/>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181" name="Google Shape;181;p27"/>
          <p:cNvSpPr txBox="1"/>
          <p:nvPr/>
        </p:nvSpPr>
        <p:spPr>
          <a:xfrm>
            <a:off x="2498275" y="492725"/>
            <a:ext cx="2956500" cy="400200"/>
          </a:xfrm>
          <a:prstGeom prst="rect">
            <a:avLst/>
          </a:prstGeom>
          <a:solidFill>
            <a:schemeClr val="accen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a:solidFill>
                  <a:schemeClr val="lt1"/>
                </a:solidFill>
              </a:rPr>
              <a:t>Importar datos - Opción 3</a:t>
            </a:r>
            <a:endParaRPr b="1">
              <a:solidFill>
                <a:schemeClr val="lt1"/>
              </a:solidFill>
            </a:endParaRPr>
          </a:p>
        </p:txBody>
      </p:sp>
      <p:sp>
        <p:nvSpPr>
          <p:cNvPr id="182" name="Google Shape;182;p27"/>
          <p:cNvSpPr txBox="1">
            <a:spLocks noGrp="1"/>
          </p:cNvSpPr>
          <p:nvPr>
            <p:ph type="body" idx="1"/>
          </p:nvPr>
        </p:nvSpPr>
        <p:spPr>
          <a:xfrm>
            <a:off x="220050" y="1228675"/>
            <a:ext cx="8703900" cy="3645900"/>
          </a:xfrm>
          <a:prstGeom prst="rect">
            <a:avLst/>
          </a:prstGeom>
        </p:spPr>
        <p:txBody>
          <a:bodyPr spcFirstLastPara="1" wrap="square" lIns="91425" tIns="91425" rIns="91425" bIns="91425" anchor="t" anchorCtr="0">
            <a:normAutofit/>
          </a:bodyPr>
          <a:lstStyle/>
          <a:p>
            <a:pPr marL="0" lvl="0" indent="0" algn="l" rtl="0">
              <a:lnSpc>
                <a:spcPct val="135714"/>
              </a:lnSpc>
              <a:spcBef>
                <a:spcPts val="0"/>
              </a:spcBef>
              <a:spcAft>
                <a:spcPts val="0"/>
              </a:spcAft>
              <a:buNone/>
            </a:pPr>
            <a:r>
              <a:rPr lang="es" sz="1050" dirty="0">
                <a:solidFill>
                  <a:srgbClr val="008000"/>
                </a:solidFill>
                <a:highlight>
                  <a:srgbClr val="FFFFFE"/>
                </a:highlight>
                <a:latin typeface="Times New Roman" panose="02020603050405020304" pitchFamily="18" charset="0"/>
                <a:ea typeface="Impact"/>
                <a:cs typeface="Times New Roman" panose="02020603050405020304" pitchFamily="18" charset="0"/>
                <a:sym typeface="Impact"/>
              </a:rPr>
              <a:t>Google Colaboratory</a:t>
            </a:r>
            <a:endParaRPr sz="1050" dirty="0">
              <a:solidFill>
                <a:srgbClr val="008000"/>
              </a:solidFill>
              <a:highlight>
                <a:srgbClr val="FFFFFE"/>
              </a:highlight>
              <a:latin typeface="Times New Roman" panose="02020603050405020304" pitchFamily="18" charset="0"/>
              <a:ea typeface="Impact"/>
              <a:cs typeface="Times New Roman" panose="02020603050405020304" pitchFamily="18" charset="0"/>
              <a:sym typeface="Impact"/>
            </a:endParaRPr>
          </a:p>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#Importar librería de pandas</a:t>
            </a:r>
            <a:endParaRPr sz="1050" b="1"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rgbClr val="AF00DB"/>
                </a:solidFill>
                <a:highlight>
                  <a:srgbClr val="FFFFFE"/>
                </a:highlight>
                <a:latin typeface="Times New Roman" panose="02020603050405020304" pitchFamily="18" charset="0"/>
                <a:ea typeface="Courier New"/>
                <a:cs typeface="Times New Roman" panose="02020603050405020304" pitchFamily="18" charset="0"/>
                <a:sym typeface="Courier New"/>
              </a:rPr>
              <a:t>import</a:t>
            </a:r>
            <a:r>
              <a:rPr lang="es"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rPr>
              <a:t> pandas </a:t>
            </a:r>
            <a:r>
              <a:rPr lang="es" sz="1050" dirty="0">
                <a:solidFill>
                  <a:srgbClr val="AF00DB"/>
                </a:solidFill>
                <a:highlight>
                  <a:srgbClr val="FFFFFE"/>
                </a:highlight>
                <a:latin typeface="Times New Roman" panose="02020603050405020304" pitchFamily="18" charset="0"/>
                <a:ea typeface="Courier New"/>
                <a:cs typeface="Times New Roman" panose="02020603050405020304" pitchFamily="18" charset="0"/>
                <a:sym typeface="Courier New"/>
              </a:rPr>
              <a:t>as</a:t>
            </a:r>
            <a:r>
              <a:rPr lang="es"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rPr>
              <a:t> pd</a:t>
            </a:r>
            <a:endParaRPr sz="10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endParaRPr sz="1050" dirty="0">
              <a:solidFill>
                <a:srgbClr val="008000"/>
              </a:solidFill>
              <a:highlight>
                <a:srgbClr val="FFFFFE"/>
              </a:highlight>
              <a:latin typeface="Times New Roman" panose="02020603050405020304" pitchFamily="18" charset="0"/>
              <a:ea typeface="Impact"/>
              <a:cs typeface="Times New Roman" panose="02020603050405020304" pitchFamily="18" charset="0"/>
              <a:sym typeface="Impact"/>
            </a:endParaRPr>
          </a:p>
          <a:p>
            <a:pPr marL="0" lvl="0" indent="0" algn="l" rtl="0">
              <a:lnSpc>
                <a:spcPct val="135714"/>
              </a:lnSpc>
              <a:spcBef>
                <a:spcPts val="0"/>
              </a:spcBef>
              <a:spcAft>
                <a:spcPts val="0"/>
              </a:spcAft>
              <a:buNone/>
            </a:pPr>
            <a:r>
              <a:rPr lang="es" sz="1200" b="1" dirty="0">
                <a:solidFill>
                  <a:schemeClr val="accent1"/>
                </a:solidFill>
                <a:highlight>
                  <a:srgbClr val="FFFFFF"/>
                </a:highlight>
                <a:latin typeface="Times New Roman" panose="02020603050405020304" pitchFamily="18" charset="0"/>
                <a:ea typeface="Roboto"/>
                <a:cs typeface="Times New Roman" panose="02020603050405020304" pitchFamily="18" charset="0"/>
                <a:sym typeface="Roboto"/>
              </a:rPr>
              <a:t>Opción 3. Desde una dirección de drive</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#Se debe copiar el enlace del documento abierto hasta la última letra agregar "/export?format=csv"</a:t>
            </a:r>
            <a:endParaRPr sz="950" b="1"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9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rPr>
              <a:t>datos = </a:t>
            </a:r>
            <a:r>
              <a:rPr lang="es" sz="8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rPr>
              <a:t>pd.read_csv(</a:t>
            </a:r>
            <a:r>
              <a:rPr lang="es" sz="8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a:t>
            </a:r>
            <a:r>
              <a:rPr lang="es" sz="750" u="sng" dirty="0">
                <a:solidFill>
                  <a:schemeClr val="hlink"/>
                </a:solidFill>
                <a:highlight>
                  <a:srgbClr val="FFFFFE"/>
                </a:highlight>
                <a:latin typeface="Times New Roman" panose="02020603050405020304" pitchFamily="18" charset="0"/>
                <a:ea typeface="Courier New"/>
                <a:cs typeface="Times New Roman" panose="02020603050405020304" pitchFamily="18" charset="0"/>
                <a:sym typeface="Courier New"/>
                <a:hlinkClick r:id="rId3"/>
              </a:rPr>
              <a:t>https://docs.google.com/spreadsheets/d/1Fny9BGdY-jHurP0PRFssneAecz4LaBg8</a:t>
            </a:r>
            <a:r>
              <a:rPr lang="es" sz="850" u="sng" dirty="0">
                <a:solidFill>
                  <a:schemeClr val="hlink"/>
                </a:solidFill>
                <a:highlight>
                  <a:srgbClr val="FFFFFE"/>
                </a:highlight>
                <a:latin typeface="Times New Roman" panose="02020603050405020304" pitchFamily="18" charset="0"/>
                <a:ea typeface="Courier New"/>
                <a:cs typeface="Times New Roman" panose="02020603050405020304" pitchFamily="18" charset="0"/>
                <a:sym typeface="Courier New"/>
                <a:hlinkClick r:id="rId3"/>
              </a:rPr>
              <a:t>/export?format=csv</a:t>
            </a:r>
            <a:r>
              <a:rPr lang="es" sz="8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a:t>
            </a:r>
            <a:r>
              <a:rPr lang="es" sz="8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8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8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rPr>
              <a:t>datos</a:t>
            </a:r>
            <a:endParaRPr sz="850" dirty="0">
              <a:solidFill>
                <a:srgbClr val="000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endParaRPr sz="1050" dirty="0">
              <a:solidFill>
                <a:srgbClr val="008000"/>
              </a:solidFill>
              <a:highlight>
                <a:srgbClr val="FFFFF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dirty="0">
              <a:solidFill>
                <a:srgbClr val="008000"/>
              </a:solidFill>
              <a:highlight>
                <a:srgbClr val="FFFFF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dirty="0">
              <a:solidFill>
                <a:srgbClr val="008000"/>
              </a:solidFill>
              <a:highlight>
                <a:srgbClr val="FFFFF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b="1" dirty="0">
              <a:solidFill>
                <a:srgbClr val="008000"/>
              </a:solidFill>
              <a:highlight>
                <a:srgbClr val="FFFFF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dirty="0">
              <a:solidFill>
                <a:srgbClr val="000000"/>
              </a:solidFill>
              <a:highlight>
                <a:srgbClr val="FFFFF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dirty="0">
              <a:solidFill>
                <a:srgbClr val="000000"/>
              </a:solidFill>
              <a:highlight>
                <a:srgbClr val="FFFFFE"/>
              </a:highlight>
              <a:latin typeface="Courier New"/>
              <a:ea typeface="Courier New"/>
              <a:cs typeface="Courier New"/>
              <a:sym typeface="Courier New"/>
            </a:endParaRPr>
          </a:p>
          <a:p>
            <a:pPr marL="0" lvl="0" indent="0" algn="l" rtl="0">
              <a:lnSpc>
                <a:spcPct val="135714"/>
              </a:lnSpc>
              <a:spcBef>
                <a:spcPts val="0"/>
              </a:spcBef>
              <a:spcAft>
                <a:spcPts val="0"/>
              </a:spcAft>
              <a:buNone/>
            </a:pPr>
            <a:endParaRPr sz="1050" dirty="0">
              <a:solidFill>
                <a:srgbClr val="AF00DB"/>
              </a:solidFill>
              <a:highlight>
                <a:srgbClr val="FFFFFE"/>
              </a:highlight>
              <a:latin typeface="Courier New"/>
              <a:ea typeface="Courier New"/>
              <a:cs typeface="Courier New"/>
              <a:sym typeface="Courier New"/>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s" sz="6600" b="1" dirty="0">
                <a:latin typeface="Impact"/>
                <a:ea typeface="Impact"/>
                <a:cs typeface="Impact"/>
                <a:sym typeface="Impact"/>
              </a:rPr>
              <a:t>Gestión de Bases de Datos</a:t>
            </a:r>
            <a:endParaRPr sz="6600" b="1" dirty="0">
              <a:latin typeface="Impact"/>
              <a:ea typeface="Impact"/>
              <a:cs typeface="Impact"/>
              <a:sym typeface="Impact"/>
            </a:endParaRPr>
          </a:p>
        </p:txBody>
      </p:sp>
      <p:pic>
        <p:nvPicPr>
          <p:cNvPr id="188" name="Google Shape;188;p28"/>
          <p:cNvPicPr preferRelativeResize="0"/>
          <p:nvPr/>
        </p:nvPicPr>
        <p:blipFill>
          <a:blip r:embed="rId3">
            <a:alphaModFix/>
          </a:blip>
          <a:stretch>
            <a:fillRect/>
          </a:stretch>
        </p:blipFill>
        <p:spPr>
          <a:xfrm>
            <a:off x="2399975" y="2797175"/>
            <a:ext cx="4706585" cy="204152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29"/>
          <p:cNvPicPr preferRelativeResize="0"/>
          <p:nvPr/>
        </p:nvPicPr>
        <p:blipFill>
          <a:blip r:embed="rId3">
            <a:alphaModFix/>
          </a:blip>
          <a:stretch>
            <a:fillRect/>
          </a:stretch>
        </p:blipFill>
        <p:spPr>
          <a:xfrm>
            <a:off x="121025" y="1636188"/>
            <a:ext cx="3654325" cy="2661375"/>
          </a:xfrm>
          <a:prstGeom prst="rect">
            <a:avLst/>
          </a:prstGeom>
          <a:noFill/>
          <a:ln>
            <a:noFill/>
          </a:ln>
        </p:spPr>
      </p:pic>
      <p:sp>
        <p:nvSpPr>
          <p:cNvPr id="194" name="Google Shape;194;p29"/>
          <p:cNvSpPr txBox="1">
            <a:spLocks noGrp="1"/>
          </p:cNvSpPr>
          <p:nvPr>
            <p:ph type="title" idx="4294967295"/>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195" name="Google Shape;195;p29"/>
          <p:cNvSpPr txBox="1"/>
          <p:nvPr/>
        </p:nvSpPr>
        <p:spPr>
          <a:xfrm>
            <a:off x="2498275" y="492725"/>
            <a:ext cx="2956500" cy="400200"/>
          </a:xfrm>
          <a:prstGeom prst="rect">
            <a:avLst/>
          </a:prstGeom>
          <a:solidFill>
            <a:schemeClr val="accen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a:solidFill>
                  <a:schemeClr val="lt1"/>
                </a:solidFill>
              </a:rPr>
              <a:t>DataFrame</a:t>
            </a:r>
            <a:endParaRPr b="1">
              <a:solidFill>
                <a:schemeClr val="lt1"/>
              </a:solidFill>
            </a:endParaRPr>
          </a:p>
        </p:txBody>
      </p:sp>
      <p:pic>
        <p:nvPicPr>
          <p:cNvPr id="196" name="Google Shape;196;p29"/>
          <p:cNvPicPr preferRelativeResize="0"/>
          <p:nvPr/>
        </p:nvPicPr>
        <p:blipFill>
          <a:blip r:embed="rId4">
            <a:alphaModFix/>
          </a:blip>
          <a:stretch>
            <a:fillRect/>
          </a:stretch>
        </p:blipFill>
        <p:spPr>
          <a:xfrm>
            <a:off x="4299450" y="1719600"/>
            <a:ext cx="4752675" cy="18202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0"/>
          <p:cNvSpPr txBox="1">
            <a:spLocks noGrp="1"/>
          </p:cNvSpPr>
          <p:nvPr>
            <p:ph type="title" idx="4294967295"/>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202" name="Google Shape;202;p30"/>
          <p:cNvSpPr txBox="1"/>
          <p:nvPr/>
        </p:nvSpPr>
        <p:spPr>
          <a:xfrm>
            <a:off x="2498275" y="492725"/>
            <a:ext cx="2956500" cy="400200"/>
          </a:xfrm>
          <a:prstGeom prst="rect">
            <a:avLst/>
          </a:prstGeom>
          <a:solidFill>
            <a:schemeClr val="accen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a:solidFill>
                  <a:schemeClr val="lt1"/>
                </a:solidFill>
              </a:rPr>
              <a:t>DataFrame</a:t>
            </a:r>
            <a:endParaRPr b="1">
              <a:solidFill>
                <a:schemeClr val="lt1"/>
              </a:solidFill>
            </a:endParaRPr>
          </a:p>
        </p:txBody>
      </p:sp>
      <p:pic>
        <p:nvPicPr>
          <p:cNvPr id="2" name="Imagen 1">
            <a:extLst>
              <a:ext uri="{FF2B5EF4-FFF2-40B4-BE49-F238E27FC236}">
                <a16:creationId xmlns:a16="http://schemas.microsoft.com/office/drawing/2014/main" id="{D1FDDBF1-0E7F-D211-2AE9-9E116D8FC5FD}"/>
              </a:ext>
            </a:extLst>
          </p:cNvPr>
          <p:cNvPicPr>
            <a:picLocks noChangeAspect="1"/>
          </p:cNvPicPr>
          <p:nvPr/>
        </p:nvPicPr>
        <p:blipFill>
          <a:blip r:embed="rId3"/>
          <a:stretch>
            <a:fillRect/>
          </a:stretch>
        </p:blipFill>
        <p:spPr>
          <a:xfrm>
            <a:off x="923925" y="978643"/>
            <a:ext cx="7296150" cy="386715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1"/>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 sz="6600" b="1">
                <a:latin typeface="Impact"/>
                <a:ea typeface="Impact"/>
                <a:cs typeface="Impact"/>
                <a:sym typeface="Impact"/>
              </a:rPr>
              <a:t>Conocer los datos</a:t>
            </a:r>
            <a:endParaRPr sz="6600" b="1">
              <a:latin typeface="Impact"/>
              <a:ea typeface="Impact"/>
              <a:cs typeface="Impact"/>
              <a:sym typeface="Impact"/>
            </a:endParaRPr>
          </a:p>
        </p:txBody>
      </p:sp>
      <p:pic>
        <p:nvPicPr>
          <p:cNvPr id="209" name="Google Shape;209;p31"/>
          <p:cNvPicPr preferRelativeResize="0"/>
          <p:nvPr/>
        </p:nvPicPr>
        <p:blipFill>
          <a:blip r:embed="rId3">
            <a:alphaModFix/>
          </a:blip>
          <a:stretch>
            <a:fillRect/>
          </a:stretch>
        </p:blipFill>
        <p:spPr>
          <a:xfrm>
            <a:off x="2399975" y="2797175"/>
            <a:ext cx="4706585" cy="204152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32"/>
          <p:cNvSpPr txBox="1"/>
          <p:nvPr/>
        </p:nvSpPr>
        <p:spPr>
          <a:xfrm>
            <a:off x="216100" y="1068300"/>
            <a:ext cx="7737000" cy="4139949"/>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#Importar la libreria pandas para el manejo de dataframe </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rgbClr val="AF00DB"/>
                </a:solidFill>
                <a:highlight>
                  <a:srgbClr val="FFFFFE"/>
                </a:highlight>
                <a:latin typeface="Times New Roman" panose="02020603050405020304" pitchFamily="18" charset="0"/>
                <a:ea typeface="Courier New"/>
                <a:cs typeface="Times New Roman" panose="02020603050405020304" pitchFamily="18" charset="0"/>
                <a:sym typeface="Courier New"/>
              </a:rPr>
              <a:t>import</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pandas </a:t>
            </a:r>
            <a:r>
              <a:rPr lang="es" sz="1050" dirty="0">
                <a:solidFill>
                  <a:srgbClr val="AF00DB"/>
                </a:solidFill>
                <a:highlight>
                  <a:srgbClr val="FFFFFE"/>
                </a:highlight>
                <a:latin typeface="Times New Roman" panose="02020603050405020304" pitchFamily="18" charset="0"/>
                <a:ea typeface="Courier New"/>
                <a:cs typeface="Times New Roman" panose="02020603050405020304" pitchFamily="18" charset="0"/>
                <a:sym typeface="Courier New"/>
              </a:rPr>
              <a:t>as</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pd</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#Importar la base de datos </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rgbClr val="AF00DB"/>
                </a:solidFill>
                <a:highlight>
                  <a:srgbClr val="FFFFFE"/>
                </a:highlight>
                <a:latin typeface="Times New Roman" panose="02020603050405020304" pitchFamily="18" charset="0"/>
                <a:ea typeface="Courier New"/>
                <a:cs typeface="Times New Roman" panose="02020603050405020304" pitchFamily="18" charset="0"/>
                <a:sym typeface="Courier New"/>
              </a:rPr>
              <a:t>from</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google.colab </a:t>
            </a:r>
            <a:r>
              <a:rPr lang="es" sz="1050" dirty="0">
                <a:solidFill>
                  <a:srgbClr val="AF00DB"/>
                </a:solidFill>
                <a:highlight>
                  <a:srgbClr val="FFFFFE"/>
                </a:highlight>
                <a:latin typeface="Times New Roman" panose="02020603050405020304" pitchFamily="18" charset="0"/>
                <a:ea typeface="Courier New"/>
                <a:cs typeface="Times New Roman" panose="02020603050405020304" pitchFamily="18" charset="0"/>
                <a:sym typeface="Courier New"/>
              </a:rPr>
              <a:t>import</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files</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 = pd.read_csv(</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"/content/drive/MyDrive/PYTHON/DATA/FAO_mundo_cultivo_arp_2020.csv"</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#Nos va a mostrar toda la base de datos</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#Nos va a mostrar los primeros 5 registros</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datos.head()</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#Nos va a mostrar los últimos registros</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datos.tail()</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#Nos va a mostrar registros aleatorios</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datos.sample()</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
        <p:nvSpPr>
          <p:cNvPr id="215" name="Google Shape;215;p32"/>
          <p:cNvSpPr txBox="1">
            <a:spLocks noGrp="1"/>
          </p:cNvSpPr>
          <p:nvPr>
            <p:ph type="title" idx="4294967295"/>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216" name="Google Shape;216;p32"/>
          <p:cNvSpPr txBox="1"/>
          <p:nvPr/>
        </p:nvSpPr>
        <p:spPr>
          <a:xfrm>
            <a:off x="2498275" y="492725"/>
            <a:ext cx="2956500" cy="400200"/>
          </a:xfrm>
          <a:prstGeom prst="rect">
            <a:avLst/>
          </a:prstGeom>
          <a:solidFill>
            <a:schemeClr val="accent1"/>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a:solidFill>
                  <a:schemeClr val="lt1"/>
                </a:solidFill>
              </a:rPr>
              <a:t>DataFrame -  Conocer los datos</a:t>
            </a:r>
            <a:endParaRPr b="1">
              <a:solidFill>
                <a:schemeClr val="lt1"/>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3"/>
          <p:cNvSpPr txBox="1">
            <a:spLocks noGrp="1"/>
          </p:cNvSpPr>
          <p:nvPr>
            <p:ph type="title" idx="4294967295"/>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222" name="Google Shape;222;p33"/>
          <p:cNvSpPr txBox="1"/>
          <p:nvPr/>
        </p:nvSpPr>
        <p:spPr>
          <a:xfrm>
            <a:off x="2498275" y="492725"/>
            <a:ext cx="2956500" cy="400200"/>
          </a:xfrm>
          <a:prstGeom prst="rect">
            <a:avLst/>
          </a:prstGeom>
          <a:solidFill>
            <a:srgbClr val="980000"/>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a:solidFill>
                  <a:schemeClr val="lt1"/>
                </a:solidFill>
              </a:rPr>
              <a:t>DataFrame - Conocer los datos</a:t>
            </a:r>
            <a:endParaRPr b="1">
              <a:solidFill>
                <a:schemeClr val="lt1"/>
              </a:solidFill>
            </a:endParaRPr>
          </a:p>
        </p:txBody>
      </p:sp>
      <p:sp>
        <p:nvSpPr>
          <p:cNvPr id="223" name="Google Shape;223;p33"/>
          <p:cNvSpPr txBox="1"/>
          <p:nvPr/>
        </p:nvSpPr>
        <p:spPr>
          <a:xfrm>
            <a:off x="164250" y="1201600"/>
            <a:ext cx="7321800" cy="624115"/>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#Mostra el número de filas y columnas se tiene de la base de datos</a:t>
            </a:r>
            <a:endParaRPr sz="1050" b="1">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datos.shape</a:t>
            </a:r>
            <a:endParaRPr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
        <p:nvSpPr>
          <p:cNvPr id="224" name="Google Shape;224;p33"/>
          <p:cNvSpPr txBox="1"/>
          <p:nvPr/>
        </p:nvSpPr>
        <p:spPr>
          <a:xfrm>
            <a:off x="164250" y="1875875"/>
            <a:ext cx="8039400" cy="624115"/>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#Muestra el nombre de los encabezados de columnas y características de las filas</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datos.columns</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
        <p:nvSpPr>
          <p:cNvPr id="225" name="Google Shape;225;p33"/>
          <p:cNvSpPr txBox="1"/>
          <p:nvPr/>
        </p:nvSpPr>
        <p:spPr>
          <a:xfrm>
            <a:off x="164250" y="2506488"/>
            <a:ext cx="5644800" cy="624115"/>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#Muestra información general</a:t>
            </a:r>
            <a:endParaRPr sz="1050" b="1">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datos.info()</a:t>
            </a:r>
            <a:endParaRPr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
        <p:nvSpPr>
          <p:cNvPr id="226" name="Google Shape;226;p33"/>
          <p:cNvSpPr txBox="1"/>
          <p:nvPr/>
        </p:nvSpPr>
        <p:spPr>
          <a:xfrm>
            <a:off x="164250" y="3137088"/>
            <a:ext cx="6336300" cy="624115"/>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#Muestra información del tipo de variables</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datos.dtypes</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
        <p:nvSpPr>
          <p:cNvPr id="227" name="Google Shape;227;p33"/>
          <p:cNvSpPr txBox="1"/>
          <p:nvPr/>
        </p:nvSpPr>
        <p:spPr>
          <a:xfrm>
            <a:off x="136500" y="3846825"/>
            <a:ext cx="8387100" cy="1283334"/>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 Conteo de los niveles en las diferentes columnas categóricas</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columnas_categoricas = [</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'Área'</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'Elemento'</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'Producto'</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'Unidad'</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rgbClr val="AF00DB"/>
                </a:solidFill>
                <a:highlight>
                  <a:srgbClr val="FFFFFE"/>
                </a:highlight>
                <a:latin typeface="Times New Roman" panose="02020603050405020304" pitchFamily="18" charset="0"/>
                <a:ea typeface="Courier New"/>
                <a:cs typeface="Times New Roman" panose="02020603050405020304" pitchFamily="18" charset="0"/>
                <a:sym typeface="Courier New"/>
              </a:rPr>
              <a:t>for</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conteo </a:t>
            </a:r>
            <a:r>
              <a:rPr lang="es" sz="1050" dirty="0">
                <a:solidFill>
                  <a:srgbClr val="0000FF"/>
                </a:solidFill>
                <a:highlight>
                  <a:srgbClr val="FFFFFE"/>
                </a:highlight>
                <a:latin typeface="Times New Roman" panose="02020603050405020304" pitchFamily="18" charset="0"/>
                <a:ea typeface="Courier New"/>
                <a:cs typeface="Times New Roman" panose="02020603050405020304" pitchFamily="18" charset="0"/>
                <a:sym typeface="Courier New"/>
              </a:rPr>
              <a:t>in</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columnas_categoricas:</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a:t>
            </a:r>
            <a:r>
              <a:rPr lang="es" sz="1050" dirty="0">
                <a:solidFill>
                  <a:srgbClr val="795E26"/>
                </a:solidFill>
                <a:highlight>
                  <a:srgbClr val="FFFFFE"/>
                </a:highlight>
                <a:latin typeface="Times New Roman" panose="02020603050405020304" pitchFamily="18" charset="0"/>
                <a:ea typeface="Courier New"/>
                <a:cs typeface="Times New Roman" panose="02020603050405020304" pitchFamily="18" charset="0"/>
                <a:sym typeface="Courier New"/>
              </a:rPr>
              <a:t>print</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r>
              <a:rPr lang="es" sz="1050" dirty="0">
                <a:solidFill>
                  <a:srgbClr val="0000FF"/>
                </a:solidFill>
                <a:highlight>
                  <a:srgbClr val="FFFFFE"/>
                </a:highlight>
                <a:latin typeface="Times New Roman" panose="02020603050405020304" pitchFamily="18" charset="0"/>
                <a:ea typeface="Courier New"/>
                <a:cs typeface="Times New Roman" panose="02020603050405020304" pitchFamily="18" charset="0"/>
                <a:sym typeface="Courier New"/>
              </a:rPr>
              <a:t>f</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'Columna </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{conteo}</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 </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{datos[conteo].nunique()}</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 niveles'</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 sz="6600" b="1">
                <a:latin typeface="Impact"/>
                <a:ea typeface="Impact"/>
                <a:cs typeface="Impact"/>
                <a:sym typeface="Impact"/>
              </a:rPr>
              <a:t>Datos faltantes  o nulos</a:t>
            </a:r>
            <a:endParaRPr sz="6600" b="1">
              <a:latin typeface="Impact"/>
              <a:ea typeface="Impact"/>
              <a:cs typeface="Impact"/>
              <a:sym typeface="Impact"/>
            </a:endParaRPr>
          </a:p>
        </p:txBody>
      </p:sp>
      <p:pic>
        <p:nvPicPr>
          <p:cNvPr id="233" name="Google Shape;233;p34"/>
          <p:cNvPicPr preferRelativeResize="0"/>
          <p:nvPr/>
        </p:nvPicPr>
        <p:blipFill>
          <a:blip r:embed="rId3">
            <a:alphaModFix/>
          </a:blip>
          <a:stretch>
            <a:fillRect/>
          </a:stretch>
        </p:blipFill>
        <p:spPr>
          <a:xfrm>
            <a:off x="2399975" y="2797175"/>
            <a:ext cx="4706585" cy="204152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5"/>
          <p:cNvSpPr txBox="1">
            <a:spLocks noGrp="1"/>
          </p:cNvSpPr>
          <p:nvPr>
            <p:ph type="title" idx="4294967295"/>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239" name="Google Shape;239;p35"/>
          <p:cNvSpPr txBox="1"/>
          <p:nvPr/>
        </p:nvSpPr>
        <p:spPr>
          <a:xfrm>
            <a:off x="2498275" y="492725"/>
            <a:ext cx="3708600" cy="400200"/>
          </a:xfrm>
          <a:prstGeom prst="rect">
            <a:avLst/>
          </a:prstGeom>
          <a:solidFill>
            <a:srgbClr val="0000FF"/>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a:solidFill>
                  <a:schemeClr val="lt1"/>
                </a:solidFill>
              </a:rPr>
              <a:t>DataFrame - Gestionar datos nulos</a:t>
            </a:r>
            <a:endParaRPr b="1">
              <a:solidFill>
                <a:schemeClr val="lt1"/>
              </a:solidFill>
            </a:endParaRPr>
          </a:p>
        </p:txBody>
      </p:sp>
      <p:sp>
        <p:nvSpPr>
          <p:cNvPr id="240" name="Google Shape;240;p35"/>
          <p:cNvSpPr txBox="1"/>
          <p:nvPr/>
        </p:nvSpPr>
        <p:spPr>
          <a:xfrm>
            <a:off x="105888" y="1633800"/>
            <a:ext cx="8402400" cy="624115"/>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#Muestra cuantas celdas con datos nulos o faltantes tiene cada columna de la base de datos</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datos.isnull().</a:t>
            </a:r>
            <a:r>
              <a:rPr lang="es" sz="1050" dirty="0">
                <a:solidFill>
                  <a:srgbClr val="795E26"/>
                </a:solidFill>
                <a:highlight>
                  <a:srgbClr val="FFFFFE"/>
                </a:highlight>
                <a:latin typeface="Times New Roman" panose="02020603050405020304" pitchFamily="18" charset="0"/>
                <a:ea typeface="Courier New"/>
                <a:cs typeface="Times New Roman" panose="02020603050405020304" pitchFamily="18" charset="0"/>
                <a:sym typeface="Courier New"/>
              </a:rPr>
              <a:t>sum</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
        <p:nvSpPr>
          <p:cNvPr id="241" name="Google Shape;241;p35"/>
          <p:cNvSpPr txBox="1"/>
          <p:nvPr/>
        </p:nvSpPr>
        <p:spPr>
          <a:xfrm>
            <a:off x="162063" y="2290800"/>
            <a:ext cx="8437200" cy="624115"/>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#Muestra cuantas celdas vacías o sin valor tiene una columna que seleccione</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CO"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datos["Edad"].</a:t>
            </a:r>
            <a:r>
              <a:rPr lang="es-CO" sz="1050" dirty="0" err="1">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isnull</a:t>
            </a:r>
            <a:r>
              <a:rPr lang="es-CO"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().sum()</a:t>
            </a:r>
          </a:p>
        </p:txBody>
      </p:sp>
      <p:sp>
        <p:nvSpPr>
          <p:cNvPr id="242" name="Google Shape;242;p35"/>
          <p:cNvSpPr txBox="1"/>
          <p:nvPr/>
        </p:nvSpPr>
        <p:spPr>
          <a:xfrm>
            <a:off x="162063" y="3068825"/>
            <a:ext cx="8087100" cy="624115"/>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#Va a mostrar cuáles son las filas que tienen datos faltantes para una columna específica </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datos[datos[</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"Valor"</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].isnull()]</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6"/>
          <p:cNvSpPr txBox="1">
            <a:spLocks noGrp="1"/>
          </p:cNvSpPr>
          <p:nvPr>
            <p:ph type="title" idx="4294967295"/>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248" name="Google Shape;248;p36"/>
          <p:cNvSpPr txBox="1"/>
          <p:nvPr/>
        </p:nvSpPr>
        <p:spPr>
          <a:xfrm>
            <a:off x="2498275" y="492725"/>
            <a:ext cx="3708600" cy="400200"/>
          </a:xfrm>
          <a:prstGeom prst="rect">
            <a:avLst/>
          </a:prstGeom>
          <a:solidFill>
            <a:srgbClr val="A31515"/>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a:solidFill>
                  <a:schemeClr val="lt1"/>
                </a:solidFill>
              </a:rPr>
              <a:t>DataFrame - Eliminar datos nulos</a:t>
            </a:r>
            <a:endParaRPr b="1">
              <a:solidFill>
                <a:schemeClr val="lt1"/>
              </a:solidFill>
            </a:endParaRPr>
          </a:p>
        </p:txBody>
      </p:sp>
      <p:sp>
        <p:nvSpPr>
          <p:cNvPr id="249" name="Google Shape;249;p36"/>
          <p:cNvSpPr txBox="1"/>
          <p:nvPr/>
        </p:nvSpPr>
        <p:spPr>
          <a:xfrm>
            <a:off x="155600" y="1293950"/>
            <a:ext cx="8757000" cy="624115"/>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#Si queremos eliminar todas las filas que tienen algún valor nulo o vacío</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datos.dropna(inplace = </a:t>
            </a:r>
            <a:r>
              <a:rPr lang="es" sz="1050" dirty="0">
                <a:solidFill>
                  <a:srgbClr val="0000FF"/>
                </a:solidFill>
                <a:highlight>
                  <a:srgbClr val="FFFFFE"/>
                </a:highlight>
                <a:latin typeface="Times New Roman" panose="02020603050405020304" pitchFamily="18" charset="0"/>
                <a:ea typeface="Courier New"/>
                <a:cs typeface="Times New Roman" panose="02020603050405020304" pitchFamily="18" charset="0"/>
                <a:sym typeface="Courier New"/>
              </a:rPr>
              <a:t>True</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
        <p:nvSpPr>
          <p:cNvPr id="250" name="Google Shape;250;p36"/>
          <p:cNvSpPr txBox="1"/>
          <p:nvPr/>
        </p:nvSpPr>
        <p:spPr>
          <a:xfrm>
            <a:off x="155600" y="1927750"/>
            <a:ext cx="8921100" cy="624115"/>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#Si queremos eliminar solo algunas filas que tienen algún valor nulo o vacío en una columna específica</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datos.dropna(subset=[</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"Valor"</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inplace = </a:t>
            </a:r>
            <a:r>
              <a:rPr lang="es" sz="1050" dirty="0">
                <a:solidFill>
                  <a:srgbClr val="0000FF"/>
                </a:solidFill>
                <a:highlight>
                  <a:srgbClr val="FFFFFE"/>
                </a:highlight>
                <a:latin typeface="Times New Roman" panose="02020603050405020304" pitchFamily="18" charset="0"/>
                <a:ea typeface="Courier New"/>
                <a:cs typeface="Times New Roman" panose="02020603050405020304" pitchFamily="18" charset="0"/>
                <a:sym typeface="Courier New"/>
              </a:rPr>
              <a:t>True</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7"/>
          <p:cNvSpPr txBox="1">
            <a:spLocks noGrp="1"/>
          </p:cNvSpPr>
          <p:nvPr>
            <p:ph type="title" idx="4294967295"/>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256" name="Google Shape;256;p37"/>
          <p:cNvSpPr txBox="1"/>
          <p:nvPr/>
        </p:nvSpPr>
        <p:spPr>
          <a:xfrm>
            <a:off x="2498275" y="492725"/>
            <a:ext cx="3708600" cy="400200"/>
          </a:xfrm>
          <a:prstGeom prst="rect">
            <a:avLst/>
          </a:prstGeom>
          <a:solidFill>
            <a:schemeClr val="accent3"/>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a:solidFill>
                  <a:schemeClr val="lt1"/>
                </a:solidFill>
              </a:rPr>
              <a:t>DataFrame - Imputar datos nulos</a:t>
            </a:r>
            <a:endParaRPr b="1">
              <a:solidFill>
                <a:schemeClr val="lt1"/>
              </a:solidFill>
            </a:endParaRPr>
          </a:p>
        </p:txBody>
      </p:sp>
      <p:sp>
        <p:nvSpPr>
          <p:cNvPr id="257" name="Google Shape;257;p37"/>
          <p:cNvSpPr txBox="1"/>
          <p:nvPr/>
        </p:nvSpPr>
        <p:spPr>
          <a:xfrm>
            <a:off x="207475" y="1159900"/>
            <a:ext cx="8367900" cy="624115"/>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#Agregar un valor (0) a todo los datos nulos o faltantes</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datos.fillna(</a:t>
            </a:r>
            <a:r>
              <a:rPr lang="es" sz="1050" dirty="0">
                <a:solidFill>
                  <a:srgbClr val="09885A"/>
                </a:solidFill>
                <a:highlight>
                  <a:srgbClr val="FFFFFE"/>
                </a:highlight>
                <a:latin typeface="Times New Roman" panose="02020603050405020304" pitchFamily="18" charset="0"/>
                <a:ea typeface="Courier New"/>
                <a:cs typeface="Times New Roman" panose="02020603050405020304" pitchFamily="18" charset="0"/>
                <a:sym typeface="Courier New"/>
              </a:rPr>
              <a:t>0</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
        <p:nvSpPr>
          <p:cNvPr id="258" name="Google Shape;258;p37"/>
          <p:cNvSpPr txBox="1"/>
          <p:nvPr/>
        </p:nvSpPr>
        <p:spPr>
          <a:xfrm>
            <a:off x="207475" y="1725400"/>
            <a:ext cx="8904000" cy="624115"/>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#Agregar un valor (0) a una serie o columna específica</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"Valor"</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].fillna(</a:t>
            </a:r>
            <a:r>
              <a:rPr lang="es" sz="1050" dirty="0">
                <a:solidFill>
                  <a:srgbClr val="09885A"/>
                </a:solidFill>
                <a:highlight>
                  <a:srgbClr val="FFFFFE"/>
                </a:highlight>
                <a:latin typeface="Times New Roman" panose="02020603050405020304" pitchFamily="18" charset="0"/>
                <a:ea typeface="Courier New"/>
                <a:cs typeface="Times New Roman" panose="02020603050405020304" pitchFamily="18" charset="0"/>
                <a:sym typeface="Courier New"/>
              </a:rPr>
              <a:t>0</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
        <p:nvSpPr>
          <p:cNvPr id="259" name="Google Shape;259;p37"/>
          <p:cNvSpPr txBox="1"/>
          <p:nvPr/>
        </p:nvSpPr>
        <p:spPr>
          <a:xfrm>
            <a:off x="194525" y="2383850"/>
            <a:ext cx="8834700" cy="1283334"/>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#Agregar un valor específico para cada columna de interés a través de un diccionario</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valores_imputacion={</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"Valor"</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r>
              <a:rPr lang="es" sz="1050" dirty="0">
                <a:solidFill>
                  <a:srgbClr val="09885A"/>
                </a:solidFill>
                <a:highlight>
                  <a:srgbClr val="FFFFFE"/>
                </a:highlight>
                <a:latin typeface="Times New Roman" panose="02020603050405020304" pitchFamily="18" charset="0"/>
                <a:ea typeface="Courier New"/>
                <a:cs typeface="Times New Roman" panose="02020603050405020304" pitchFamily="18" charset="0"/>
                <a:sym typeface="Courier New"/>
              </a:rPr>
              <a:t>0</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"otracoluma"</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"Desconocido"</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datos.fillna(value=valores_imputacion)</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
        <p:nvSpPr>
          <p:cNvPr id="260" name="Google Shape;260;p37"/>
          <p:cNvSpPr txBox="1"/>
          <p:nvPr/>
        </p:nvSpPr>
        <p:spPr>
          <a:xfrm>
            <a:off x="194525" y="3700500"/>
            <a:ext cx="8757000" cy="1503073"/>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#Agregar un valor generado para cada columna de interes a través de un diccionario</a:t>
            </a:r>
            <a:endParaRPr sz="1050" b="1">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promedio = datos[</a:t>
            </a:r>
            <a:r>
              <a:rPr lang="es" sz="105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"Valor"</a:t>
            </a: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].mean()</a:t>
            </a:r>
            <a:endParaRPr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mediana = datos[</a:t>
            </a:r>
            <a:r>
              <a:rPr lang="es" sz="105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"Valor"</a:t>
            </a: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].median()</a:t>
            </a:r>
            <a:endParaRPr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moda = datos[</a:t>
            </a:r>
            <a:r>
              <a:rPr lang="es" sz="105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"Valor"</a:t>
            </a: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].mode()[</a:t>
            </a:r>
            <a:r>
              <a:rPr lang="es" sz="1050">
                <a:solidFill>
                  <a:srgbClr val="09885A"/>
                </a:solidFill>
                <a:highlight>
                  <a:srgbClr val="FFFFFE"/>
                </a:highlight>
                <a:latin typeface="Times New Roman" panose="02020603050405020304" pitchFamily="18" charset="0"/>
                <a:ea typeface="Courier New"/>
                <a:cs typeface="Times New Roman" panose="02020603050405020304" pitchFamily="18" charset="0"/>
                <a:sym typeface="Courier New"/>
              </a:rPr>
              <a:t>0</a:t>
            </a: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r>
              <a:rPr lang="es" sz="105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#indicar que es la primera moda</a:t>
            </a:r>
            <a:endParaRPr sz="105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endParaRPr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a:t>
            </a:r>
            <a:r>
              <a:rPr lang="es" sz="105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"Valor"</a:t>
            </a: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].fillna(promedio)</a:t>
            </a:r>
            <a:endParaRPr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s" sz="6600" b="1">
                <a:latin typeface="Impact"/>
                <a:ea typeface="Impact"/>
                <a:cs typeface="Impact"/>
                <a:sym typeface="Impact"/>
              </a:rPr>
              <a:t>Gestión de columnas y filas</a:t>
            </a:r>
            <a:endParaRPr sz="6600" b="1">
              <a:latin typeface="Impact"/>
              <a:ea typeface="Impact"/>
              <a:cs typeface="Impact"/>
              <a:sym typeface="Impact"/>
            </a:endParaRPr>
          </a:p>
        </p:txBody>
      </p:sp>
      <p:pic>
        <p:nvPicPr>
          <p:cNvPr id="266" name="Google Shape;266;p38"/>
          <p:cNvPicPr preferRelativeResize="0"/>
          <p:nvPr/>
        </p:nvPicPr>
        <p:blipFill>
          <a:blip r:embed="rId3">
            <a:alphaModFix/>
          </a:blip>
          <a:stretch>
            <a:fillRect/>
          </a:stretch>
        </p:blipFill>
        <p:spPr>
          <a:xfrm>
            <a:off x="2399975" y="2797175"/>
            <a:ext cx="4706585" cy="2041525"/>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9"/>
          <p:cNvSpPr txBox="1">
            <a:spLocks noGrp="1"/>
          </p:cNvSpPr>
          <p:nvPr>
            <p:ph type="title" idx="4294967295"/>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272" name="Google Shape;272;p39"/>
          <p:cNvSpPr txBox="1"/>
          <p:nvPr/>
        </p:nvSpPr>
        <p:spPr>
          <a:xfrm>
            <a:off x="2498275" y="492725"/>
            <a:ext cx="3976500" cy="400200"/>
          </a:xfrm>
          <a:prstGeom prst="rect">
            <a:avLst/>
          </a:prstGeom>
          <a:solidFill>
            <a:schemeClr val="accent5"/>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a:solidFill>
                  <a:schemeClr val="lt1"/>
                </a:solidFill>
              </a:rPr>
              <a:t>DataFrame - Procesamiento de datos</a:t>
            </a:r>
            <a:endParaRPr b="1">
              <a:solidFill>
                <a:schemeClr val="lt1"/>
              </a:solidFill>
            </a:endParaRPr>
          </a:p>
        </p:txBody>
      </p:sp>
      <p:sp>
        <p:nvSpPr>
          <p:cNvPr id="273" name="Google Shape;273;p39"/>
          <p:cNvSpPr txBox="1"/>
          <p:nvPr/>
        </p:nvSpPr>
        <p:spPr>
          <a:xfrm>
            <a:off x="53513" y="1495475"/>
            <a:ext cx="8800200" cy="843855"/>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#Cambiar nombre de columnas</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 = datos.rename({</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"Área"</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"País"</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axis =</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"columns"</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datos.head()</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
        <p:nvSpPr>
          <p:cNvPr id="274" name="Google Shape;274;p39"/>
          <p:cNvSpPr txBox="1"/>
          <p:nvPr/>
        </p:nvSpPr>
        <p:spPr>
          <a:xfrm>
            <a:off x="55188" y="2528725"/>
            <a:ext cx="9033600" cy="843855"/>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#Agregar una columna adicional calculando algún dato de interés</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datos1[</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"NUEVA"</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 datos [</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"Área"</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 </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 "</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 datos[</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"Unidad"</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datos1</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
        <p:nvSpPr>
          <p:cNvPr id="275" name="Google Shape;275;p39"/>
          <p:cNvSpPr txBox="1"/>
          <p:nvPr/>
        </p:nvSpPr>
        <p:spPr>
          <a:xfrm>
            <a:off x="145950" y="3855475"/>
            <a:ext cx="8852100" cy="843855"/>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#Trasnsponer los datos</a:t>
            </a:r>
            <a:endParaRPr sz="1050" b="1">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 = datos.transpose()</a:t>
            </a:r>
            <a:endParaRPr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datos.head()</a:t>
            </a:r>
            <a:endParaRPr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40"/>
          <p:cNvSpPr txBox="1">
            <a:spLocks noGrp="1"/>
          </p:cNvSpPr>
          <p:nvPr>
            <p:ph type="title" idx="4294967295"/>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281" name="Google Shape;281;p40"/>
          <p:cNvSpPr txBox="1"/>
          <p:nvPr/>
        </p:nvSpPr>
        <p:spPr>
          <a:xfrm>
            <a:off x="2498275" y="492725"/>
            <a:ext cx="3976500" cy="400200"/>
          </a:xfrm>
          <a:prstGeom prst="rect">
            <a:avLst/>
          </a:prstGeom>
          <a:solidFill>
            <a:schemeClr val="accent5"/>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a:solidFill>
                  <a:schemeClr val="lt1"/>
                </a:solidFill>
              </a:rPr>
              <a:t>DataFrame - Procesamiento de datos</a:t>
            </a:r>
            <a:endParaRPr b="1">
              <a:solidFill>
                <a:schemeClr val="lt1"/>
              </a:solidFill>
            </a:endParaRPr>
          </a:p>
        </p:txBody>
      </p:sp>
      <p:sp>
        <p:nvSpPr>
          <p:cNvPr id="282" name="Google Shape;282;p40"/>
          <p:cNvSpPr txBox="1"/>
          <p:nvPr/>
        </p:nvSpPr>
        <p:spPr>
          <a:xfrm>
            <a:off x="81150" y="2973725"/>
            <a:ext cx="8981700" cy="843855"/>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#replazar de una fila un valor por otro </a:t>
            </a:r>
            <a:endParaRPr sz="1050" b="1">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a:t>
            </a:r>
            <a:r>
              <a:rPr lang="es" sz="105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"Producto"</a:t>
            </a: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datos[</a:t>
            </a:r>
            <a:r>
              <a:rPr lang="es" sz="105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"Producto"</a:t>
            </a: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].replace(</a:t>
            </a:r>
            <a:r>
              <a:rPr lang="es" sz="105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"Aceitunas, olivas"</a:t>
            </a: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a:t>
            </a:r>
            <a:r>
              <a:rPr lang="es" sz="105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"Aceitunas"</a:t>
            </a: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a:t>
            </a:r>
            <a:endParaRPr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
        <p:nvSpPr>
          <p:cNvPr id="283" name="Google Shape;283;p40"/>
          <p:cNvSpPr txBox="1"/>
          <p:nvPr/>
        </p:nvSpPr>
        <p:spPr>
          <a:xfrm>
            <a:off x="207475" y="1919100"/>
            <a:ext cx="8255400" cy="624115"/>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#Eliminar filas duplicadas o repetidas</a:t>
            </a:r>
            <a:endParaRPr sz="1050" b="1">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datos.drop_duplicates(inplace=</a:t>
            </a:r>
            <a:r>
              <a:rPr lang="es" sz="1050">
                <a:solidFill>
                  <a:srgbClr val="0000FF"/>
                </a:solidFill>
                <a:highlight>
                  <a:srgbClr val="FFFFFE"/>
                </a:highlight>
                <a:latin typeface="Times New Roman" panose="02020603050405020304" pitchFamily="18" charset="0"/>
                <a:ea typeface="Courier New"/>
                <a:cs typeface="Times New Roman" panose="02020603050405020304" pitchFamily="18" charset="0"/>
                <a:sym typeface="Courier New"/>
              </a:rPr>
              <a:t>True</a:t>
            </a: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1"/>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 sz="6600" b="1">
                <a:latin typeface="Impact"/>
                <a:ea typeface="Impact"/>
                <a:cs typeface="Impact"/>
                <a:sym typeface="Impact"/>
              </a:rPr>
              <a:t>Filtros</a:t>
            </a:r>
            <a:endParaRPr sz="6600" b="1">
              <a:latin typeface="Impact"/>
              <a:ea typeface="Impact"/>
              <a:cs typeface="Impact"/>
              <a:sym typeface="Impact"/>
            </a:endParaRPr>
          </a:p>
        </p:txBody>
      </p:sp>
      <p:pic>
        <p:nvPicPr>
          <p:cNvPr id="289" name="Google Shape;289;p41"/>
          <p:cNvPicPr preferRelativeResize="0"/>
          <p:nvPr/>
        </p:nvPicPr>
        <p:blipFill>
          <a:blip r:embed="rId3">
            <a:alphaModFix/>
          </a:blip>
          <a:stretch>
            <a:fillRect/>
          </a:stretch>
        </p:blipFill>
        <p:spPr>
          <a:xfrm>
            <a:off x="2399975" y="2797175"/>
            <a:ext cx="4706585" cy="2041525"/>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sp>
        <p:nvSpPr>
          <p:cNvPr id="294" name="Google Shape;294;p42"/>
          <p:cNvSpPr txBox="1">
            <a:spLocks noGrp="1"/>
          </p:cNvSpPr>
          <p:nvPr>
            <p:ph type="title" idx="4294967295"/>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295" name="Google Shape;295;p42"/>
          <p:cNvSpPr txBox="1"/>
          <p:nvPr/>
        </p:nvSpPr>
        <p:spPr>
          <a:xfrm>
            <a:off x="2498275" y="492725"/>
            <a:ext cx="3976500" cy="400200"/>
          </a:xfrm>
          <a:prstGeom prst="rect">
            <a:avLst/>
          </a:prstGeom>
          <a:solidFill>
            <a:schemeClr val="accent5"/>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a:solidFill>
                  <a:schemeClr val="lt1"/>
                </a:solidFill>
              </a:rPr>
              <a:t>DataFrame - Procesamiento de datos</a:t>
            </a:r>
            <a:endParaRPr b="1">
              <a:solidFill>
                <a:schemeClr val="lt1"/>
              </a:solidFill>
            </a:endParaRPr>
          </a:p>
        </p:txBody>
      </p:sp>
      <p:sp>
        <p:nvSpPr>
          <p:cNvPr id="296" name="Google Shape;296;p42"/>
          <p:cNvSpPr txBox="1"/>
          <p:nvPr/>
        </p:nvSpPr>
        <p:spPr>
          <a:xfrm>
            <a:off x="0" y="1167000"/>
            <a:ext cx="8938500" cy="1063594"/>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#Podemos filtrar la base de datos eliminando las columnas que no son de interés</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 = datos.drop(columns=[</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"Código Ámbito"</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"Ámbito"</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"Código área (M49)"</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"Código Elemento"</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"Código Producto (CPC)"</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"Código año"</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"Símbolo"</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"Descripción del Símbolo"</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datos.head()</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
        <p:nvSpPr>
          <p:cNvPr id="297" name="Google Shape;297;p42"/>
          <p:cNvSpPr txBox="1"/>
          <p:nvPr/>
        </p:nvSpPr>
        <p:spPr>
          <a:xfrm>
            <a:off x="0" y="3475100"/>
            <a:ext cx="7935600" cy="843855"/>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#Filtrar la base de datos de según atributos dentro de variables dentro de las columnas</a:t>
            </a:r>
            <a:endParaRPr sz="1050" b="1">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datos_Colombia = datos[(datos[</a:t>
            </a:r>
            <a:r>
              <a:rPr lang="es" sz="105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"Unidad"</a:t>
            </a: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r>
              <a:rPr lang="es" sz="105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"ha"</a:t>
            </a: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&amp; (datos[</a:t>
            </a:r>
            <a:r>
              <a:rPr lang="es" sz="105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"Área"</a:t>
            </a: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r>
              <a:rPr lang="es" sz="105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"Colombia"</a:t>
            </a: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datos_Colombia</a:t>
            </a:r>
            <a:endParaRPr sz="1050" b="1">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
        <p:nvSpPr>
          <p:cNvPr id="298" name="Google Shape;298;p42"/>
          <p:cNvSpPr txBox="1"/>
          <p:nvPr/>
        </p:nvSpPr>
        <p:spPr>
          <a:xfrm>
            <a:off x="0" y="2482625"/>
            <a:ext cx="7806000" cy="843855"/>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#Podemos filtrar la base de datos dejando solo las columnas que son de interés</a:t>
            </a:r>
            <a:endParaRPr sz="1050" b="1">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 = datos[[</a:t>
            </a:r>
            <a:r>
              <a:rPr lang="es" sz="105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"Área"</a:t>
            </a: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a:t>
            </a:r>
            <a:r>
              <a:rPr lang="es" sz="105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"Producto"</a:t>
            </a: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a:t>
            </a:r>
            <a:r>
              <a:rPr lang="es" sz="105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"Unidad"</a:t>
            </a: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a:t>
            </a:r>
            <a:r>
              <a:rPr lang="es" sz="105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"Valor"</a:t>
            </a: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a:t>
            </a:r>
            <a:endParaRPr sz="105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s" sz="6600" b="1">
                <a:latin typeface="Impact"/>
                <a:ea typeface="Impact"/>
                <a:cs typeface="Impact"/>
                <a:sym typeface="Impact"/>
              </a:rPr>
              <a:t>Guardar la base de datos en archivo</a:t>
            </a:r>
            <a:endParaRPr sz="6600" b="1">
              <a:latin typeface="Impact"/>
              <a:ea typeface="Impact"/>
              <a:cs typeface="Impact"/>
              <a:sym typeface="Impact"/>
            </a:endParaRPr>
          </a:p>
        </p:txBody>
      </p:sp>
      <p:pic>
        <p:nvPicPr>
          <p:cNvPr id="304" name="Google Shape;304;p43"/>
          <p:cNvPicPr preferRelativeResize="0"/>
          <p:nvPr/>
        </p:nvPicPr>
        <p:blipFill>
          <a:blip r:embed="rId3">
            <a:alphaModFix/>
          </a:blip>
          <a:stretch>
            <a:fillRect/>
          </a:stretch>
        </p:blipFill>
        <p:spPr>
          <a:xfrm>
            <a:off x="2399975" y="2797175"/>
            <a:ext cx="4706585" cy="204152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44"/>
          <p:cNvSpPr txBox="1">
            <a:spLocks noGrp="1"/>
          </p:cNvSpPr>
          <p:nvPr>
            <p:ph type="title" idx="4294967295"/>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310" name="Google Shape;310;p44"/>
          <p:cNvSpPr txBox="1"/>
          <p:nvPr/>
        </p:nvSpPr>
        <p:spPr>
          <a:xfrm>
            <a:off x="2498275" y="492725"/>
            <a:ext cx="3976500" cy="400200"/>
          </a:xfrm>
          <a:prstGeom prst="rect">
            <a:avLst/>
          </a:prstGeom>
          <a:solidFill>
            <a:schemeClr val="accent5"/>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a:solidFill>
                  <a:schemeClr val="lt1"/>
                </a:solidFill>
              </a:rPr>
              <a:t>DataFrame - Procesamiento de datos</a:t>
            </a:r>
            <a:endParaRPr b="1">
              <a:solidFill>
                <a:schemeClr val="lt1"/>
              </a:solidFill>
            </a:endParaRPr>
          </a:p>
        </p:txBody>
      </p:sp>
      <p:sp>
        <p:nvSpPr>
          <p:cNvPr id="311" name="Google Shape;311;p44"/>
          <p:cNvSpPr txBox="1"/>
          <p:nvPr/>
        </p:nvSpPr>
        <p:spPr>
          <a:xfrm>
            <a:off x="121025" y="1469575"/>
            <a:ext cx="8272800" cy="624115"/>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#Guardar el archivo en una carpeta del drive</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datos_Colombia.to_excel(</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"/content/drive/MyDrive/PYTHON/DATA/datos_Colombia.xlsx"</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56CDCD-8B8C-D76C-901A-BE470D43EEDE}"/>
              </a:ext>
            </a:extLst>
          </p:cNvPr>
          <p:cNvSpPr>
            <a:spLocks noGrp="1"/>
          </p:cNvSpPr>
          <p:nvPr>
            <p:ph type="title"/>
          </p:nvPr>
        </p:nvSpPr>
        <p:spPr>
          <a:xfrm>
            <a:off x="311700" y="1185620"/>
            <a:ext cx="8520600" cy="1807030"/>
          </a:xfrm>
        </p:spPr>
        <p:txBody>
          <a:bodyPr>
            <a:normAutofit/>
          </a:bodyPr>
          <a:lstStyle/>
          <a:p>
            <a:r>
              <a:rPr lang="es-US" sz="4400" b="1" dirty="0"/>
              <a:t>EJEMPLO DE APLICACIÓN</a:t>
            </a:r>
          </a:p>
        </p:txBody>
      </p:sp>
    </p:spTree>
    <p:extLst>
      <p:ext uri="{BB962C8B-B14F-4D97-AF65-F5344CB8AC3E}">
        <p14:creationId xmlns:p14="http://schemas.microsoft.com/office/powerpoint/2010/main" val="32487737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C3FD21-1F10-CD8F-E11D-29AF83A462C3}"/>
              </a:ext>
            </a:extLst>
          </p:cNvPr>
          <p:cNvSpPr>
            <a:spLocks noGrp="1"/>
          </p:cNvSpPr>
          <p:nvPr>
            <p:ph type="title"/>
          </p:nvPr>
        </p:nvSpPr>
        <p:spPr>
          <a:xfrm>
            <a:off x="371661" y="119683"/>
            <a:ext cx="8520600" cy="841800"/>
          </a:xfrm>
        </p:spPr>
        <p:txBody>
          <a:bodyPr/>
          <a:lstStyle/>
          <a:p>
            <a:r>
              <a:rPr lang="es-ES" b="1" dirty="0"/>
              <a:t>ANALISIS DE BASES DE DATOS</a:t>
            </a:r>
            <a:endParaRPr lang="es-US" b="1" dirty="0"/>
          </a:p>
        </p:txBody>
      </p:sp>
      <p:sp>
        <p:nvSpPr>
          <p:cNvPr id="3" name="CuadroTexto 2">
            <a:extLst>
              <a:ext uri="{FF2B5EF4-FFF2-40B4-BE49-F238E27FC236}">
                <a16:creationId xmlns:a16="http://schemas.microsoft.com/office/drawing/2014/main" id="{13A70C00-5D20-BB08-8D87-A30403A6764B}"/>
              </a:ext>
            </a:extLst>
          </p:cNvPr>
          <p:cNvSpPr txBox="1"/>
          <p:nvPr/>
        </p:nvSpPr>
        <p:spPr>
          <a:xfrm>
            <a:off x="307299" y="1199213"/>
            <a:ext cx="7542594" cy="1169551"/>
          </a:xfrm>
          <a:prstGeom prst="rect">
            <a:avLst/>
          </a:prstGeom>
          <a:noFill/>
        </p:spPr>
        <p:txBody>
          <a:bodyPr wrap="square" rtlCol="0">
            <a:spAutoFit/>
          </a:bodyPr>
          <a:lstStyle/>
          <a:p>
            <a:r>
              <a:rPr lang="es-ES" dirty="0"/>
              <a:t>Análisis de los 10 cultivos </a:t>
            </a:r>
            <a:r>
              <a:rPr lang="es-ES" dirty="0" err="1"/>
              <a:t>agr</a:t>
            </a:r>
            <a:r>
              <a:rPr lang="es-CO" dirty="0"/>
              <a:t>icolas de mayor área sembrada en los departamentos amazónicos de Colombia ().</a:t>
            </a:r>
          </a:p>
          <a:p>
            <a:endParaRPr lang="es-CO" dirty="0"/>
          </a:p>
          <a:p>
            <a:pPr marL="285750" indent="-285750">
              <a:buFont typeface="Arial" panose="020B0604020202020204" pitchFamily="34" charset="0"/>
              <a:buChar char="•"/>
            </a:pPr>
            <a:r>
              <a:rPr lang="es-CO" dirty="0"/>
              <a:t>Un gráfico de barras que muestre los datos del ultimo año de esos 10 cultivos </a:t>
            </a:r>
          </a:p>
          <a:p>
            <a:pPr marL="285750" indent="-285750">
              <a:buFont typeface="Arial" panose="020B0604020202020204" pitchFamily="34" charset="0"/>
              <a:buChar char="•"/>
            </a:pPr>
            <a:r>
              <a:rPr lang="es-CO" dirty="0"/>
              <a:t>Un gráfico de líneas que muestre el comportamiento histórico de los 10 cultivos </a:t>
            </a:r>
            <a:endParaRPr lang="es-US" dirty="0"/>
          </a:p>
        </p:txBody>
      </p:sp>
      <p:pic>
        <p:nvPicPr>
          <p:cNvPr id="4" name="Imagen 3">
            <a:extLst>
              <a:ext uri="{FF2B5EF4-FFF2-40B4-BE49-F238E27FC236}">
                <a16:creationId xmlns:a16="http://schemas.microsoft.com/office/drawing/2014/main" id="{7F5703EE-880B-82A2-9BE9-F984C3FF60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754" y="2450844"/>
            <a:ext cx="4038985" cy="2692656"/>
          </a:xfrm>
          <a:prstGeom prst="rect">
            <a:avLst/>
          </a:prstGeom>
        </p:spPr>
      </p:pic>
      <p:pic>
        <p:nvPicPr>
          <p:cNvPr id="5" name="Imagen 4">
            <a:extLst>
              <a:ext uri="{FF2B5EF4-FFF2-40B4-BE49-F238E27FC236}">
                <a16:creationId xmlns:a16="http://schemas.microsoft.com/office/drawing/2014/main" id="{7A0DBBC7-3D3D-731F-68C9-C223568080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3339" y="2346944"/>
            <a:ext cx="4656907" cy="2661090"/>
          </a:xfrm>
          <a:prstGeom prst="rect">
            <a:avLst/>
          </a:prstGeom>
        </p:spPr>
      </p:pic>
      <p:pic>
        <p:nvPicPr>
          <p:cNvPr id="17" name="Imagen 16">
            <a:extLst>
              <a:ext uri="{FF2B5EF4-FFF2-40B4-BE49-F238E27FC236}">
                <a16:creationId xmlns:a16="http://schemas.microsoft.com/office/drawing/2014/main" id="{FF811B34-7A74-4E1A-6FB4-2AF8367C2F76}"/>
              </a:ext>
            </a:extLst>
          </p:cNvPr>
          <p:cNvPicPr>
            <a:picLocks noChangeAspect="1"/>
          </p:cNvPicPr>
          <p:nvPr/>
        </p:nvPicPr>
        <p:blipFill>
          <a:blip r:embed="rId4">
            <a:extLst>
              <a:ext uri="{28A0092B-C50C-407E-A947-70E740481C1C}">
                <a14:useLocalDpi xmlns:a14="http://schemas.microsoft.com/office/drawing/2010/main" val="0"/>
              </a:ext>
            </a:extLst>
          </a:blip>
          <a:srcRect l="5190" t="32319" r="74191" b="25418"/>
          <a:stretch/>
        </p:blipFill>
        <p:spPr>
          <a:xfrm>
            <a:off x="7439056" y="856620"/>
            <a:ext cx="937777" cy="1485292"/>
          </a:xfrm>
          <a:prstGeom prst="rect">
            <a:avLst/>
          </a:prstGeom>
        </p:spPr>
      </p:pic>
    </p:spTree>
    <p:extLst>
      <p:ext uri="{BB962C8B-B14F-4D97-AF65-F5344CB8AC3E}">
        <p14:creationId xmlns:p14="http://schemas.microsoft.com/office/powerpoint/2010/main" val="203831675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2886A-41AB-7BCC-65F9-756A5D838B7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DC34666-B671-C02F-4DB1-3DF6FF7E62F4}"/>
              </a:ext>
            </a:extLst>
          </p:cNvPr>
          <p:cNvSpPr>
            <a:spLocks noGrp="1"/>
          </p:cNvSpPr>
          <p:nvPr>
            <p:ph type="title"/>
          </p:nvPr>
        </p:nvSpPr>
        <p:spPr>
          <a:xfrm>
            <a:off x="371661" y="119683"/>
            <a:ext cx="8520600" cy="841800"/>
          </a:xfrm>
        </p:spPr>
        <p:txBody>
          <a:bodyPr/>
          <a:lstStyle/>
          <a:p>
            <a:r>
              <a:rPr lang="es-ES" b="1" dirty="0"/>
              <a:t>ANALISIS DE BASES DE DATOS</a:t>
            </a:r>
            <a:endParaRPr lang="es-US" b="1" dirty="0"/>
          </a:p>
        </p:txBody>
      </p:sp>
      <p:sp>
        <p:nvSpPr>
          <p:cNvPr id="3" name="CuadroTexto 2">
            <a:extLst>
              <a:ext uri="{FF2B5EF4-FFF2-40B4-BE49-F238E27FC236}">
                <a16:creationId xmlns:a16="http://schemas.microsoft.com/office/drawing/2014/main" id="{7BD23FAA-4371-69B9-2F39-8E4E18388417}"/>
              </a:ext>
            </a:extLst>
          </p:cNvPr>
          <p:cNvSpPr txBox="1"/>
          <p:nvPr/>
        </p:nvSpPr>
        <p:spPr>
          <a:xfrm>
            <a:off x="307299" y="1199213"/>
            <a:ext cx="7542594" cy="1169551"/>
          </a:xfrm>
          <a:prstGeom prst="rect">
            <a:avLst/>
          </a:prstGeom>
          <a:noFill/>
        </p:spPr>
        <p:txBody>
          <a:bodyPr wrap="square" rtlCol="0">
            <a:spAutoFit/>
          </a:bodyPr>
          <a:lstStyle/>
          <a:p>
            <a:r>
              <a:rPr lang="es-ES" dirty="0"/>
              <a:t>Análisis de los 10 cultivos </a:t>
            </a:r>
            <a:r>
              <a:rPr lang="es-ES" dirty="0" err="1"/>
              <a:t>agr</a:t>
            </a:r>
            <a:r>
              <a:rPr lang="es-CO" dirty="0"/>
              <a:t>icolas de mayor área sembrada en los departamentos amazónicos de Colombia ().</a:t>
            </a:r>
          </a:p>
          <a:p>
            <a:endParaRPr lang="es-CO" dirty="0"/>
          </a:p>
          <a:p>
            <a:pPr marL="285750" indent="-285750">
              <a:buFont typeface="Arial" panose="020B0604020202020204" pitchFamily="34" charset="0"/>
              <a:buChar char="•"/>
            </a:pPr>
            <a:r>
              <a:rPr lang="es-CO" dirty="0"/>
              <a:t>Un gráfico de barras que muestre los datos del ultimo año de esos 10 cultivos </a:t>
            </a:r>
          </a:p>
          <a:p>
            <a:pPr marL="285750" indent="-285750">
              <a:buFont typeface="Arial" panose="020B0604020202020204" pitchFamily="34" charset="0"/>
              <a:buChar char="•"/>
            </a:pPr>
            <a:r>
              <a:rPr lang="es-CO" dirty="0"/>
              <a:t>Un gráfico de líneas que muestre el comportamiento histórico de los 10 cultivos </a:t>
            </a:r>
            <a:endParaRPr lang="es-US" dirty="0"/>
          </a:p>
        </p:txBody>
      </p:sp>
      <p:pic>
        <p:nvPicPr>
          <p:cNvPr id="17" name="Imagen 16">
            <a:extLst>
              <a:ext uri="{FF2B5EF4-FFF2-40B4-BE49-F238E27FC236}">
                <a16:creationId xmlns:a16="http://schemas.microsoft.com/office/drawing/2014/main" id="{9C84E39D-A480-0DCC-6DA2-2EC15BF1C875}"/>
              </a:ext>
            </a:extLst>
          </p:cNvPr>
          <p:cNvPicPr>
            <a:picLocks noChangeAspect="1"/>
          </p:cNvPicPr>
          <p:nvPr/>
        </p:nvPicPr>
        <p:blipFill>
          <a:blip r:embed="rId2">
            <a:extLst>
              <a:ext uri="{28A0092B-C50C-407E-A947-70E740481C1C}">
                <a14:useLocalDpi xmlns:a14="http://schemas.microsoft.com/office/drawing/2010/main" val="0"/>
              </a:ext>
            </a:extLst>
          </a:blip>
          <a:srcRect l="5190" t="32319" r="74191" b="25418"/>
          <a:stretch/>
        </p:blipFill>
        <p:spPr>
          <a:xfrm>
            <a:off x="7439056" y="856620"/>
            <a:ext cx="937777" cy="1485292"/>
          </a:xfrm>
          <a:prstGeom prst="rect">
            <a:avLst/>
          </a:prstGeom>
        </p:spPr>
      </p:pic>
    </p:spTree>
    <p:extLst>
      <p:ext uri="{BB962C8B-B14F-4D97-AF65-F5344CB8AC3E}">
        <p14:creationId xmlns:p14="http://schemas.microsoft.com/office/powerpoint/2010/main" val="214347726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Conector recto 3">
            <a:extLst>
              <a:ext uri="{FF2B5EF4-FFF2-40B4-BE49-F238E27FC236}">
                <a16:creationId xmlns:a16="http://schemas.microsoft.com/office/drawing/2014/main" id="{0226080E-8B55-48ED-4418-794853E0B409}"/>
              </a:ext>
            </a:extLst>
          </p:cNvPr>
          <p:cNvCxnSpPr/>
          <p:nvPr/>
        </p:nvCxnSpPr>
        <p:spPr>
          <a:xfrm>
            <a:off x="4392118" y="127416"/>
            <a:ext cx="0" cy="4661941"/>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2596278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4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s" sz="6600" b="1" dirty="0">
                <a:latin typeface="Impact"/>
                <a:ea typeface="Impact"/>
                <a:cs typeface="Impact"/>
                <a:sym typeface="Impact"/>
              </a:rPr>
              <a:t>Análisis Descriptivo</a:t>
            </a:r>
            <a:endParaRPr sz="6600" b="1" dirty="0">
              <a:latin typeface="Impact"/>
              <a:ea typeface="Impact"/>
              <a:cs typeface="Impact"/>
              <a:sym typeface="Impact"/>
            </a:endParaRPr>
          </a:p>
        </p:txBody>
      </p:sp>
      <p:pic>
        <p:nvPicPr>
          <p:cNvPr id="317" name="Google Shape;317;p45"/>
          <p:cNvPicPr preferRelativeResize="0"/>
          <p:nvPr/>
        </p:nvPicPr>
        <p:blipFill>
          <a:blip r:embed="rId3">
            <a:alphaModFix/>
          </a:blip>
          <a:stretch>
            <a:fillRect/>
          </a:stretch>
        </p:blipFill>
        <p:spPr>
          <a:xfrm>
            <a:off x="2399975" y="2797175"/>
            <a:ext cx="4706585" cy="2041525"/>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46"/>
          <p:cNvSpPr txBox="1">
            <a:spLocks noGrp="1"/>
          </p:cNvSpPr>
          <p:nvPr>
            <p:ph type="title" idx="4294967295"/>
          </p:nvPr>
        </p:nvSpPr>
        <p:spPr>
          <a:xfrm>
            <a:off x="-76200" y="73325"/>
            <a:ext cx="3051600" cy="572700"/>
          </a:xfrm>
          <a:prstGeom prst="rect">
            <a:avLst/>
          </a:prstGeom>
          <a:solidFill>
            <a:schemeClr val="accent4"/>
          </a:solidFill>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s"/>
              <a:t>Python</a:t>
            </a:r>
            <a:endParaRPr/>
          </a:p>
        </p:txBody>
      </p:sp>
      <p:sp>
        <p:nvSpPr>
          <p:cNvPr id="323" name="Google Shape;323;p46"/>
          <p:cNvSpPr txBox="1"/>
          <p:nvPr/>
        </p:nvSpPr>
        <p:spPr>
          <a:xfrm>
            <a:off x="2498275" y="492725"/>
            <a:ext cx="2956500" cy="400200"/>
          </a:xfrm>
          <a:prstGeom prst="rect">
            <a:avLst/>
          </a:prstGeom>
          <a:solidFill>
            <a:srgbClr val="980000"/>
          </a:solid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b="1">
                <a:solidFill>
                  <a:schemeClr val="lt1"/>
                </a:solidFill>
              </a:rPr>
              <a:t>DataFrame - Conocer los datos</a:t>
            </a:r>
            <a:endParaRPr b="1">
              <a:solidFill>
                <a:schemeClr val="lt1"/>
              </a:solidFill>
            </a:endParaRPr>
          </a:p>
        </p:txBody>
      </p:sp>
      <p:sp>
        <p:nvSpPr>
          <p:cNvPr id="324" name="Google Shape;324;p46"/>
          <p:cNvSpPr txBox="1"/>
          <p:nvPr/>
        </p:nvSpPr>
        <p:spPr>
          <a:xfrm>
            <a:off x="216100" y="1218463"/>
            <a:ext cx="8359200" cy="565500"/>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dirty="0">
                <a:solidFill>
                  <a:srgbClr val="008000"/>
                </a:solidFill>
                <a:highlight>
                  <a:srgbClr val="FFFFFE"/>
                </a:highlight>
                <a:latin typeface="Courier New"/>
                <a:ea typeface="Courier New"/>
                <a:cs typeface="Courier New"/>
                <a:sym typeface="Courier New"/>
              </a:rPr>
              <a:t>#Método para revistar las variables numéricas con estadística descriptiva</a:t>
            </a:r>
            <a:endParaRPr sz="1050" b="1" dirty="0">
              <a:solidFill>
                <a:srgbClr val="008000"/>
              </a:solidFill>
              <a:highlight>
                <a:srgbClr val="FFFFFE"/>
              </a:highlight>
              <a:latin typeface="Courier New"/>
              <a:ea typeface="Courier New"/>
              <a:cs typeface="Courier New"/>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Courier New"/>
                <a:ea typeface="Courier New"/>
                <a:cs typeface="Courier New"/>
                <a:sym typeface="Courier New"/>
              </a:rPr>
              <a:t>datos.describe()</a:t>
            </a:r>
            <a:endParaRPr sz="1050" dirty="0">
              <a:solidFill>
                <a:schemeClr val="dk1"/>
              </a:solidFill>
              <a:highlight>
                <a:srgbClr val="FFFFFE"/>
              </a:highlight>
              <a:latin typeface="Courier New"/>
              <a:ea typeface="Courier New"/>
              <a:cs typeface="Courier New"/>
              <a:sym typeface="Courier New"/>
            </a:endParaRPr>
          </a:p>
        </p:txBody>
      </p:sp>
      <p:sp>
        <p:nvSpPr>
          <p:cNvPr id="325" name="Google Shape;325;p46"/>
          <p:cNvSpPr txBox="1"/>
          <p:nvPr/>
        </p:nvSpPr>
        <p:spPr>
          <a:xfrm>
            <a:off x="216100" y="1849975"/>
            <a:ext cx="8575200" cy="624115"/>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#Método para revistar variables numéricas específicas con estadística descriptiva</a:t>
            </a:r>
            <a:endParaRPr sz="1050" b="1"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datos[</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"Valor"</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].describe()</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
        <p:nvSpPr>
          <p:cNvPr id="326" name="Google Shape;326;p46"/>
          <p:cNvSpPr txBox="1"/>
          <p:nvPr/>
        </p:nvSpPr>
        <p:spPr>
          <a:xfrm>
            <a:off x="176400" y="2571750"/>
            <a:ext cx="8791200" cy="2601772"/>
          </a:xfrm>
          <a:prstGeom prst="rect">
            <a:avLst/>
          </a:prstGeom>
          <a:noFill/>
          <a:ln>
            <a:noFill/>
          </a:ln>
        </p:spPr>
        <p:txBody>
          <a:bodyPr spcFirstLastPara="1" wrap="square" lIns="91425" tIns="91425" rIns="91425" bIns="91425" anchor="t" anchorCtr="0">
            <a:spAutoFit/>
          </a:bodyPr>
          <a:lstStyle/>
          <a:p>
            <a:pPr marL="0" lvl="0" indent="0" algn="l" rtl="0">
              <a:lnSpc>
                <a:spcPct val="135714"/>
              </a:lnSpc>
              <a:spcBef>
                <a:spcPts val="0"/>
              </a:spcBef>
              <a:spcAft>
                <a:spcPts val="0"/>
              </a:spcAft>
              <a:buNone/>
            </a:pPr>
            <a:r>
              <a:rPr lang="es" sz="1050" dirty="0">
                <a:solidFill>
                  <a:srgbClr val="AF00DB"/>
                </a:solidFill>
                <a:highlight>
                  <a:srgbClr val="FFFFFE"/>
                </a:highlight>
                <a:latin typeface="Times New Roman" panose="02020603050405020304" pitchFamily="18" charset="0"/>
                <a:ea typeface="Courier New"/>
                <a:cs typeface="Times New Roman" panose="02020603050405020304" pitchFamily="18" charset="0"/>
                <a:sym typeface="Courier New"/>
              </a:rPr>
              <a:t>import</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matplotlib.pyplot </a:t>
            </a:r>
            <a:r>
              <a:rPr lang="es" sz="1050" dirty="0">
                <a:solidFill>
                  <a:srgbClr val="AF00DB"/>
                </a:solidFill>
                <a:highlight>
                  <a:srgbClr val="FFFFFE"/>
                </a:highlight>
                <a:latin typeface="Times New Roman" panose="02020603050405020304" pitchFamily="18" charset="0"/>
                <a:ea typeface="Courier New"/>
                <a:cs typeface="Times New Roman" panose="02020603050405020304" pitchFamily="18" charset="0"/>
                <a:sym typeface="Courier New"/>
              </a:rPr>
              <a:t>as</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plt</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rgbClr val="AF00DB"/>
                </a:solidFill>
                <a:highlight>
                  <a:srgbClr val="FFFFFE"/>
                </a:highlight>
                <a:latin typeface="Times New Roman" panose="02020603050405020304" pitchFamily="18" charset="0"/>
                <a:ea typeface="Courier New"/>
                <a:cs typeface="Times New Roman" panose="02020603050405020304" pitchFamily="18" charset="0"/>
                <a:sym typeface="Courier New"/>
              </a:rPr>
              <a:t>import</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seaborn </a:t>
            </a:r>
            <a:r>
              <a:rPr lang="es" sz="1050" dirty="0">
                <a:solidFill>
                  <a:srgbClr val="AF00DB"/>
                </a:solidFill>
                <a:highlight>
                  <a:srgbClr val="FFFFFE"/>
                </a:highlight>
                <a:latin typeface="Times New Roman" panose="02020603050405020304" pitchFamily="18" charset="0"/>
                <a:ea typeface="Courier New"/>
                <a:cs typeface="Times New Roman" panose="02020603050405020304" pitchFamily="18" charset="0"/>
                <a:sym typeface="Courier New"/>
              </a:rPr>
              <a:t>as</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sns</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rPr>
              <a:t># Generar gráficas individuales, pues las variables numéricas pueden estar en diferentes rangos</a:t>
            </a:r>
            <a:endParaRPr sz="1050" dirty="0">
              <a:solidFill>
                <a:srgbClr val="008000"/>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cols_num = [</a:t>
            </a:r>
            <a:r>
              <a:rPr lang="es" sz="1050" dirty="0">
                <a:solidFill>
                  <a:srgbClr val="A31515"/>
                </a:solidFill>
                <a:highlight>
                  <a:srgbClr val="FFFFFE"/>
                </a:highlight>
                <a:latin typeface="Times New Roman" panose="02020603050405020304" pitchFamily="18" charset="0"/>
                <a:ea typeface="Courier New"/>
                <a:cs typeface="Times New Roman" panose="02020603050405020304" pitchFamily="18" charset="0"/>
                <a:sym typeface="Courier New"/>
              </a:rPr>
              <a:t>'Valor'</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fig, ax = plt.subplots(nrows=</a:t>
            </a:r>
            <a:r>
              <a:rPr lang="es" sz="1050" dirty="0">
                <a:solidFill>
                  <a:srgbClr val="09885A"/>
                </a:solidFill>
                <a:highlight>
                  <a:srgbClr val="FFFFFE"/>
                </a:highlight>
                <a:latin typeface="Times New Roman" panose="02020603050405020304" pitchFamily="18" charset="0"/>
                <a:ea typeface="Courier New"/>
                <a:cs typeface="Times New Roman" panose="02020603050405020304" pitchFamily="18" charset="0"/>
                <a:sym typeface="Courier New"/>
              </a:rPr>
              <a:t>7</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ncols=</a:t>
            </a:r>
            <a:r>
              <a:rPr lang="es" sz="1050" dirty="0">
                <a:solidFill>
                  <a:srgbClr val="09885A"/>
                </a:solidFill>
                <a:highlight>
                  <a:srgbClr val="FFFFFE"/>
                </a:highlight>
                <a:latin typeface="Times New Roman" panose="02020603050405020304" pitchFamily="18" charset="0"/>
                <a:ea typeface="Courier New"/>
                <a:cs typeface="Times New Roman" panose="02020603050405020304" pitchFamily="18" charset="0"/>
                <a:sym typeface="Courier New"/>
              </a:rPr>
              <a:t>1</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figsize=(</a:t>
            </a:r>
            <a:r>
              <a:rPr lang="es" sz="1050" dirty="0">
                <a:solidFill>
                  <a:srgbClr val="09885A"/>
                </a:solidFill>
                <a:highlight>
                  <a:srgbClr val="FFFFFE"/>
                </a:highlight>
                <a:latin typeface="Times New Roman" panose="02020603050405020304" pitchFamily="18" charset="0"/>
                <a:ea typeface="Courier New"/>
                <a:cs typeface="Times New Roman" panose="02020603050405020304" pitchFamily="18" charset="0"/>
                <a:sym typeface="Courier New"/>
              </a:rPr>
              <a:t>8</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r>
              <a:rPr lang="es" sz="1050" dirty="0">
                <a:solidFill>
                  <a:srgbClr val="09885A"/>
                </a:solidFill>
                <a:highlight>
                  <a:srgbClr val="FFFFFE"/>
                </a:highlight>
                <a:latin typeface="Times New Roman" panose="02020603050405020304" pitchFamily="18" charset="0"/>
                <a:ea typeface="Courier New"/>
                <a:cs typeface="Times New Roman" panose="02020603050405020304" pitchFamily="18" charset="0"/>
                <a:sym typeface="Courier New"/>
              </a:rPr>
              <a:t>30</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fig.subplots_adjust(hspace=</a:t>
            </a:r>
            <a:r>
              <a:rPr lang="es" sz="1050" dirty="0">
                <a:solidFill>
                  <a:srgbClr val="09885A"/>
                </a:solidFill>
                <a:highlight>
                  <a:srgbClr val="FFFFFE"/>
                </a:highlight>
                <a:latin typeface="Times New Roman" panose="02020603050405020304" pitchFamily="18" charset="0"/>
                <a:ea typeface="Courier New"/>
                <a:cs typeface="Times New Roman" panose="02020603050405020304" pitchFamily="18" charset="0"/>
                <a:sym typeface="Courier New"/>
              </a:rPr>
              <a:t>0.5</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rgbClr val="AF00DB"/>
                </a:solidFill>
                <a:highlight>
                  <a:srgbClr val="FFFFFE"/>
                </a:highlight>
                <a:latin typeface="Times New Roman" panose="02020603050405020304" pitchFamily="18" charset="0"/>
                <a:ea typeface="Courier New"/>
                <a:cs typeface="Times New Roman" panose="02020603050405020304" pitchFamily="18" charset="0"/>
                <a:sym typeface="Courier New"/>
              </a:rPr>
              <a:t>for</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i, col </a:t>
            </a:r>
            <a:r>
              <a:rPr lang="es" sz="1050" dirty="0">
                <a:solidFill>
                  <a:srgbClr val="0000FF"/>
                </a:solidFill>
                <a:highlight>
                  <a:srgbClr val="FFFFFE"/>
                </a:highlight>
                <a:latin typeface="Times New Roman" panose="02020603050405020304" pitchFamily="18" charset="0"/>
                <a:ea typeface="Courier New"/>
                <a:cs typeface="Times New Roman" panose="02020603050405020304" pitchFamily="18" charset="0"/>
                <a:sym typeface="Courier New"/>
              </a:rPr>
              <a:t>in</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a:t>
            </a:r>
            <a:r>
              <a:rPr lang="es" sz="1050" dirty="0">
                <a:solidFill>
                  <a:srgbClr val="795E26"/>
                </a:solidFill>
                <a:highlight>
                  <a:srgbClr val="FFFFFE"/>
                </a:highlight>
                <a:latin typeface="Times New Roman" panose="02020603050405020304" pitchFamily="18" charset="0"/>
                <a:ea typeface="Courier New"/>
                <a:cs typeface="Times New Roman" panose="02020603050405020304" pitchFamily="18" charset="0"/>
                <a:sym typeface="Courier New"/>
              </a:rPr>
              <a:t>enumerate</a:t>
            </a: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(cols_num):</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sns.boxplot(x=col, data=datos, ax=ax[i])</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a:p>
            <a:pPr marL="0" lvl="0" indent="0" algn="l" rtl="0">
              <a:lnSpc>
                <a:spcPct val="135714"/>
              </a:lnSpc>
              <a:spcBef>
                <a:spcPts val="0"/>
              </a:spcBef>
              <a:spcAft>
                <a:spcPts val="0"/>
              </a:spcAft>
              <a:buNone/>
            </a:pPr>
            <a:r>
              <a:rPr lang="es"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rPr>
              <a:t>    ax[i].set_title(col)</a:t>
            </a:r>
            <a:endParaRPr sz="1050" dirty="0">
              <a:solidFill>
                <a:schemeClr val="dk1"/>
              </a:solidFill>
              <a:highlight>
                <a:srgbClr val="FFFFFE"/>
              </a:highlight>
              <a:latin typeface="Times New Roman" panose="02020603050405020304" pitchFamily="18" charset="0"/>
              <a:ea typeface="Courier New"/>
              <a:cs typeface="Times New Roman" panose="02020603050405020304" pitchFamily="18" charset="0"/>
              <a:sym typeface="Courier New"/>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7"/>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s" sz="6600" b="1" dirty="0">
                <a:latin typeface="Impact"/>
                <a:ea typeface="Impact"/>
                <a:cs typeface="Impact"/>
                <a:sym typeface="Impact"/>
              </a:rPr>
              <a:t>Visualización gráfica de datos</a:t>
            </a:r>
            <a:endParaRPr sz="6600" b="1" dirty="0">
              <a:latin typeface="Impact"/>
              <a:ea typeface="Impact"/>
              <a:cs typeface="Impact"/>
              <a:sym typeface="Impact"/>
            </a:endParaRPr>
          </a:p>
        </p:txBody>
      </p:sp>
      <p:pic>
        <p:nvPicPr>
          <p:cNvPr id="332" name="Google Shape;332;p47"/>
          <p:cNvPicPr preferRelativeResize="0"/>
          <p:nvPr/>
        </p:nvPicPr>
        <p:blipFill>
          <a:blip r:embed="rId3">
            <a:alphaModFix/>
          </a:blip>
          <a:stretch>
            <a:fillRect/>
          </a:stretch>
        </p:blipFill>
        <p:spPr>
          <a:xfrm>
            <a:off x="2399975" y="2797175"/>
            <a:ext cx="4706585" cy="2041525"/>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Eso que quieres decir, hazlo con gráficas | by Damian | Medium">
            <a:extLst>
              <a:ext uri="{FF2B5EF4-FFF2-40B4-BE49-F238E27FC236}">
                <a16:creationId xmlns:a16="http://schemas.microsoft.com/office/drawing/2014/main" id="{84D5F071-647F-7A08-91EE-2B5898F70FCC}"/>
              </a:ext>
            </a:extLst>
          </p:cNvPr>
          <p:cNvPicPr>
            <a:picLocks noChangeAspect="1" noChangeArrowheads="1"/>
          </p:cNvPicPr>
          <p:nvPr/>
        </p:nvPicPr>
        <p:blipFill>
          <a:blip r:embed="rId2">
            <a:alphaModFix amt="20000"/>
            <a:extLst>
              <a:ext uri="{28A0092B-C50C-407E-A947-70E740481C1C}">
                <a14:useLocalDpi xmlns:a14="http://schemas.microsoft.com/office/drawing/2010/main" val="0"/>
              </a:ext>
            </a:extLst>
          </a:blip>
          <a:srcRect/>
          <a:stretch>
            <a:fillRect/>
          </a:stretch>
        </p:blipFill>
        <p:spPr bwMode="auto">
          <a:xfrm>
            <a:off x="0" y="119063"/>
            <a:ext cx="9144000" cy="4905375"/>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7DCBB85F-746F-EA7C-F8AF-C562A4F92B53}"/>
              </a:ext>
            </a:extLst>
          </p:cNvPr>
          <p:cNvSpPr>
            <a:spLocks noGrp="1"/>
          </p:cNvSpPr>
          <p:nvPr>
            <p:ph type="ctrTitle"/>
          </p:nvPr>
        </p:nvSpPr>
        <p:spPr>
          <a:xfrm>
            <a:off x="1219701" y="2281819"/>
            <a:ext cx="6858000" cy="734561"/>
          </a:xfrm>
        </p:spPr>
        <p:txBody>
          <a:bodyPr>
            <a:normAutofit fontScale="90000"/>
          </a:bodyPr>
          <a:lstStyle/>
          <a:p>
            <a:r>
              <a:rPr lang="es-MX" dirty="0">
                <a:latin typeface="Aharoni" panose="02010803020104030203" pitchFamily="2" charset="-79"/>
                <a:cs typeface="Aharoni" panose="02010803020104030203" pitchFamily="2" charset="-79"/>
              </a:rPr>
              <a:t>GRÁFICAS EN PYTHON</a:t>
            </a:r>
            <a:endParaRPr lang="es-CO" dirty="0">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348500138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575B261B-393E-D533-E8D4-9757CAA9AA49}"/>
              </a:ext>
            </a:extLst>
          </p:cNvPr>
          <p:cNvPicPr>
            <a:picLocks noChangeAspect="1"/>
          </p:cNvPicPr>
          <p:nvPr/>
        </p:nvPicPr>
        <p:blipFill>
          <a:blip r:embed="rId2"/>
          <a:stretch>
            <a:fillRect/>
          </a:stretch>
        </p:blipFill>
        <p:spPr>
          <a:xfrm>
            <a:off x="851096" y="0"/>
            <a:ext cx="7441807" cy="5143500"/>
          </a:xfrm>
          <a:prstGeom prst="rect">
            <a:avLst/>
          </a:prstGeom>
        </p:spPr>
      </p:pic>
    </p:spTree>
    <p:extLst>
      <p:ext uri="{BB962C8B-B14F-4D97-AF65-F5344CB8AC3E}">
        <p14:creationId xmlns:p14="http://schemas.microsoft.com/office/powerpoint/2010/main" val="175255483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6FCC2583-C299-4F4C-CC55-5EAE4B085C45}"/>
              </a:ext>
            </a:extLst>
          </p:cNvPr>
          <p:cNvPicPr>
            <a:picLocks noChangeAspect="1"/>
          </p:cNvPicPr>
          <p:nvPr/>
        </p:nvPicPr>
        <p:blipFill>
          <a:blip r:embed="rId2"/>
          <a:stretch>
            <a:fillRect/>
          </a:stretch>
        </p:blipFill>
        <p:spPr>
          <a:xfrm>
            <a:off x="5332837" y="1393740"/>
            <a:ext cx="3504225" cy="2800460"/>
          </a:xfrm>
          <a:prstGeom prst="rect">
            <a:avLst/>
          </a:prstGeom>
        </p:spPr>
      </p:pic>
      <p:pic>
        <p:nvPicPr>
          <p:cNvPr id="5" name="Imagen 4">
            <a:extLst>
              <a:ext uri="{FF2B5EF4-FFF2-40B4-BE49-F238E27FC236}">
                <a16:creationId xmlns:a16="http://schemas.microsoft.com/office/drawing/2014/main" id="{0E52AFC2-2242-9CD6-CF2E-4A64015684F3}"/>
              </a:ext>
            </a:extLst>
          </p:cNvPr>
          <p:cNvPicPr>
            <a:picLocks noChangeAspect="1"/>
          </p:cNvPicPr>
          <p:nvPr/>
        </p:nvPicPr>
        <p:blipFill>
          <a:blip r:embed="rId3"/>
          <a:stretch>
            <a:fillRect/>
          </a:stretch>
        </p:blipFill>
        <p:spPr>
          <a:xfrm>
            <a:off x="0" y="1393740"/>
            <a:ext cx="4931702" cy="3091335"/>
          </a:xfrm>
          <a:prstGeom prst="rect">
            <a:avLst/>
          </a:prstGeom>
        </p:spPr>
      </p:pic>
      <p:sp>
        <p:nvSpPr>
          <p:cNvPr id="6" name="Título 1">
            <a:extLst>
              <a:ext uri="{FF2B5EF4-FFF2-40B4-BE49-F238E27FC236}">
                <a16:creationId xmlns:a16="http://schemas.microsoft.com/office/drawing/2014/main" id="{896BC03E-B969-5524-34DD-689B96BAC5B3}"/>
              </a:ext>
            </a:extLst>
          </p:cNvPr>
          <p:cNvSpPr txBox="1">
            <a:spLocks/>
          </p:cNvSpPr>
          <p:nvPr/>
        </p:nvSpPr>
        <p:spPr>
          <a:xfrm>
            <a:off x="2078260" y="453019"/>
            <a:ext cx="6858000" cy="734561"/>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buClrTx/>
              <a:buFontTx/>
            </a:pPr>
            <a:r>
              <a:rPr lang="es-MX">
                <a:latin typeface="Aharoni" panose="02010803020104030203" pitchFamily="2" charset="-79"/>
                <a:cs typeface="Aharoni" panose="02010803020104030203" pitchFamily="2" charset="-79"/>
              </a:rPr>
              <a:t>GRÁFICAS EN PYTHON</a:t>
            </a:r>
            <a:endParaRPr lang="es-CO" dirty="0">
              <a:latin typeface="Aharoni" panose="02010803020104030203" pitchFamily="2" charset="-79"/>
              <a:cs typeface="Aharoni" panose="02010803020104030203" pitchFamily="2" charset="-79"/>
            </a:endParaRPr>
          </a:p>
        </p:txBody>
      </p:sp>
    </p:spTree>
    <p:extLst>
      <p:ext uri="{BB962C8B-B14F-4D97-AF65-F5344CB8AC3E}">
        <p14:creationId xmlns:p14="http://schemas.microsoft.com/office/powerpoint/2010/main" val="1937733356"/>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22671</TotalTime>
  <Words>4565</Words>
  <Application>Microsoft Office PowerPoint</Application>
  <PresentationFormat>Presentación en pantalla (16:9)</PresentationFormat>
  <Paragraphs>601</Paragraphs>
  <Slides>83</Slides>
  <Notes>57</Notes>
  <HiddenSlides>0</HiddenSlides>
  <MMClips>0</MMClips>
  <ScaleCrop>false</ScaleCrop>
  <HeadingPairs>
    <vt:vector size="6" baseType="variant">
      <vt:variant>
        <vt:lpstr>Fuentes usadas</vt:lpstr>
      </vt:variant>
      <vt:variant>
        <vt:i4>15</vt:i4>
      </vt:variant>
      <vt:variant>
        <vt:lpstr>Tema</vt:lpstr>
      </vt:variant>
      <vt:variant>
        <vt:i4>1</vt:i4>
      </vt:variant>
      <vt:variant>
        <vt:lpstr>Títulos de diapositiva</vt:lpstr>
      </vt:variant>
      <vt:variant>
        <vt:i4>83</vt:i4>
      </vt:variant>
    </vt:vector>
  </HeadingPairs>
  <TitlesOfParts>
    <vt:vector size="99" baseType="lpstr">
      <vt:lpstr>Söhne</vt:lpstr>
      <vt:lpstr>Impact</vt:lpstr>
      <vt:lpstr>Arial</vt:lpstr>
      <vt:lpstr>Söhne Mono</vt:lpstr>
      <vt:lpstr>Abadi</vt:lpstr>
      <vt:lpstr>Calibri</vt:lpstr>
      <vt:lpstr>Aharoni</vt:lpstr>
      <vt:lpstr>Courier New</vt:lpstr>
      <vt:lpstr>Noto Sans Symbols</vt:lpstr>
      <vt:lpstr>Amasis MT Pro Black</vt:lpstr>
      <vt:lpstr>Calibri Light</vt:lpstr>
      <vt:lpstr>Times New Roman</vt:lpstr>
      <vt:lpstr>Wingdings</vt:lpstr>
      <vt:lpstr>inherit</vt:lpstr>
      <vt:lpstr>Anton</vt:lpstr>
      <vt:lpstr>Simple Light</vt:lpstr>
      <vt:lpstr>Presentación de PowerPoint</vt:lpstr>
      <vt:lpstr>OSCAR IVAN VARGAS PINEDA</vt:lpstr>
      <vt:lpstr>Presentación de PowerPoint</vt:lpstr>
      <vt:lpstr>Experiencia en Investigación</vt:lpstr>
      <vt:lpstr>Presentación de PowerPoint</vt:lpstr>
      <vt:lpstr>Presentación de PowerPoint</vt:lpstr>
      <vt:lpstr>Presentación de PowerPoint</vt:lpstr>
      <vt:lpstr>Programación en Python</vt:lpstr>
      <vt:lpstr>Lenguajes de Programación</vt:lpstr>
      <vt:lpstr>Lenguaje de  programación</vt:lpstr>
      <vt:lpstr>¿Qué es un lenguaje de programación?</vt:lpstr>
      <vt:lpstr>Presentación de PowerPoint</vt:lpstr>
      <vt:lpstr>Herramientas</vt:lpstr>
      <vt:lpstr>PYTHON</vt:lpstr>
      <vt:lpstr>Entorno de Desarrollo Integrado (IDE)</vt:lpstr>
      <vt:lpstr>PYTHON</vt:lpstr>
      <vt:lpstr>Lenguaje de programación en Google Colaboratory</vt:lpstr>
      <vt:lpstr>Presentación de PowerPoint</vt:lpstr>
      <vt:lpstr>Ciencia de Datos</vt:lpstr>
      <vt:lpstr>Ciencia de Datos</vt:lpstr>
      <vt:lpstr>Ciencia de Datos</vt:lpstr>
      <vt:lpstr>Ciencia de Datos</vt:lpstr>
      <vt:lpstr>Ciencia de Datos</vt:lpstr>
      <vt:lpstr>Ciencia de Datos</vt:lpstr>
      <vt:lpstr>Ciencia de Datos</vt:lpstr>
      <vt:lpstr>Ciencia de Datos</vt:lpstr>
      <vt:lpstr>Conceptos básicos</vt:lpstr>
      <vt:lpstr>Presentación de PowerPoint</vt:lpstr>
      <vt:lpstr>Temáticas</vt:lpstr>
      <vt:lpstr>Python</vt:lpstr>
      <vt:lpstr>Son instrucciones que se dejan dentro del script. Se agregan tan solo agregando al inicio el signo de numeral  #  </vt:lpstr>
      <vt:lpstr>Nombre de la variable = valor asignado</vt:lpstr>
      <vt:lpstr>Python</vt:lpstr>
      <vt:lpstr>Python</vt:lpstr>
      <vt:lpstr>print () </vt:lpstr>
      <vt:lpstr>Suma</vt:lpstr>
      <vt:lpstr>Ejercicio 2  </vt:lpstr>
      <vt:lpstr>Python</vt:lpstr>
      <vt:lpstr>Python</vt:lpstr>
      <vt:lpstr>Python</vt:lpstr>
      <vt:lpstr>Python</vt:lpstr>
      <vt:lpstr>Secuenciales</vt:lpstr>
      <vt:lpstr>Python</vt:lpstr>
      <vt:lpstr>Presentación de PowerPoint</vt:lpstr>
      <vt:lpstr>Python</vt:lpstr>
      <vt:lpstr>Python</vt:lpstr>
      <vt:lpstr>Presentación de PowerPoint</vt:lpstr>
      <vt:lpstr>Presentación de PowerPoint</vt:lpstr>
      <vt:lpstr>Pseudocódigo </vt:lpstr>
      <vt:lpstr>Python</vt:lpstr>
      <vt:lpstr>Python</vt:lpstr>
      <vt:lpstr>Recordar temas</vt:lpstr>
      <vt:lpstr>Importar datos</vt:lpstr>
      <vt:lpstr>Python</vt:lpstr>
      <vt:lpstr>Python</vt:lpstr>
      <vt:lpstr>Python</vt:lpstr>
      <vt:lpstr>Gestión de Bases de Datos</vt:lpstr>
      <vt:lpstr>Python</vt:lpstr>
      <vt:lpstr>Python</vt:lpstr>
      <vt:lpstr>Conocer los datos</vt:lpstr>
      <vt:lpstr>Python</vt:lpstr>
      <vt:lpstr>Python</vt:lpstr>
      <vt:lpstr>Datos faltantes  o nulos</vt:lpstr>
      <vt:lpstr>Python</vt:lpstr>
      <vt:lpstr>Python</vt:lpstr>
      <vt:lpstr>Python</vt:lpstr>
      <vt:lpstr>Gestión de columnas y filas</vt:lpstr>
      <vt:lpstr>Python</vt:lpstr>
      <vt:lpstr>Python</vt:lpstr>
      <vt:lpstr>Filtros</vt:lpstr>
      <vt:lpstr>Python</vt:lpstr>
      <vt:lpstr>Guardar la base de datos en archivo</vt:lpstr>
      <vt:lpstr>Python</vt:lpstr>
      <vt:lpstr>EJEMPLO DE APLICACIÓN</vt:lpstr>
      <vt:lpstr>ANALISIS DE BASES DE DATOS</vt:lpstr>
      <vt:lpstr>ANALISIS DE BASES DE DATOS</vt:lpstr>
      <vt:lpstr>Presentación de PowerPoint</vt:lpstr>
      <vt:lpstr>Análisis Descriptivo</vt:lpstr>
      <vt:lpstr>Python</vt:lpstr>
      <vt:lpstr>Visualización gráfica de datos</vt:lpstr>
      <vt:lpstr>GRÁFICAS EN PYTHON</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Programación en Python</dc:title>
  <dc:creator>Usuario</dc:creator>
  <cp:lastModifiedBy>Oscar Ivan Vargas Pineda</cp:lastModifiedBy>
  <cp:revision>61</cp:revision>
  <dcterms:modified xsi:type="dcterms:W3CDTF">2026-10-13T22:53:19Z</dcterms:modified>
</cp:coreProperties>
</file>